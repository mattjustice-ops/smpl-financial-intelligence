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4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(Actual)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76.31</c:v>
                </c:pt>
                <c:pt idx="1">
                  <c:v>77.819999999999993</c:v>
                </c:pt>
                <c:pt idx="2">
                  <c:v>79.510000000000005</c:v>
                </c:pt>
                <c:pt idx="3">
                  <c:v>81.39</c:v>
                </c:pt>
                <c:pt idx="4">
                  <c:v>83.45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F9-42CE-A628-EB33D354DE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ARR (Budget)</c:v>
                </c:pt>
              </c:strCache>
            </c:strRef>
          </c:tx>
          <c:spPr>
            <a:ln w="31750" cap="flat">
              <a:solidFill>
                <a:srgbClr val="D1D5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1D5DB"/>
              </a:solidFill>
              <a:ln w="9525" cap="flat">
                <a:solidFill>
                  <a:srgbClr val="D1D5D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76.23</c:v>
                </c:pt>
                <c:pt idx="1">
                  <c:v>77.72</c:v>
                </c:pt>
                <c:pt idx="2">
                  <c:v>79.400000000000006</c:v>
                </c:pt>
                <c:pt idx="3">
                  <c:v>81.27</c:v>
                </c:pt>
                <c:pt idx="4">
                  <c:v>83.33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F9-42CE-A628-EB33D354DE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1.31</c:v>
                </c:pt>
                <c:pt idx="1">
                  <c:v>1.5049999999999999</c:v>
                </c:pt>
                <c:pt idx="2">
                  <c:v>1.69</c:v>
                </c:pt>
                <c:pt idx="3">
                  <c:v>1.88</c:v>
                </c:pt>
                <c:pt idx="4">
                  <c:v>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78-41B2-A59C-0AA5DEECC0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D1D5D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1.226</c:v>
                </c:pt>
                <c:pt idx="1">
                  <c:v>1.4119999999999999</c:v>
                </c:pt>
                <c:pt idx="2">
                  <c:v>1.589</c:v>
                </c:pt>
                <c:pt idx="3">
                  <c:v>1.77</c:v>
                </c:pt>
                <c:pt idx="4">
                  <c:v>1.9410000000000001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78-41B2-A59C-0AA5DEECC0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D1FAE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5.07</c:v>
                </c:pt>
                <c:pt idx="1">
                  <c:v>5.17</c:v>
                </c:pt>
                <c:pt idx="2">
                  <c:v>5.27</c:v>
                </c:pt>
                <c:pt idx="3">
                  <c:v>5.39</c:v>
                </c:pt>
                <c:pt idx="4">
                  <c:v>5.53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6A-4AFA-88A7-37336C94B6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(Actual)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6.59</c:v>
                </c:pt>
                <c:pt idx="1">
                  <c:v>6.71</c:v>
                </c:pt>
                <c:pt idx="2">
                  <c:v>6.85</c:v>
                </c:pt>
                <c:pt idx="3">
                  <c:v>7.01</c:v>
                </c:pt>
                <c:pt idx="4">
                  <c:v>7.18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D6A-4AFA-88A7-37336C94B6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Revenue (Budget)</c:v>
                </c:pt>
              </c:strCache>
            </c:strRef>
          </c:tx>
          <c:spPr>
            <a:ln w="31750" cap="flat">
              <a:solidFill>
                <a:srgbClr val="9CA3A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6.58</c:v>
                </c:pt>
                <c:pt idx="1">
                  <c:v>6.71</c:v>
                </c:pt>
                <c:pt idx="2">
                  <c:v>6.85</c:v>
                </c:pt>
                <c:pt idx="3">
                  <c:v>7</c:v>
                </c:pt>
                <c:pt idx="4">
                  <c:v>7.17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D6A-4AFA-88A7-37336C94B6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48.71</c:v>
                </c:pt>
                <c:pt idx="1">
                  <c:v>51.01</c:v>
                </c:pt>
                <c:pt idx="2">
                  <c:v>58.09</c:v>
                </c:pt>
                <c:pt idx="3">
                  <c:v>62.57</c:v>
                </c:pt>
                <c:pt idx="4">
                  <c:v>66.040000000000006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85-426B-A8BA-8F7AD2D587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ln w="31750" cap="flat">
              <a:solidFill>
                <a:srgbClr val="D1D5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1D5DB"/>
              </a:solidFill>
              <a:ln w="9525" cap="flat">
                <a:solidFill>
                  <a:srgbClr val="D1D5D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12.75</c:v>
                </c:pt>
                <c:pt idx="1">
                  <c:v>14.95</c:v>
                </c:pt>
                <c:pt idx="2">
                  <c:v>21.92</c:v>
                </c:pt>
                <c:pt idx="3">
                  <c:v>26.27</c:v>
                </c:pt>
                <c:pt idx="4">
                  <c:v>29.6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85-426B-A8BA-8F7AD2D587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Collections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9.27</c:v>
                </c:pt>
                <c:pt idx="1">
                  <c:v>8.67</c:v>
                </c:pt>
                <c:pt idx="2">
                  <c:v>13.59</c:v>
                </c:pt>
                <c:pt idx="3">
                  <c:v>10.82</c:v>
                </c:pt>
                <c:pt idx="4">
                  <c:v>9.65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2E-4212-BBB6-E452F33C10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27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502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ClarityFP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560320" cy="0"/>
          </a:xfrm>
          <a:prstGeom prst="line">
            <a:avLst/>
          </a:prstGeom>
          <a:noFill/>
          <a:ln w="12700">
            <a:solidFill>
              <a:srgbClr val="2D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Operating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5420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3127248"/>
            <a:ext cx="1828800" cy="0"/>
          </a:xfrm>
          <a:prstGeom prst="line">
            <a:avLst/>
          </a:prstGeom>
          <a:noFill/>
          <a:ln w="12700">
            <a:solidFill>
              <a:srgbClr val="2D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32461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Board of Directors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584448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May 2026 Actuals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2026 Forecast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6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Comparison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48463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0" y="6583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85953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$83.5M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114800" y="1280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+$0.12M vs budget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0" y="1499616"/>
            <a:ext cx="4389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0" y="15270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172821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$7.18M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114800" y="21488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+$0.08M vs budget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0" y="2368296"/>
            <a:ext cx="4389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0" y="23957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Balance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0" y="259689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$66.0M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114800" y="30175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+$37.4M vs budget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0" y="3236976"/>
            <a:ext cx="4389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0" y="32644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Retention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346557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100.2%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114800" y="38862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monthly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0" y="4105656"/>
            <a:ext cx="4389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0" y="41330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Forecast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433425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$97.5M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114800" y="47548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+$1.4M vs budget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| Consolidated Operating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May 2026 Actuals vs Budget  ·  Prior period comparison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4992624"/>
            <a:ext cx="6858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ClarityFP  ·  Board Operating Review  ·  May 2026  ·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321040" y="4992624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7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11480" y="1170432"/>
          <a:ext cx="53035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363931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($M)  ·  Actual vs Budget  ·  Jan – May 2026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11480" y="3950208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METRICS SUMMARY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4151376"/>
            <a:ext cx="1828800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6344" y="4197096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240280" y="4151376"/>
            <a:ext cx="914400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295144" y="4197096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Act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154680" y="4151376"/>
            <a:ext cx="914400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09544" y="4197096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069080" y="4151376"/>
            <a:ext cx="822960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123944" y="4197096"/>
            <a:ext cx="7132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$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892040" y="4151376"/>
            <a:ext cx="822960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46904" y="4197096"/>
            <a:ext cx="7132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Apr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11480" y="4398264"/>
            <a:ext cx="18288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66344" y="4443984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240280" y="4398264"/>
            <a:ext cx="9144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295144" y="4443984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$83.45M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54680" y="4398264"/>
            <a:ext cx="9144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209544" y="4443984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$83.33M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069080" y="4398264"/>
            <a:ext cx="8229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123944" y="4443984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+$0.12M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892040" y="4398264"/>
            <a:ext cx="8229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946904" y="4443984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+$2.06M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11480" y="4654296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66344" y="470001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240280" y="4654296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295144" y="470001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$7.18M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154680" y="4654296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3209544" y="470001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$7.17M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069080" y="4654296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123944" y="4700016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+$0.01M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892040" y="4654296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946904" y="4700016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+$0.17M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11480" y="4910328"/>
            <a:ext cx="18288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66344" y="4956048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240280" y="4910328"/>
            <a:ext cx="9144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2295144" y="4956048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-$0.22M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3154680" y="4910328"/>
            <a:ext cx="9144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3209544" y="4956048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-$0.22M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069080" y="4910328"/>
            <a:ext cx="8229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123944" y="4956048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892040" y="4910328"/>
            <a:ext cx="8229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946904" y="4956048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-$0.01M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411480" y="5166360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466344" y="5212080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2240280" y="5166360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2295144" y="5212080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$66.04M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154680" y="5166360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3209544" y="5212080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$29.60M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069080" y="5166360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4123944" y="5212080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+$36.4M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4892040" y="5166360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4946904" y="5212080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+$3.47M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411480" y="5422392"/>
            <a:ext cx="18288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466344" y="5468112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240280" y="5422392"/>
            <a:ext cx="9144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2295144" y="5468112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100.2%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3154680" y="5422392"/>
            <a:ext cx="9144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3209544" y="5468112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4069080" y="5422392"/>
            <a:ext cx="8229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4123944" y="546811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+20bps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4892040" y="5422392"/>
            <a:ext cx="8229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4946904" y="546811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+3bps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5989320" y="1170432"/>
            <a:ext cx="2971800" cy="370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6172200" y="129844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6172200" y="1572768"/>
            <a:ext cx="2606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6172200" y="166420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has beaten budget every month — $83.45M in May vs $83.33M plan. Net new ARR improved from $1.31M in January to $2.06M in May (+57%).</a:t>
            </a:r>
            <a:endParaRPr lang="en-US" sz="950" dirty="0"/>
          </a:p>
        </p:txBody>
      </p:sp>
      <p:sp>
        <p:nvSpPr>
          <p:cNvPr id="76" name="Text 73"/>
          <p:cNvSpPr/>
          <p:nvPr/>
        </p:nvSpPr>
        <p:spPr>
          <a:xfrm>
            <a:off x="6172200" y="212140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at $66.0M dramatically exceeds the $29.6M budget — driven by Q1 annual billing collections ($13.6M in March alone).</a:t>
            </a:r>
            <a:endParaRPr lang="en-US" sz="950" dirty="0"/>
          </a:p>
        </p:txBody>
      </p:sp>
      <p:sp>
        <p:nvSpPr>
          <p:cNvPr id="77" name="Text 74"/>
          <p:cNvSpPr/>
          <p:nvPr/>
        </p:nvSpPr>
        <p:spPr>
          <a:xfrm>
            <a:off x="6172200" y="257860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improving sequentially to 100.2% — enterprise expansion is outpacing SMB churn. Monitor Q3 SMB renewal cycle.</a:t>
            </a:r>
            <a:endParaRPr lang="en-US" sz="950" dirty="0"/>
          </a:p>
        </p:txBody>
      </p:sp>
      <p:sp>
        <p:nvSpPr>
          <p:cNvPr id="78" name="Text 75"/>
          <p:cNvSpPr/>
          <p:nvPr/>
        </p:nvSpPr>
        <p:spPr>
          <a:xfrm>
            <a:off x="6172200" y="303580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is on budget. S&amp;M channel mix is inefficient (Paid at 52% of spend, sub-2x ROI) but revenue is absorbing it.</a:t>
            </a:r>
            <a:endParaRPr lang="en-US" sz="950" dirty="0"/>
          </a:p>
        </p:txBody>
      </p:sp>
      <p:sp>
        <p:nvSpPr>
          <p:cNvPr id="79" name="Text 76"/>
          <p:cNvSpPr/>
          <p:nvPr/>
        </p:nvSpPr>
        <p:spPr>
          <a:xfrm>
            <a:off x="6172200" y="349300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ARR forecast updated to $97.5M — $1.4M above the $96.1M plan based on YTD trajectory.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Waterfall — Forecast vs Budget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net new ARR  ·  Full-year component bridge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4992624"/>
            <a:ext cx="6858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ClarityFP  ·  Board Operating Review  ·  May 2026  ·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321040" y="4992624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7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11480" y="1170432"/>
          <a:ext cx="5120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404164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 ($M)  ·  Actual vs Budget  ·  Jan – May 2026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806440" y="1170432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ARR BRIDGE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806440" y="1389888"/>
            <a:ext cx="1261872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61304" y="1435608"/>
            <a:ext cx="11521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068312" y="1389888"/>
            <a:ext cx="731520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23176" y="1435608"/>
            <a:ext cx="62179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Fcst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799832" y="1389888"/>
            <a:ext cx="731520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854696" y="1435608"/>
            <a:ext cx="62179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531352" y="1389888"/>
            <a:ext cx="640080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586216" y="1435608"/>
            <a:ext cx="5303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806440" y="1636776"/>
            <a:ext cx="126187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861304" y="1682496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068312" y="1636776"/>
            <a:ext cx="7315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123176" y="1682496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$75.0M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799832" y="1636776"/>
            <a:ext cx="7315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854696" y="1682496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$75.0M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531352" y="1636776"/>
            <a:ext cx="6400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586216" y="1682496"/>
            <a:ext cx="53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806440" y="1892808"/>
            <a:ext cx="126187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861304" y="1938528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Business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068312" y="1892808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123176" y="1938528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$19.8M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799832" y="1892808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854696" y="1938528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$19.0M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531352" y="1892808"/>
            <a:ext cx="640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586216" y="1938528"/>
            <a:ext cx="53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+$0.8M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806440" y="2148840"/>
            <a:ext cx="126187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861304" y="2194560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Expansion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7068312" y="2148840"/>
            <a:ext cx="7315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123176" y="2194560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$10.9M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7799832" y="2148840"/>
            <a:ext cx="7315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854696" y="2194560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$10.5M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8531352" y="2148840"/>
            <a:ext cx="6400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586216" y="2194560"/>
            <a:ext cx="53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+$0.3M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806440" y="2404872"/>
            <a:ext cx="126187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861304" y="2450592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Reactivation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7068312" y="2404872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7123176" y="2450592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$2.8M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7799832" y="2404872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854696" y="2450592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$2.8M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8531352" y="2404872"/>
            <a:ext cx="640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8586216" y="2450592"/>
            <a:ext cx="53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806440" y="2660904"/>
            <a:ext cx="126187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861304" y="2706624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Contraction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7068312" y="2660904"/>
            <a:ext cx="7315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7123176" y="2706624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-$3.9M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7799832" y="2660904"/>
            <a:ext cx="7315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7854696" y="2706624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-$4.0M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8531352" y="2660904"/>
            <a:ext cx="6400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8586216" y="2706624"/>
            <a:ext cx="53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+$0.1M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5806440" y="2916936"/>
            <a:ext cx="126187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861304" y="2962656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Churn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7068312" y="2916936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7123176" y="2962656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-$7.0M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7799832" y="2916936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7854696" y="2962656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-$7.2M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8531352" y="2916936"/>
            <a:ext cx="640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8586216" y="2962656"/>
            <a:ext cx="53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+$0.2M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5806440" y="3172968"/>
            <a:ext cx="126187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5861304" y="3218688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7068312" y="3172968"/>
            <a:ext cx="7315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7123176" y="3218688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$97.5M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7799832" y="3172968"/>
            <a:ext cx="7315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7854696" y="3218688"/>
            <a:ext cx="621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$96.1M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8531352" y="3172968"/>
            <a:ext cx="6400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8586216" y="3218688"/>
            <a:ext cx="53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+$1.4M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5806440" y="3401568"/>
            <a:ext cx="3154680" cy="1444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5989320" y="352958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78" name="Shape 75"/>
          <p:cNvSpPr/>
          <p:nvPr/>
        </p:nvSpPr>
        <p:spPr>
          <a:xfrm>
            <a:off x="5989320" y="3803904"/>
            <a:ext cx="2788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5989320" y="3895344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forecast $97.5M exceeds budget $96.1M by $1.4M — New Business outperforming by $0.8M and Expansion by $0.3M.</a:t>
            </a:r>
            <a:endParaRPr lang="en-US" sz="950" dirty="0"/>
          </a:p>
        </p:txBody>
      </p:sp>
      <p:sp>
        <p:nvSpPr>
          <p:cNvPr id="80" name="Text 77"/>
          <p:cNvSpPr/>
          <p:nvPr/>
        </p:nvSpPr>
        <p:spPr>
          <a:xfrm>
            <a:off x="5989320" y="4352544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 improved 57% Jan→May. H2 supported by CS-led expansion plays and enterprise pipeline.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Gross Margin — Monthly Trend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 Revenue  ·  Gross Profit  ·  Actual vs Budget  ·  Jan – May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4992624"/>
            <a:ext cx="6858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ClarityFP  ·  Board Operating Review  ·  May 2026  ·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321040" y="4992624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7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11480" y="1170432"/>
          <a:ext cx="5852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4462272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Gross Profit ($M)  ·  Teal bars = GP, lines = Revenue actual vs budget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11480" y="4608576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snapshot: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11480" y="475488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$7.18M  (+$0.01M vs bud)   ·   Gross Margin 77.0% (on budget)   ·   EBITDA -$0.22M (+$0.01M vs bud)   ·   S&amp;M 51.9% of rev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446520" y="1170432"/>
            <a:ext cx="251460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29400" y="129844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629400" y="1572768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29400" y="1664208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has beaten budget every month. YTD $34.3M vs $34.0M plan (+$0.3M). Subscription momentum from ARR growth.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629400" y="2121408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locked at 77.0% all five periods — COGS scaling proportionally with no compression.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629400" y="2578608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+$0.01M vs budget — revenue outperformance absorbing the S&amp;M overrun.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629400" y="3035808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S&amp;M running at 51.9% of revenue. Paid channels absorb 52% of S&amp;M spend at sub-2x ROI. Channel reallocation is the key lever.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629400" y="3493008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leverage: Revenue +9% YoY vs headcount +4.4%. EBITDA improvement path is visible without headcount cuts.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Forecast — Ending Balance &amp; Collections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May 2026 Actuals vs Budget  ·  Annual billing timing impact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4992624"/>
            <a:ext cx="6858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ClarityFP  ·  Board Operating Review  ·  May 2026  ·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321040" y="4992624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7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11480" y="1170432"/>
          <a:ext cx="41605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371246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Balance ($M)  ·  Actual vs Budget</a:t>
            </a:r>
            <a:endParaRPr lang="en-US" sz="8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754880" y="1170432"/>
          <a:ext cx="41605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4754880" y="371246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Collections ($M)  ·  March spike from annual enterprise renewals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11480" y="393192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$66.0M is $37.4M above the $29.6M budget. The gap is almost entirely annual billing timing, not structural outperformance.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4407408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financing required across all 5 months. Business is self-sustaining above $10M cash floor. Runway exceeds 24 months.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754880" y="393192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$13.6M collections spike = enterprise annual renewals. This pattern will not repeat in H2; July–August expected at $6–8M.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754880" y="4407408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expansion to mid-market could add $5–8M to year-end cash without any revenue recognition change.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Channel Efficiency — YTD 2026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Pipeline per $1 Spend  ·  Actual  ·  Jan – May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4992624"/>
            <a:ext cx="6858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ClarityFP  ·  Board Operating Review  ·  May 2026  ·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321040" y="4992624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  ·  ACTUAL vs BUDGET  ·  SORTED BY PIPELINE EFFICIENCY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371600"/>
            <a:ext cx="1371600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" y="1417320"/>
            <a:ext cx="12618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83080" y="1371600"/>
            <a:ext cx="713232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37944" y="1417320"/>
            <a:ext cx="60350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Spend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96312" y="1371600"/>
            <a:ext cx="713232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51176" y="1417320"/>
            <a:ext cx="60350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Spend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9544" y="1371600"/>
            <a:ext cx="713232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64408" y="1417320"/>
            <a:ext cx="60350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Var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922776" y="1371600"/>
            <a:ext cx="713232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77640" y="1417320"/>
            <a:ext cx="60350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Pipe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36008" y="1371600"/>
            <a:ext cx="658368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90872" y="1417320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Eff.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94376" y="1371600"/>
            <a:ext cx="658368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49240" y="1417320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52744" y="1371600"/>
            <a:ext cx="1481328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07608" y="1417320"/>
            <a:ext cx="1371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1618488"/>
            <a:ext cx="13716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" y="1664208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Cust. Success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783080" y="1618488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37944" y="1664208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96312" y="1618488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51176" y="1664208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9544" y="1618488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64408" y="1664208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+$0.00M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922776" y="1618488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77640" y="1664208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$2.53M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36008" y="1618488"/>
            <a:ext cx="65836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90872" y="16642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364.1x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294376" y="1618488"/>
            <a:ext cx="65836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49240" y="16642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60.7%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952744" y="1618488"/>
            <a:ext cx="148132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007608" y="166420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cost, highest WR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" y="1874520"/>
            <a:ext cx="1371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6344" y="1920240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783080" y="1874520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837944" y="1920240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496312" y="1874520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551176" y="1920240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$0.88M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9544" y="1874520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64408" y="1920240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-$0.86M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922776" y="1874520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977640" y="1920240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36008" y="1874520"/>
            <a:ext cx="6583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690872" y="19202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141.0x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294376" y="1874520"/>
            <a:ext cx="6583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349240" y="19202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65.7%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952744" y="1874520"/>
            <a:ext cx="14813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007608" y="19202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cost, highest WR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11480" y="2130552"/>
            <a:ext cx="13716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66344" y="2176272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783080" y="2130552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837944" y="2176272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$0.04M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496312" y="2130552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551176" y="2176272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$0.60M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209544" y="2130552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264408" y="2176272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-$0.56M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922776" y="2130552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977640" y="2176272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$2.76M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636008" y="2130552"/>
            <a:ext cx="65836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690872" y="217627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70.3x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294376" y="2130552"/>
            <a:ext cx="65836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349240" y="217627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952744" y="2130552"/>
            <a:ext cx="148132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007608" y="217627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cost, highest WR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11480" y="2386584"/>
            <a:ext cx="1371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66344" y="2432304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783080" y="2386584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837944" y="2432304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$0.11M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496312" y="2386584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551176" y="2432304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$0.71M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209544" y="2386584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264408" y="2432304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-$0.60M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922776" y="2386584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977640" y="2432304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$1.91M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636008" y="2386584"/>
            <a:ext cx="6583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690872" y="243230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16.8x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294376" y="2386584"/>
            <a:ext cx="6583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349240" y="243230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952744" y="2386584"/>
            <a:ext cx="14813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007608" y="243230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Under-invested vs budget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11480" y="2642616"/>
            <a:ext cx="13716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66344" y="2688336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783080" y="2642616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1837944" y="2688336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$0.51M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2496312" y="2642616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2551176" y="2688336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$0.74M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3209544" y="2642616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264408" y="2688336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-$0.23M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3922776" y="2642616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3977640" y="2688336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$2.92M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636008" y="2642616"/>
            <a:ext cx="65836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4690872" y="268833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5.8x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5294376" y="2642616"/>
            <a:ext cx="65836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5349240" y="268833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59.1%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952744" y="2642616"/>
            <a:ext cx="148132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6007608" y="2688336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Under-invested vs budget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11480" y="2898648"/>
            <a:ext cx="1371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66344" y="2944368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1783080" y="2898648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1837944" y="2944368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$0.42M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2496312" y="2898648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2551176" y="2944368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$0.79M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3209544" y="2898648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3264408" y="2944368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-$0.37M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3922776" y="2898648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3977640" y="2944368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$1.77M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4636008" y="2898648"/>
            <a:ext cx="6583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4690872" y="29443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4.2x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5294376" y="2898648"/>
            <a:ext cx="6583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5349240" y="29443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5952744" y="2898648"/>
            <a:ext cx="14813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6007608" y="29443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Mid-tier, improvement possible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411480" y="3154680"/>
            <a:ext cx="13716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466344" y="3200400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1783080" y="3154680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1837944" y="3200400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$0.47M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2496312" y="3154680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2551176" y="3200400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$0.59M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3209544" y="3154680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3264408" y="3200400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-$0.12M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3922776" y="3154680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3977640" y="3200400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$1.32M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4636008" y="3154680"/>
            <a:ext cx="65836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4690872" y="320040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5294376" y="3154680"/>
            <a:ext cx="65836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5349240" y="320040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5952744" y="3154680"/>
            <a:ext cx="148132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6007608" y="320040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Mid-tier, improvement possible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411480" y="3410712"/>
            <a:ext cx="1371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466344" y="3456432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1783080" y="3410712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1837944" y="3456432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$1.70M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2496312" y="3410712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2551176" y="3456432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$0.80M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3209544" y="3410712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3264408" y="3456432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+$0.90M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3922776" y="3410712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3977640" y="3456432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$2.22M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4636008" y="3410712"/>
            <a:ext cx="6583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4690872" y="34564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5294376" y="3410712"/>
            <a:ext cx="6583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5349240" y="34564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5952744" y="3410712"/>
            <a:ext cx="14813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6007608" y="34564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 vs pipeline return</a:t>
            </a:r>
            <a:endParaRPr lang="en-US" sz="850" dirty="0"/>
          </a:p>
        </p:txBody>
      </p:sp>
      <p:sp>
        <p:nvSpPr>
          <p:cNvPr id="154" name="Shape 152"/>
          <p:cNvSpPr/>
          <p:nvPr/>
        </p:nvSpPr>
        <p:spPr>
          <a:xfrm>
            <a:off x="411480" y="3666744"/>
            <a:ext cx="13716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466344" y="3712464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1783080" y="3666744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1837944" y="3712464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$2.14M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2496312" y="3666744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2551176" y="3712464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$0.98M</a:t>
            </a:r>
            <a:endParaRPr lang="en-US" sz="850" dirty="0"/>
          </a:p>
        </p:txBody>
      </p:sp>
      <p:sp>
        <p:nvSpPr>
          <p:cNvPr id="160" name="Shape 158"/>
          <p:cNvSpPr/>
          <p:nvPr/>
        </p:nvSpPr>
        <p:spPr>
          <a:xfrm>
            <a:off x="3209544" y="3666744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3264408" y="3712464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+$1.16M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3922776" y="3666744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161"/>
          <p:cNvSpPr/>
          <p:nvPr/>
        </p:nvSpPr>
        <p:spPr>
          <a:xfrm>
            <a:off x="3977640" y="3712464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$2.59M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4636008" y="3666744"/>
            <a:ext cx="65836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/>
          <p:nvPr/>
        </p:nvSpPr>
        <p:spPr>
          <a:xfrm>
            <a:off x="4690872" y="371246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850" dirty="0"/>
          </a:p>
        </p:txBody>
      </p:sp>
      <p:sp>
        <p:nvSpPr>
          <p:cNvPr id="166" name="Shape 164"/>
          <p:cNvSpPr/>
          <p:nvPr/>
        </p:nvSpPr>
        <p:spPr>
          <a:xfrm>
            <a:off x="5294376" y="3666744"/>
            <a:ext cx="65836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/>
          <p:nvPr/>
        </p:nvSpPr>
        <p:spPr>
          <a:xfrm>
            <a:off x="5349240" y="371246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850" dirty="0"/>
          </a:p>
        </p:txBody>
      </p:sp>
      <p:sp>
        <p:nvSpPr>
          <p:cNvPr id="168" name="Shape 166"/>
          <p:cNvSpPr/>
          <p:nvPr/>
        </p:nvSpPr>
        <p:spPr>
          <a:xfrm>
            <a:off x="5952744" y="3666744"/>
            <a:ext cx="148132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6007608" y="371246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 vs pipeline return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411480" y="3922776"/>
            <a:ext cx="1371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/>
          <p:nvPr/>
        </p:nvSpPr>
        <p:spPr>
          <a:xfrm>
            <a:off x="466344" y="3968496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Synd.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1783080" y="3922776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171"/>
          <p:cNvSpPr/>
          <p:nvPr/>
        </p:nvSpPr>
        <p:spPr>
          <a:xfrm>
            <a:off x="1837944" y="3968496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$1.11M</a:t>
            </a:r>
            <a:endParaRPr lang="en-US" sz="850" dirty="0"/>
          </a:p>
        </p:txBody>
      </p:sp>
      <p:sp>
        <p:nvSpPr>
          <p:cNvPr id="174" name="Shape 172"/>
          <p:cNvSpPr/>
          <p:nvPr/>
        </p:nvSpPr>
        <p:spPr>
          <a:xfrm>
            <a:off x="2496312" y="3922776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 173"/>
          <p:cNvSpPr/>
          <p:nvPr/>
        </p:nvSpPr>
        <p:spPr>
          <a:xfrm>
            <a:off x="2551176" y="3968496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$0.48M</a:t>
            </a:r>
            <a:endParaRPr lang="en-US" sz="850" dirty="0"/>
          </a:p>
        </p:txBody>
      </p:sp>
      <p:sp>
        <p:nvSpPr>
          <p:cNvPr id="176" name="Shape 174"/>
          <p:cNvSpPr/>
          <p:nvPr/>
        </p:nvSpPr>
        <p:spPr>
          <a:xfrm>
            <a:off x="3209544" y="3922776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175"/>
          <p:cNvSpPr/>
          <p:nvPr/>
        </p:nvSpPr>
        <p:spPr>
          <a:xfrm>
            <a:off x="3264408" y="3968496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+$0.63M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3922776" y="3922776"/>
            <a:ext cx="7132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3977640" y="3968496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$1.12M</a:t>
            </a:r>
            <a:endParaRPr lang="en-US" sz="850" dirty="0"/>
          </a:p>
        </p:txBody>
      </p:sp>
      <p:sp>
        <p:nvSpPr>
          <p:cNvPr id="180" name="Shape 178"/>
          <p:cNvSpPr/>
          <p:nvPr/>
        </p:nvSpPr>
        <p:spPr>
          <a:xfrm>
            <a:off x="4636008" y="3922776"/>
            <a:ext cx="6583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 179"/>
          <p:cNvSpPr/>
          <p:nvPr/>
        </p:nvSpPr>
        <p:spPr>
          <a:xfrm>
            <a:off x="4690872" y="396849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5294376" y="3922776"/>
            <a:ext cx="6583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Text 181"/>
          <p:cNvSpPr/>
          <p:nvPr/>
        </p:nvSpPr>
        <p:spPr>
          <a:xfrm>
            <a:off x="5349240" y="396849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5952744" y="3922776"/>
            <a:ext cx="14813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Text 183"/>
          <p:cNvSpPr/>
          <p:nvPr/>
        </p:nvSpPr>
        <p:spPr>
          <a:xfrm>
            <a:off x="6007608" y="3968496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 vs pipeline return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411480" y="4178808"/>
            <a:ext cx="13716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 185"/>
          <p:cNvSpPr/>
          <p:nvPr/>
        </p:nvSpPr>
        <p:spPr>
          <a:xfrm>
            <a:off x="466344" y="4224528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Event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1783080" y="4178808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Text 187"/>
          <p:cNvSpPr/>
          <p:nvPr/>
        </p:nvSpPr>
        <p:spPr>
          <a:xfrm>
            <a:off x="1837944" y="4224528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$1.03M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2496312" y="4178808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189"/>
          <p:cNvSpPr/>
          <p:nvPr/>
        </p:nvSpPr>
        <p:spPr>
          <a:xfrm>
            <a:off x="2551176" y="4224528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$0.71M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3209544" y="4178808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191"/>
          <p:cNvSpPr/>
          <p:nvPr/>
        </p:nvSpPr>
        <p:spPr>
          <a:xfrm>
            <a:off x="3264408" y="4224528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+$0.32M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3922776" y="4178808"/>
            <a:ext cx="713232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Text 193"/>
          <p:cNvSpPr/>
          <p:nvPr/>
        </p:nvSpPr>
        <p:spPr>
          <a:xfrm>
            <a:off x="3977640" y="4224528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$0.86M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4636008" y="4178808"/>
            <a:ext cx="65836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195"/>
          <p:cNvSpPr/>
          <p:nvPr/>
        </p:nvSpPr>
        <p:spPr>
          <a:xfrm>
            <a:off x="4690872" y="422452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0.8x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5294376" y="4178808"/>
            <a:ext cx="65836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 197"/>
          <p:cNvSpPr/>
          <p:nvPr/>
        </p:nvSpPr>
        <p:spPr>
          <a:xfrm>
            <a:off x="5349240" y="422452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850" dirty="0"/>
          </a:p>
        </p:txBody>
      </p:sp>
      <p:sp>
        <p:nvSpPr>
          <p:cNvPr id="200" name="Shape 198"/>
          <p:cNvSpPr/>
          <p:nvPr/>
        </p:nvSpPr>
        <p:spPr>
          <a:xfrm>
            <a:off x="5952744" y="4178808"/>
            <a:ext cx="1481328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Text 199"/>
          <p:cNvSpPr/>
          <p:nvPr/>
        </p:nvSpPr>
        <p:spPr>
          <a:xfrm>
            <a:off x="6007608" y="42245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 vs pipeline return</a:t>
            </a:r>
            <a:endParaRPr lang="en-US" sz="850" dirty="0"/>
          </a:p>
        </p:txBody>
      </p:sp>
      <p:sp>
        <p:nvSpPr>
          <p:cNvPr id="202" name="Text 200"/>
          <p:cNvSpPr/>
          <p:nvPr/>
        </p:nvSpPr>
        <p:spPr>
          <a:xfrm>
            <a:off x="411480" y="448056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(65.7% WR), Customer Success (60.7% WR), and Partner (59.1% WR) are the top performers by win rate at a combined spend of $0.54M — 7% of total budget. Paid Search and Paid Social absorb $3.84M (50% of budget) at sub-2x efficiency and sub-6% win rates.</a:t>
            </a:r>
            <a:endParaRPr lang="en-US" sz="900" dirty="0"/>
          </a:p>
        </p:txBody>
      </p:sp>
      <p:sp>
        <p:nvSpPr>
          <p:cNvPr id="203" name="Text 201"/>
          <p:cNvSpPr/>
          <p:nvPr/>
        </p:nvSpPr>
        <p:spPr>
          <a:xfrm>
            <a:off x="411480" y="4828032"/>
            <a:ext cx="84124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action: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Reallocating 25% of Paid budget ($0.96M) to Partner and Referral is estimated to generate +$5M incremental pipeline at 5x+ efficiency within the same total marketing budget. No incremental headcount required.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ASSESSMENT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Opportunities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Decision Matrix  ·  May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4992624"/>
            <a:ext cx="6858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ClarityFP  ·  Board Operating Review  ·  May 2026  ·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321040" y="4992624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152144"/>
            <a:ext cx="4279392" cy="886968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152144"/>
            <a:ext cx="50292" cy="8869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·  HIGH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48640" y="13990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channel inefficiency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6459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$3.84M spend at sub-2x efficiency, &lt;6% win rates. Est. annual drag $2–3M.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73752" y="1152144"/>
            <a:ext cx="4279392" cy="886968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73752" y="1152144"/>
            <a:ext cx="50292" cy="8869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10912" y="123444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·  HIGH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010912" y="13990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churn concentration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10912" y="16459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gross churn is SMB. GRR drop of 30–50bps = ~$0.8M ARR impact in H2.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2103120"/>
            <a:ext cx="4279392" cy="88696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103120"/>
            <a:ext cx="50292" cy="8869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18541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·  MED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8640" y="23500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$325k behind plan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259689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slippage in 20+ seat segment. Close rate improving (13%) but volume trailing.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73752" y="2103120"/>
            <a:ext cx="4279392" cy="88696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73752" y="2103120"/>
            <a:ext cx="50292" cy="8869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10912" y="218541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·  MED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10912" y="23500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collections moderation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10912" y="259689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$13.6M spike won't repeat. July–Aug expected at $6–8M.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3054096"/>
            <a:ext cx="4279392" cy="8869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3054096"/>
            <a:ext cx="50292" cy="8869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13639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 ·  HIGH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8640" y="330098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+ CS: &gt;60% WR free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35478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highest-WR channels at $0.03M total spend. Formalizing adds $2–4M pipeline.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73752" y="3054096"/>
            <a:ext cx="4279392" cy="8869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73752" y="3054096"/>
            <a:ext cx="50292" cy="8869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10912" y="313639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 ·  HIGH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010912" y="330098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reallocation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10912" y="35478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5.8x eff, 59.1% WR. Budget-neutral reallocation of $0.96M from Paid = +$5M pipeline.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" y="4005072"/>
            <a:ext cx="4279392" cy="8869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11480" y="4005072"/>
            <a:ext cx="50292" cy="8869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408736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 ·  MED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48640" y="425196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ARR momentum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44988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months beat budget. CS-led enterprise expansion could add $0.5–1M ARR/quarter.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73752" y="4005072"/>
            <a:ext cx="4279392" cy="8869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73752" y="4005072"/>
            <a:ext cx="50292" cy="8869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10912" y="408736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 ·  MED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010912" y="425196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billing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10912" y="44988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annual terms to mid-market adds est. $5–8M to year-end cash position.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2026 Strategy &amp; Forecast Update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close  ·  Prepared for board discussion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4992624"/>
            <a:ext cx="6858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ClarityFP  ·  Board Operating Review  ·  May 2026  ·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321040" y="4992624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22529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Forecast Updated to $97.5M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49961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YTD trajectory, full-year ARR forecast increases from $96.1M to $97.5M (+$1.4M). Net new ARR improved 57% Jan→May. New Business is running $0.8M above budget and Expansion $0.3M above. H2 plan assumes continued enterprise momentum and $1.9–2.1M/month net new ARR.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975104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039112"/>
            <a:ext cx="45720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09397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Reallocation — Budget-Neutral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36829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reallocate 25% of Paid Search/Social spend ($0.96M) to Partner and Referral. Paid channels deliver 1.2–1.3x pipeline efficiency at &lt;6% win rate. Partner and Referral deliver 5–141x efficiency at 59–66% win rates. No budget increase needed — same total spend, better return.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843784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2907792"/>
            <a:ext cx="4572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96265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Retention Intervention Required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23697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represents 78% of gross churn. A CSM-led at-risk intervention program activating in Q3 will target accounts flagged by usage and engagement signals. Target: GRR above 99.0% through the Q3 renewal cycle. This protects approximately $0.8M of at-risk ARR.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712464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776472"/>
            <a:ext cx="45720" cy="7498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8313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Expansion Opportunity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10565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annual billing terms to mid-market renewals starting Q3 is projected to add $5–8M to the year-end cash position. This is a billing timing change — no revenue recognition impact. Sales and CS teams will embed annual terms in all mid-market renewal conversations.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&amp;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 ·  Decisions required from this meeting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4992624"/>
            <a:ext cx="6858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ClarityFP  ·  Board Operating Review  ·  May 2026  ·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321040" y="4992624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170432"/>
            <a:ext cx="64008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1280160"/>
            <a:ext cx="438912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33502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15568" y="1280160"/>
            <a:ext cx="1042416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12984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115568" y="151790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Channel Reallocation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1773936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reallocation of 25% of Paid Search/Social spend ($0.96M) to Partner and Referral programs. Budget-neutral. Estimated pipeline impact: +$5M at 5x+ efficiency. Implement in June cycle.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223760" y="12984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VP Marketing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23760" y="15361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Jun 30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10312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10312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6928" y="2212848"/>
            <a:ext cx="43891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226771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15568" y="2212848"/>
            <a:ext cx="1042416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33856" y="223113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15568" y="245059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Retention Initiative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5568" y="2706624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CSM-led SMB churn intervention. Define at-risk triggers and Customer Success playbook. Target: GRR above 99.0% through Q3 renewal cycle. No incremental headcount — CS capacity reallocation.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223760" y="223113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VP Cust. Success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23760" y="24688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Jul 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035808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3035808"/>
            <a:ext cx="64008" cy="8686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66928" y="3145536"/>
            <a:ext cx="438912" cy="43891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" y="3200400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115568" y="3145536"/>
            <a:ext cx="1042416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33856" y="316382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15568" y="33832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Billing Expansion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15568" y="3639312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annual billing terms in all mid-market renewals and new business starting Q3. Projected YE 2026 cash improvement $5–8M. Revenue recognition neutral — billing timing change only.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223760" y="316382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VP Sales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23760" y="34015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Jul 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3968496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11480" y="3968496"/>
            <a:ext cx="64008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66928" y="4078224"/>
            <a:ext cx="438912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6928" y="4133088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115568" y="4078224"/>
            <a:ext cx="1042416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133856" y="409651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115568" y="431596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ARR Forecast Update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15568" y="457200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full-year ARR forecast from $96.1M to $97.5M reflecting YTD performance and expansion momentum. Lock updated forecast before June board package is finalized.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223760" y="40965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 / CRO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223760" y="43342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Jun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1861</Words>
  <Application>Microsoft Office PowerPoint</Application>
  <PresentationFormat>On-screen Show (16:9)</PresentationFormat>
  <Paragraphs>318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Operating Review — May 2026</dc:title>
  <dc:subject>PptxGenJS Presentation</dc:subject>
  <dc:creator>PptxGenJS</dc:creator>
  <cp:lastModifiedBy>Matt Justice</cp:lastModifiedBy>
  <cp:revision>1</cp:revision>
  <dcterms:created xsi:type="dcterms:W3CDTF">2026-05-22T12:59:42Z</dcterms:created>
  <dcterms:modified xsi:type="dcterms:W3CDTF">2026-05-22T13:11:35Z</dcterms:modified>
</cp:coreProperties>
</file>