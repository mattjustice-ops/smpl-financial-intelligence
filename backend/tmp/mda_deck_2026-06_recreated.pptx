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83.445</c:v>
                </c:pt>
                <c:pt idx="1">
                  <c:v>1.685</c:v>
                </c:pt>
                <c:pt idx="2">
                  <c:v>0.869</c:v>
                </c:pt>
                <c:pt idx="3">
                  <c:v>0.143</c:v>
                </c:pt>
                <c:pt idx="4">
                  <c:v>-0.314</c:v>
                </c:pt>
                <c:pt idx="5">
                  <c:v>-0.52</c:v>
                </c:pt>
                <c:pt idx="6">
                  <c:v>85.308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Beginning ARR</c:v>
                  </c:pt>
                  <c:pt idx="1">
                    <c:v>+ New Business</c:v>
                  </c:pt>
                  <c:pt idx="2">
                    <c:v>+ Expansion</c:v>
                  </c:pt>
                  <c:pt idx="3">
                    <c:v>+ Reactivation</c:v>
                  </c:pt>
                  <c:pt idx="4">
                    <c:v>− Contraction</c:v>
                  </c:pt>
                  <c:pt idx="5">
                    <c:v>− Churn</c:v>
                  </c:pt>
                  <c:pt idx="6">
                    <c:v>Ending ARR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82.939</c:v>
                </c:pt>
                <c:pt idx="1">
                  <c:v>1.769</c:v>
                </c:pt>
                <c:pt idx="2">
                  <c:v>0.913</c:v>
                </c:pt>
                <c:pt idx="3">
                  <c:v>0.15</c:v>
                </c:pt>
                <c:pt idx="4">
                  <c:v>-0.329</c:v>
                </c:pt>
                <c:pt idx="5">
                  <c:v>-0.546</c:v>
                </c:pt>
                <c:pt idx="6">
                  <c:v>84.895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Syndication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0.524</c:v>
                </c:pt>
                <c:pt idx="1">
                  <c:v>0.508</c:v>
                </c:pt>
                <c:pt idx="2">
                  <c:v>0.31</c:v>
                </c:pt>
                <c:pt idx="3">
                  <c:v>0.443</c:v>
                </c:pt>
                <c:pt idx="4">
                  <c:v>0.484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Social</c:v>
                  </c:pt>
                  <c:pt idx="1">
                    <c:v>Paid Search</c:v>
                  </c:pt>
                  <c:pt idx="2">
                    <c:v>Content Syndication</c:v>
                  </c:pt>
                  <c:pt idx="3">
                    <c:v>Organic Search</c:v>
                  </c:pt>
                  <c:pt idx="4">
                    <c:v>Outbound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0.012</c:v>
                </c:pt>
                <c:pt idx="1">
                  <c:v>0.008</c:v>
                </c:pt>
                <c:pt idx="2">
                  <c:v>0.007</c:v>
                </c:pt>
                <c:pt idx="3">
                  <c:v>0.005</c:v>
                </c:pt>
                <c:pt idx="4">
                  <c:v>0.005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Amount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($M)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76.2263</c:v>
                </c:pt>
                <c:pt idx="1">
                  <c:v>77.63875</c:v>
                </c:pt>
                <c:pt idx="2">
                  <c:v>79.22765</c:v>
                </c:pt>
                <c:pt idx="3">
                  <c:v>80.99755</c:v>
                </c:pt>
                <c:pt idx="4">
                  <c:v>82.93875</c:v>
                </c:pt>
                <c:pt idx="5">
                  <c:v>84.894922</c:v>
                </c:pt>
                <c:pt idx="6">
                  <c:v>86.950304</c:v>
                </c:pt>
                <c:pt idx="7">
                  <c:v>88.907781</c:v>
                </c:pt>
                <c:pt idx="8">
                  <c:v>90.720006</c:v>
                </c:pt>
                <c:pt idx="9">
                  <c:v>92.571464</c:v>
                </c:pt>
                <c:pt idx="10">
                  <c:v>94.320414</c:v>
                </c:pt>
                <c:pt idx="11">
                  <c:v>96.098088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Outlook ($M)</c:v>
                </c:pt>
              </c:strCache>
            </c:strRef>
          </c:tx>
          <c:spPr>
            <a:solidFill>
              <a:srgbClr val="6B8CA8"/>
            </a:solidFill>
            <a:ln w="25400" cap="flat">
              <a:solidFill>
                <a:srgbClr val="6B8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8CA8"/>
              </a:solidFill>
              <a:ln w="9525" cap="flat">
                <a:solidFill>
                  <a:srgbClr val="6B8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76.31</c:v>
                </c:pt>
                <c:pt idx="1">
                  <c:v>77.815</c:v>
                </c:pt>
                <c:pt idx="2">
                  <c:v>79.505</c:v>
                </c:pt>
                <c:pt idx="3">
                  <c:v>81.385</c:v>
                </c:pt>
                <c:pt idx="4">
                  <c:v>83.445</c:v>
                </c:pt>
                <c:pt idx="5">
                  <c:v>85.308021</c:v>
                </c:pt>
                <c:pt idx="6">
                  <c:v>86.292802</c:v>
                </c:pt>
                <c:pt idx="7">
                  <c:v>87.132856</c:v>
                </c:pt>
                <c:pt idx="8">
                  <c:v>87.828763</c:v>
                </c:pt>
                <c:pt idx="9">
                  <c:v>88.513816</c:v>
                </c:pt>
                <c:pt idx="10">
                  <c:v>89.196397</c:v>
                </c:pt>
                <c:pt idx="11">
                  <c:v>90.291802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8CA8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B8CA8"/>
                    </a:solidFill>
                    <a:latin typeface="Arial"/>
                  </a:rPr>
                  <a:t>Ending ARR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8C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· June 2026 · Series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5486400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1/11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$84.89M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+$413.1K (+0.5%)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87752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79192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79192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$7.72M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79192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-4.8%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55464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46904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46904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$31.46M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46904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+$16.98M (+54.0%)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23176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214616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14616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70.0%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14616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390888" y="1143000"/>
            <a:ext cx="219456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120700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482328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82328" y="165506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$647.5K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482328" y="1801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+$14.0K (+2.2%)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21762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MATRIX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6583680" cy="14630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vs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$21.05M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7086600" y="21762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086600" y="2404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 reached $85.31M, +$413.1K vs budget — expansion and new business tracking on plan.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086600" y="27523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$7.35M CM, -4.8% vs budget; YTD $39.45M reflects timing of recognition.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086600" y="30998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+2.2% vs budget; YTD $3.87M ahead by +$59.1K.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86600" y="34472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$48.43M, +$16.98M vs budget — strong collections and payroll efficiency.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08660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budget; pipeline coverage at 3.0x requires H2 acceleration.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2004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1148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$39.45M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1148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$41.42M  |  Var: -4.8%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10896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0040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20040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320040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$3.81M  |  Var: +1.6%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89788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8932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98932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98932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$96.10M  |  Var: -6.0%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86800" y="5532120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78240" y="558698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778240" y="5760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778240" y="60258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$23.85M  |  Var: +109.3%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170432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17043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080760" y="1417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68249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$84.89M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80760" y="182880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+$413.1K (+0.5%)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989320" y="199339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0574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80760" y="2240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80760" y="250545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$1.77M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080760" y="265176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-$84.2K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989320" y="281635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80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080760" y="3063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$869.1K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80760" y="332841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$912.6K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080760" y="347472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-$43.5K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89320" y="3639312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703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80760" y="3886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$520.2K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80760" y="415137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$546.2K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80760" y="429768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-$26.0K (favorable)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004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BRIDGE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07408"/>
          <a:ext cx="5486400" cy="1508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$83.44M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$82.94M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+$506.2K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-$84.2K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$869.1K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$912.6K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-$43.5K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$313.7K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$329.3K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$546.2K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+$413.1K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5989320" y="4206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989320" y="44074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ARR $85.31M, +$413.1K vs budget — new business and expansion both near plan.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89320" y="47548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$520.2K vs $546.2K budget — favorable by $26.0K; retention holding.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989320" y="51023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G$R 99.4%; pipeline coverage 3.0x supports near-term ARR targets.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989320" y="54498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 — H2 acceleration required.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$7.72M  |  Var: -4.8%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(CM)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70.0%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$647.5K  |  Var: +2.2%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(CM)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$393.4K  |  Var: +4.0%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7772400" cy="3474720"/>
        </p:xfrm>
        <a:graphic>
          <a:graphicData uri="http://schemas.openxmlformats.org/drawingml/2006/table">
            <a:tbl>
              <a:tblPr/>
              <a:tblGrid>
                <a:gridCol w="1110343"/>
                <a:gridCol w="1110343"/>
                <a:gridCol w="1110343"/>
                <a:gridCol w="1110343"/>
                <a:gridCol w="1110343"/>
                <a:gridCol w="1110343"/>
                <a:gridCol w="111034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-$367.5K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-$1.97M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-$575.7K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-$257.2K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-$151.2K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-$811.5K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-$71.1K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-$381.9K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$808.5K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$857.4K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-$48.9K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-$262.5K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$647.5K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$3.81M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+$59.1K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-$5.5K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$393.4K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+$15.6K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+$71.0K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827532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75320" y="21488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$7.35M CM, -4.8% vs budget; YTD $39.45M vs $41.42M budget.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75320" y="26243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margin held at 70.0% CM and 70.8% YTD — in line with budget.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75320" y="30998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+2.2% vs budget; operating leverage improving.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75320" y="35753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S&amp;M $2.50M vs $2.65M budget — efficiency gains supporting margin.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275320" y="40507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income $409.0K CM, +4.0% vs budget; YTD $2.43M vs $2.36M.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(CM)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$50.26M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$48.17M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(YTD)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$31.46M  |  +54.0%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HEADROOM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$38.43M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$10.00M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$58.82M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Collections: $6.81M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BRIDGE — JUNE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5029200" cy="20116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$29.60M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payments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577840" y="214884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22128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EOY OUTLOOK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69280" y="2395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$49.92M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669280" y="266090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$23.85M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669280" y="280720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+$26.07M (+109.3%)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577840" y="297180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0358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 (CM)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669280" y="3218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$48.02M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669280" y="348386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month ending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577840" y="379476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0" y="385876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(CM)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669280" y="4041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$220.0K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669280" y="430682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$220.0K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577840" y="4617720"/>
            <a:ext cx="2834640" cy="74980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0" y="46817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FLOOR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669280" y="48646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$10.00M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5669280" y="5129784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Headroom: $38.43M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859536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95360" y="214884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cash $50.26M CM, +$2.09M vs budget of $48.17M.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595360" y="26243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ending cash $48.43M vs $31.46M budget — +54.0% favorable.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595360" y="309981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headroom $38.43M above $10.00M floor — strong liquidity position.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595360" y="357530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cash outlook $49.92M vs $23.85M budget — +109.3% upside.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Efficiency: 60.7x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Rate: Organic 23.8%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5943600" cy="1645920"/>
        </p:xfrm>
        <a:graphic>
          <a:graphicData uri="http://schemas.openxmlformats.org/drawingml/2006/table">
            <a:tbl>
              <a:tblPr/>
              <a:tblGrid>
                <a:gridCol w="849086"/>
                <a:gridCol w="849086"/>
                <a:gridCol w="849086"/>
                <a:gridCol w="849086"/>
                <a:gridCol w="849086"/>
                <a:gridCol w="849086"/>
                <a:gridCol w="84908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(Act)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(Bud)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(Act)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Syndication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$443K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$484K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0" descr=""/>
          <p:cNvGraphicFramePr/>
          <p:nvPr/>
        </p:nvGraphicFramePr>
        <p:xfrm>
          <a:off x="6400800" y="21488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1"/>
          <p:cNvSpPr/>
          <p:nvPr/>
        </p:nvSpPr>
        <p:spPr>
          <a:xfrm>
            <a:off x="320040" y="3886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20040" y="4069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Outbound leads efficiency at 96.1x pipeline/spend; Organic Search best win rate 23.8%.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20040" y="44165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pipeline created $5.40M CM; blended efficiency 60.7x across all channels.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0040" y="47640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 Social highest MQL volume (28) but lowest win rate (10.6%) — review qualification.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20040" y="51114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coverage 3.0x — adequate near-term; H2 ramp required for FY targets.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MQLs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362  |  Q2: 359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SQLs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126  |  Q2: 125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PIPELINE ARR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$27.90M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17336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$12.15M  |  Q2: $15.75M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78824" y="1170432"/>
            <a:ext cx="2697480" cy="685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123444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CLOSED WON ARR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7026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$9.30M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0264" y="168249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$4.05M  |  Q2: $5.25M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FUNNEL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3474720" cy="2103120"/>
        </p:xfrm>
        <a:graphic>
          <a:graphicData uri="http://schemas.openxmlformats.org/drawingml/2006/table">
            <a:tbl>
              <a:tblPr/>
              <a:tblGrid>
                <a:gridCol w="1158240"/>
                <a:gridCol w="1158240"/>
                <a:gridCol w="1158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39776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FUNNEL</a:t>
            </a:r>
            <a:endParaRPr lang="en-US" sz="9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2148840"/>
          <a:ext cx="3474720" cy="2103120"/>
        </p:xfrm>
        <a:graphic>
          <a:graphicData uri="http://schemas.openxmlformats.org/drawingml/2006/table">
            <a:tbl>
              <a:tblPr/>
              <a:tblGrid>
                <a:gridCol w="1158240"/>
                <a:gridCol w="1158240"/>
                <a:gridCol w="1158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76352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FUNNEL</a:t>
            </a:r>
            <a:endParaRPr lang="en-US" sz="9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148840"/>
          <a:ext cx="4206240" cy="21031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320040" y="4343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20040" y="4526280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MQLs 721 — Q1 362 and Q2 359 showing consistent top-of-funnel volume.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20040" y="487375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pipeline ARR $27.90M; closed won $9.30M — conversion rate tracking.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20040" y="5221224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spend $290.8K generating $27.90M pipeline — strong efficiency.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20040" y="5568696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pipeline data not loaded; re-stage with marketing ops for H2 planning.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2646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 $9.87M requires next-quarter coverage review.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Re-stage opportunities with validated next steps and owners.  |  Impact: $9.87M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6032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Budget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626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trailed budget in the close month. Validate expansion timing and churn pockets before board distribution.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expansion timing and churn pockets.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039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status: fail. Confirm tie-outs before distribution.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4937760"/>
            <a:ext cx="557784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93776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9262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57200" y="51389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3400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ARR waterfall rows for 2026-06. No Forecast revenue line for 2026-06.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576072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Finance to certify waterfall and GL reconciliations.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72200" y="11704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37160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37160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42646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309360" y="157276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Headroom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17739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$50.26M provides runway for strategic investments.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09360" y="21945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Prioritize high-ROI GTM and product bets with board approval.  |  Upside: $40.26M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72200" y="256032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56032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61518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09360" y="27614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Upside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29626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ending cash ties to balance sheet cash in Validation tab.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9360" y="338328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72200" y="374904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74904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8039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309360" y="39502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MD&amp;A Summary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415137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Validation Checks before board distribution.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09360" y="45720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172200" y="4937760"/>
            <a:ext cx="5669280" cy="1078992"/>
          </a:xfrm>
          <a:prstGeom prst="rect">
            <a:avLst/>
          </a:prstGeom>
          <a:solidFill>
            <a:srgbClr val="111D2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493776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99262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OPP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309360" y="513892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Data Gaps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534009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ARR waterfall rows for 2026-06. No Forecast revenue line for 2026-06. Resolve failed validations and reload missing CSV sources.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309360" y="57607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Resolve failed validations and reload missing CSV sources.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FY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170432"/>
          <a:ext cx="7315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8221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SUMMARY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73152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 (Dec EoY)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$96.10M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— never sum monthly ARR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$26.54M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= Actual closed months + Forecast open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Gross Margin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independently — do not copy same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$7.79M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(Dec EoY)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Dec ending cash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818120" y="1170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818120" y="137160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18120" y="137160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1417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&amp; GTM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55280" y="16276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 vs $96.10M budget. Pipeline coverage 3.0x — accelerate H2 new business and expansion.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7818120" y="246888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18120" y="246888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55280" y="2514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0" y="27249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gross margin 70.8%, EBITDA $3.87M. Maintain cost discipline while investing in growth.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7818120" y="356616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18120" y="356616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55280" y="3611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Runway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55280" y="38221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$48.43M YTD, FY outlook $49.92M. Headroom $38.43M above floor — deploy strategically.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7818120" y="4663440"/>
            <a:ext cx="4023360" cy="98755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18120" y="4663440"/>
            <a:ext cx="54864" cy="9875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55280" y="4709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955280" y="4919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forecast headcount 16. Verify headcount plan and open reqs before next board cycle.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20040" y="57424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20040" y="5897880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 vs $96.10M budget — -6.0% gap requires H2 pipeline acceleration.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20040" y="6062472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revenue outlook $25.88M vs $26.54M budget — -2.5% manageable with H2 execution.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20040" y="6227064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outlook $49.92M vs $23.85M budget — +109.3% upside enables strategic investment.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20040" y="6391656"/>
            <a:ext cx="7315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EBITDA $7.46M vs $7.79M budget — profitability on track despite revenue headwind.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54864" cy="2103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package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Board meeting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371600"/>
            <a:ext cx="54864" cy="2103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and GTM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9728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headcount and hiring plan adjustments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CHRO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3703320"/>
            <a:ext cx="5394960" cy="2103120"/>
          </a:xfrm>
          <a:prstGeom prst="rect">
            <a:avLst/>
          </a:prstGeom>
          <a:solidFill>
            <a:srgbClr val="111D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370332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6656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and channel efficiency reallocation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5303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Operating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 w="12700">
            <a:solidFill>
              <a:srgbClr val="07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 — Jan–Jun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48872" cy="0"/>
          </a:xfrm>
          <a:prstGeom prst="rect">
            <a:avLst/>
          </a:prstGeom>
          <a:noFill/>
          <a:ln w="9525">
            <a:solidFill>
              <a:srgbClr val="1A2E42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548872" cy="5029200"/>
        </p:xfrm>
        <a:graphic>
          <a:graphicData uri="http://schemas.openxmlformats.org/drawingml/2006/table">
            <a:tbl>
              <a:tblPr/>
              <a:tblGrid>
                <a:gridCol w="6400800"/>
                <a:gridCol w="2560320"/>
                <a:gridCol w="2587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$45.30M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-$1.88M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Deferred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$917.7K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Prepaids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 (CFO)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 (CFI)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 (CFF)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446520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2026-06-28T20:54:34Z</dcterms:created>
  <dcterms:modified xsi:type="dcterms:W3CDTF">2026-06-28T20:54:34Z</dcterms:modified>
</cp:coreProperties>
</file>