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SMPL.ai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251460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Operating Review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309067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 ·  June 2026 Close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3493008"/>
            <a:ext cx="3959352" cy="27432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657600"/>
            <a:ext cx="1218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System for SaaS Finance Teams  ·  Series 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6309360"/>
            <a:ext cx="1218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BOARD USE ONLY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1/11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Close  ·  Q2 2026  ·  Jan–Jun 2026 YTD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2066544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02029"/>
            <a:ext cx="206654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843430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+$413.1K vs budget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79192" y="1078992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1170432"/>
            <a:ext cx="2066544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$11.51M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70632" y="1602029"/>
            <a:ext cx="206654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70632" y="1843430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-$575.7K vs budget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38344" y="1078992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9784" y="1170432"/>
            <a:ext cx="2066544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29784" y="1602029"/>
            <a:ext cx="206654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9784" y="1843430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+$16.98M vs budget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97496" y="1078992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88936" y="1170432"/>
            <a:ext cx="2066544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88936" y="1602029"/>
            <a:ext cx="206654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88936" y="1843430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756648" y="1078992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48088" y="1170432"/>
            <a:ext cx="2066544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848088" y="1602029"/>
            <a:ext cx="2066544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48088" y="1843430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+$14.0K vs budget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67712"/>
          <a:ext cx="6492240" cy="233172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09728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 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vs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$48.43M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7040880" y="2267712"/>
            <a:ext cx="4828032" cy="2331720"/>
          </a:xfrm>
          <a:prstGeom prst="roundRect">
            <a:avLst>
              <a:gd name="adj" fmla="val 3137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78040" y="23591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178040" y="26151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Ending ARR $85.31M, +$413.1K vs budget; net new ARR $1.68M vs $1.77M budget.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178040" y="29992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Revenue $11.51M, -$575.7K (-4.8%) vs budget; CM revenue $2.20M vs $2.32M.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178040" y="33832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EBITDA $661.5K CM, +$14.0K vs budget; YTD EBITDA $3.87M, +$59.1K favorable.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78040" y="37673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Ending Cash $48.43M, +$16.98M (+54.0%) vs budget; strong liquidity position.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178040" y="41513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Gross Margin 70.0% CM on budget; YTD 70.8% on budget.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2/11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Close  ·  ARR Bridge vs Budget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68580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$83.44M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$82.94M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+$506.2K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-$84.2K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$869.1K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$912.6K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-$43.5K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$142.9K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-$7.1K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$313.7K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$329.3K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-$15.7K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$520.2K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$546.2K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-$26.0K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$85.31M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$84.89M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+$413.1K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078992"/>
            <a:ext cx="4572000" cy="896112"/>
          </a:xfrm>
          <a:prstGeom prst="roundRect">
            <a:avLst>
              <a:gd name="adj" fmla="val 816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170432"/>
            <a:ext cx="4389120" cy="403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$1.68M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98080" y="1544970"/>
            <a:ext cx="438912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98080" y="1760037"/>
            <a:ext cx="43891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-$84.2K vs budget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406640" y="2103120"/>
            <a:ext cx="4572000" cy="896112"/>
          </a:xfrm>
          <a:prstGeom prst="roundRect">
            <a:avLst>
              <a:gd name="adj" fmla="val 816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0" y="2194560"/>
            <a:ext cx="4389120" cy="403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498080" y="2569098"/>
            <a:ext cx="438912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G$R (Gross Retention)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98080" y="2784165"/>
            <a:ext cx="43891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 churn rate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06640" y="3127248"/>
            <a:ext cx="4572000" cy="896112"/>
          </a:xfrm>
          <a:prstGeom prst="roundRect">
            <a:avLst>
              <a:gd name="adj" fmla="val 816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3218688"/>
            <a:ext cx="4389120" cy="403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498080" y="3593226"/>
            <a:ext cx="438912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N$R (Net Retention)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498080" y="3808293"/>
            <a:ext cx="43891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406640" y="4151376"/>
            <a:ext cx="4572000" cy="896112"/>
          </a:xfrm>
          <a:prstGeom prst="roundRect">
            <a:avLst>
              <a:gd name="adj" fmla="val 816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4242816"/>
            <a:ext cx="4389120" cy="403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3.0x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498080" y="4617354"/>
            <a:ext cx="438912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498080" y="4832421"/>
            <a:ext cx="4389120" cy="17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ARR base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406640" y="52120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06640" y="5440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Ending ARR $85.31M, +$413.1K (+0.5%) vs budget $84.89M.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06640" y="5715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Business $1.68M, -$84.2K below budget; expansion $869.1K, -$43.5K.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06640" y="5989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 $520.2K vs $546.2K budget; contraction $313.7K vs $329.3K budget.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406640" y="6263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coverage 3.0x; G$R 99.4%; N$R data not available this period.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3/11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Close  ·  CM / QTD / YTD vs Budget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-$367.5K vs budget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107899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55848" y="1554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 (CM)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5848" y="17739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 70.0%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08776" y="107899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0216" y="1554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0216" y="17739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+$14.0K vs budget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53144" y="107899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4584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$11.51M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44584" y="1554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Revenue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44584" y="17739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-$575.7K vs budget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7132320" cy="420624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1005840"/>
                <a:gridCol w="1005840"/>
                <a:gridCol w="100584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Var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Var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$7.35M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-$367.5K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$39.45M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$41.42M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-$1.97M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-$110.2K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-$575.7K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-$257.2K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$27.94M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$29.33M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-$1.40M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-$151.2K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$13.41M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-$811.5K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-$71.1K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$6.31M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-$381.9K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$808.5K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$857.4K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-$48.9K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-$262.5K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$661.5K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$647.5K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+$14.0K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+$59.1K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$409.0K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$393.4K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+$15.6K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+$71.0K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7635240" y="2148840"/>
            <a:ext cx="4233672" cy="4206240"/>
          </a:xfrm>
          <a:prstGeom prst="roundRect">
            <a:avLst>
              <a:gd name="adj" fmla="val 1739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0" y="22677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72400" y="25420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 Revenue $7.35M, -$367.5K (-4.8%) vs budget $7.72M.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3200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Revenue $39.45M, -$1.97M (-4.8%) vs budget $41.42M.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772400" y="38587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EBITDA $661.5K CM, +$14.0K (+2.2%) vs budget; opex underspend offset revenue miss.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0" y="451713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EBITDA $3.87M, +$59.1K (+1.6%) vs budget $3.81M.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772400" y="517550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Gross Margin 70.0% CM and 70.8% YTD, both on budget.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4/11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Close  ·  Cash Bridge &amp; Liquidity Position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212080" cy="5212080"/>
          </a:xfrm>
          <a:prstGeom prst="roundRect">
            <a:avLst>
              <a:gd name="adj" fmla="val 1404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BRIDGE — JUNE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937760" cy="47548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Cash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1554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$48.02M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0" y="1554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$29.60M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4937760" cy="47548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2140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Collections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21214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$6.81M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21214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$8.91M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4937760" cy="47548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8833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Payroll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26883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$2.47M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26883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$4.00M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4937760" cy="47548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552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Vendor Payments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06040" y="32552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32552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$1.40M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4937760" cy="47548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221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Commissions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38221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$199.9K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0" y="38221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$370.8K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315968"/>
            <a:ext cx="4937760" cy="47548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891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Capex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43891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$220.0K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43891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$220.0K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882896"/>
            <a:ext cx="4937760" cy="475488"/>
          </a:xfrm>
          <a:prstGeom prst="rect">
            <a:avLst/>
          </a:prstGeom>
          <a:solidFill>
            <a:srgbClr val="00000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9560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06040" y="49560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$50.26M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95604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$48.17M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606040" y="1261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40480" y="1261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760720" y="1078992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1170432"/>
            <a:ext cx="2834640" cy="432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$50.26M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852160" y="1578254"/>
            <a:ext cx="283464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(Actual)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52160" y="1808683"/>
            <a:ext cx="2834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$48.17M budget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15400" y="1078992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06840" y="1170432"/>
            <a:ext cx="2834640" cy="432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$48.43M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9006840" y="1578254"/>
            <a:ext cx="283464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(YTD)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06840" y="1808683"/>
            <a:ext cx="2834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+$16.98M vs budget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60720" y="2176272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2267712"/>
            <a:ext cx="2834640" cy="432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$38.43M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5852160" y="2675534"/>
            <a:ext cx="283464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vs Floor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52160" y="2905963"/>
            <a:ext cx="2834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$10.00M cash floor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915400" y="2176272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06840" y="2267712"/>
            <a:ext cx="2834640" cy="432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$58.82M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9006840" y="2675534"/>
            <a:ext cx="283464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Collections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006840" y="2905963"/>
            <a:ext cx="2834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60720" y="3337560"/>
            <a:ext cx="6172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60720" y="3584448"/>
            <a:ext cx="6172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Ending Cash $50.26M vs $48.17M budget; YTD cash $48.43M, +$16.98M (+54.0%) vs budget.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760720" y="4151376"/>
            <a:ext cx="6172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headroom $38.43M above $10.00M floor; strong liquidity runway.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60720" y="4718304"/>
            <a:ext cx="6172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collections $58.82M; CM collections $6.81M vs $8.91M budget.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60720" y="5285232"/>
            <a:ext cx="6172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Capex $220.0K on budget; commissions $199.9K vs $370.8K budget, favorable.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5/11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Channel Efficiency &amp;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MQLs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107899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55848" y="1554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Created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5848" y="17739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+$92.8K vs budget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08776" y="107899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0216" y="1554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Marketing Spend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0216" y="17739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53144" y="1078992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4584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44584" y="1554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 Rate (Organic)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44584" y="17739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channel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76272"/>
          <a:ext cx="11548872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645920"/>
                <a:gridCol w="914400"/>
                <a:gridCol w="1828800"/>
                <a:gridCol w="1216152"/>
              </a:tblGrid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(Act)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(Bud)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(Act)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$443K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Social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Syndication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320040" y="5230368"/>
            <a:ext cx="11548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sorted descending. &gt;10x = cyan; 3–10x = amber; &lt;3x = red. Blended efficiency: 60.7x. Closed Won: $1.80M.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6/11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Funnel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vs Q2 2026  ·  New Business Pipeline &amp; Conversion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5394960" cy="384048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</a:tblGrid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 Funnel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$12.15M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$144.8K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078992"/>
          <a:ext cx="5833872" cy="3840480"/>
        </p:xfrm>
        <a:graphic>
          <a:graphicData uri="http://schemas.openxmlformats.org/drawingml/2006/table">
            <a:tbl>
              <a:tblPr/>
              <a:tblGrid>
                <a:gridCol w="3200400"/>
                <a:gridCol w="2633472"/>
              </a:tblGrid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 Funnel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$146.0K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5074920"/>
            <a:ext cx="11548872" cy="1234440"/>
          </a:xfrm>
          <a:prstGeom prst="roundRect">
            <a:avLst>
              <a:gd name="adj" fmla="val 5926"/>
            </a:avLst>
          </a:prstGeom>
          <a:solidFill>
            <a:srgbClr val="111D2E"/>
          </a:solidFill>
          <a:ln w="10160">
            <a:solidFill>
              <a:srgbClr val="00D4A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51663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SUMMARY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2920" y="541324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MQLs 721; YTD pipeline ARR $27.90M; YTD Closed Won ARR $9.30M across Q1 and Q2.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2920" y="570585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coverage 3.0x; Q2 pipeline $15.75M up from Q1 $12.15M; reallocation to Organic Search (81.2x) recommended.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7/11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Strategic Assessment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111D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10972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338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MEDIUM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0352" y="1316736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Pipeline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53619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Slipped pipeline $9.87M requires next-quarter coverage review.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184708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Re-stage opportunities with validated next steps and owners.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111D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31720"/>
            <a:ext cx="10972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8658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MEDIUM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0352" y="2569464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Budget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78892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trailed budget by -$367.5K (-4.8%) in June; validate expansion timing.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309981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expansion timing and churn pockets before board distribution.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584448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111D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584448"/>
            <a:ext cx="10972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6393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MEDIUM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0352" y="3822192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404164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status: fail; 49 failed checks require reconciliation.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" y="435254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Finance to certify waterfall and GL reconciliations before distribution.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4837176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111D2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837176"/>
            <a:ext cx="10972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·  MEDIUM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507492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5294376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 $90.29M, -$5.81M (-6.0%) below FY budget $96.10M.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0352" y="560527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Accelerate H2 pipeline and New Business to close gap.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53912" y="1078992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111D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53912" y="1078992"/>
            <a:ext cx="10972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11338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 ·  MEDIUM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64224" y="1316736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Headroom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64224" y="153619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$50.26M provides $38.43M headroom above $10.00M floor.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64224" y="184708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Prioritize high-ROI GTM and product bets with board approval.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53912" y="2331720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111D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53912" y="2331720"/>
            <a:ext cx="10972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38658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 ·  MEDIUM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64224" y="2569464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Forecast Upside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64224" y="278892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cash outlook $49.92M vs budget $23.85M, +$26.07M (+109.3%).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64224" y="3099816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 ending cash ties to balance sheet; deploy excess strategically.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53912" y="3584448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111D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53912" y="3584448"/>
            <a:ext cx="10972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363931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 ·  MEDIUM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364224" y="3822192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Efficiency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64224" y="404164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81.2x pipeline/spend with 23.8% win rate, best channel.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64224" y="435254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Reallocate budget from underperforming channels to Organic Search.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53912" y="4837176"/>
            <a:ext cx="5394960" cy="1115568"/>
          </a:xfrm>
          <a:prstGeom prst="roundRect">
            <a:avLst>
              <a:gd name="adj" fmla="val 6557"/>
            </a:avLst>
          </a:prstGeom>
          <a:solidFill>
            <a:srgbClr val="111D2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53912" y="4837176"/>
            <a:ext cx="10972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  ·  MEDIUM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64224" y="507492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Outperformance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64224" y="5294376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EBITDA $3.87M, +$59.1K (+1.6%) vs budget; opex discipline maintained.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64224" y="560527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Sustain opex discipline while investing in H2 growth initiatives.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8/11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Forecast vs Budget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612648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Outlook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ARR (Dec EoY)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$96.10M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-$5.81M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$25.88M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$26.54M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-$652.3K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Gross Margin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$7.79M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-$328.7K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 (Dec EoY)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$49.92M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$23.85M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+$26.07M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EOY Headcount (Forecast)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1605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251960"/>
            <a:ext cx="17373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$90.29M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4683557"/>
            <a:ext cx="1737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492495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-$5.81M vs budget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50008" y="41605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41448" y="4251960"/>
            <a:ext cx="17373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$25.88M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441448" y="4683557"/>
            <a:ext cx="1737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Revenue Outlook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441448" y="492495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-$652.3K vs budget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79976" y="41605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71416" y="4251960"/>
            <a:ext cx="17373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$7.46M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471416" y="4683557"/>
            <a:ext cx="1737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EBITDA Outlook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471416" y="492495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-$328.7K vs budget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675120" y="1078992"/>
            <a:ext cx="5193792" cy="5212080"/>
          </a:xfrm>
          <a:prstGeom prst="roundRect">
            <a:avLst>
              <a:gd name="adj" fmla="val 1408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1188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PRIORITIES &amp; KEY TAKEAWAYS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12280" y="150876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ARR outlook $90.29M, -$5.81M (-6.0%) vs budget $96.10M; H2 pipeline acceleration required.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12280" y="233172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Revenue $25.88M, -$652.3K (-2.5%) vs budget; YTD revenue -4.8% requires H2 recovery.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12280" y="315468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EBITDA $7.46M, -$328.7K (-4.2%) vs budget; opex discipline partially offsets revenue gap.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12280" y="397764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 Cash $49.92M vs budget $23.85M, +$26.07M (+109.3%); strong liquidity supports H2 investment.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12280" y="480060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EOY headcount forecast 16; workforce plan to be confirmed with CHRO for board approval.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9/11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Board Meeting  ·  Items for Approval &amp; Discussion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508760" y="1307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307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June 2026 Financial Close Package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Board meeting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53912" y="1078992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2161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7342632" y="13075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2632" y="1307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336792" y="203911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Updated FY ARR Outlook &amp; GTM Plan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36792" y="2743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CEO / CRO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36792" y="29809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Next board cycle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456432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935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1508760" y="368503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3685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2920" y="44165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Headcount &amp; Hiring Plan Adjustments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5120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 / CHRO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53583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Next board cycle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53912" y="3456432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35935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28" name="Shape 26"/>
          <p:cNvSpPr/>
          <p:nvPr/>
        </p:nvSpPr>
        <p:spPr>
          <a:xfrm>
            <a:off x="7342632" y="368503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2632" y="3685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36792" y="44165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 &amp; Channel Efficiency Reallocation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36792" y="5120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CRO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53583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Operating review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10/11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11548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Cash Flow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2026  ·  Actual vs Budget  ·  Indirect Method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11548872" cy="5349240"/>
        </p:xfrm>
        <a:graphic>
          <a:graphicData uri="http://schemas.openxmlformats.org/drawingml/2006/table">
            <a:tbl>
              <a:tblPr/>
              <a:tblGrid>
                <a:gridCol w="5029200"/>
                <a:gridCol w="2011680"/>
                <a:gridCol w="2011680"/>
                <a:gridCol w="2496312"/>
              </a:tblGrid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ACTIVITIES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$45.30M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$46.77M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-$1.47M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+$70.0K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&amp; Amortization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$591.8K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$621.3K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-$29.5K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Stock-Based Compensation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Accounts Receivable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-$1.88M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+$4.07M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Deferred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$232.0K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-$17.2K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Accounts Payable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$373.5K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$917.7K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-$544.2K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Prepaids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$75.0K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Operations (CFO)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$2.35M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+$3.55M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ACTIVITIES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Expenditures (Capex)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+$16.8K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Investing (CFI)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-$335.5K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-$352.3K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+$16.8K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 ACTIVITIES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Financing (CFF)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8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in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+$3.57M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$50.26M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$48.17M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+$2.09M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6601968"/>
            <a:ext cx="1154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11/11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2026-06-28T20:41:47Z</dcterms:created>
  <dcterms:modified xsi:type="dcterms:W3CDTF">2026-06-28T20:41:47Z</dcterms:modified>
</cp:coreProperties>
</file>