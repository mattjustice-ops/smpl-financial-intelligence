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($M)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Beginning ARR</c:v>
                  </c:pt>
                  <c:pt idx="1">
                    <c:v>+ New Business</c:v>
                  </c:pt>
                  <c:pt idx="2">
                    <c:v>+ Expansion</c:v>
                  </c:pt>
                  <c:pt idx="3">
                    <c:v>+ Reactivation</c:v>
                  </c:pt>
                  <c:pt idx="4">
                    <c:v>− Contraction</c:v>
                  </c:pt>
                  <c:pt idx="5">
                    <c:v>− Churn</c:v>
                  </c:pt>
                  <c:pt idx="6">
                    <c:v>Ending ARR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83.445</c:v>
                </c:pt>
                <c:pt idx="1">
                  <c:v>1.685</c:v>
                </c:pt>
                <c:pt idx="2">
                  <c:v>0.869</c:v>
                </c:pt>
                <c:pt idx="3">
                  <c:v>0.143</c:v>
                </c:pt>
                <c:pt idx="4">
                  <c:v>-0.314</c:v>
                </c:pt>
                <c:pt idx="5">
                  <c:v>-0.52</c:v>
                </c:pt>
                <c:pt idx="6">
                  <c:v>85.308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 ($M)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Beginning ARR</c:v>
                  </c:pt>
                  <c:pt idx="1">
                    <c:v>+ New Business</c:v>
                  </c:pt>
                  <c:pt idx="2">
                    <c:v>+ Expansion</c:v>
                  </c:pt>
                  <c:pt idx="3">
                    <c:v>+ Reactivation</c:v>
                  </c:pt>
                  <c:pt idx="4">
                    <c:v>− Contraction</c:v>
                  </c:pt>
                  <c:pt idx="5">
                    <c:v>− Churn</c:v>
                  </c:pt>
                  <c:pt idx="6">
                    <c:v>Ending ARR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82.939</c:v>
                </c:pt>
                <c:pt idx="1">
                  <c:v>1.769</c:v>
                </c:pt>
                <c:pt idx="2">
                  <c:v>0.913</c:v>
                </c:pt>
                <c:pt idx="3">
                  <c:v>0.15</c:v>
                </c:pt>
                <c:pt idx="4">
                  <c:v>-0.329</c:v>
                </c:pt>
                <c:pt idx="5">
                  <c:v>-0.546</c:v>
                </c:pt>
                <c:pt idx="6">
                  <c:v>84.895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8CA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B8CA8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B8CA8"/>
                    </a:solidFill>
                    <a:latin typeface="Arial"/>
                  </a:rPr>
                  <a:t>ARR ($M)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8C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FFFFF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Pipeline ($M)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Paid Social</c:v>
                  </c:pt>
                  <c:pt idx="1">
                    <c:v>Paid Search</c:v>
                  </c:pt>
                  <c:pt idx="2">
                    <c:v>Content Syndication</c:v>
                  </c:pt>
                  <c:pt idx="3">
                    <c:v>Organic Search</c:v>
                  </c:pt>
                  <c:pt idx="4">
                    <c:v>Outbound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0.524</c:v>
                </c:pt>
                <c:pt idx="1">
                  <c:v>0.508</c:v>
                </c:pt>
                <c:pt idx="2">
                  <c:v>0.31</c:v>
                </c:pt>
                <c:pt idx="3">
                  <c:v>0.443</c:v>
                </c:pt>
                <c:pt idx="4">
                  <c:v>0.484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Spend ($M)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Paid Social</c:v>
                  </c:pt>
                  <c:pt idx="1">
                    <c:v>Paid Search</c:v>
                  </c:pt>
                  <c:pt idx="2">
                    <c:v>Content Syndication</c:v>
                  </c:pt>
                  <c:pt idx="3">
                    <c:v>Organic Search</c:v>
                  </c:pt>
                  <c:pt idx="4">
                    <c:v>Outbound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0.012</c:v>
                </c:pt>
                <c:pt idx="1">
                  <c:v>0.008</c:v>
                </c:pt>
                <c:pt idx="2">
                  <c:v>0.007</c:v>
                </c:pt>
                <c:pt idx="3">
                  <c:v>0.005</c:v>
                </c:pt>
                <c:pt idx="4">
                  <c:v>0.005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8CA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B8CA8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B8CA8"/>
                    </a:solidFill>
                    <a:latin typeface="Arial"/>
                  </a:rPr>
                  <a:t>Amount ($M)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8C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FFFFF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($M)</c:v>
                </c:pt>
              </c:strCache>
            </c:strRef>
          </c:tx>
          <c:spPr>
            <a:solidFill>
              <a:srgbClr val="00D4AA"/>
            </a:solidFill>
            <a:ln w="25400" cap="flat">
              <a:solidFill>
                <a:srgbClr val="00D4A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D4AA"/>
              </a:solidFill>
              <a:ln w="9525" cap="flat">
                <a:solidFill>
                  <a:srgbClr val="00D4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76.31</c:v>
                </c:pt>
                <c:pt idx="1">
                  <c:v>77.815</c:v>
                </c:pt>
                <c:pt idx="2">
                  <c:v>79.505</c:v>
                </c:pt>
                <c:pt idx="3">
                  <c:v>81.385</c:v>
                </c:pt>
                <c:pt idx="4">
                  <c:v>83.445</c:v>
                </c:pt>
                <c:pt idx="5">
                  <c:v>85.308021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 ($M)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76.2263</c:v>
                </c:pt>
                <c:pt idx="1">
                  <c:v>77.63875</c:v>
                </c:pt>
                <c:pt idx="2">
                  <c:v>79.22765</c:v>
                </c:pt>
                <c:pt idx="3">
                  <c:v>80.99755</c:v>
                </c:pt>
                <c:pt idx="4">
                  <c:v>82.93875</c:v>
                </c:pt>
                <c:pt idx="5">
                  <c:v>84.894922</c:v>
                </c:pt>
                <c:pt idx="6">
                  <c:v>86.950304</c:v>
                </c:pt>
                <c:pt idx="7">
                  <c:v>88.907781</c:v>
                </c:pt>
                <c:pt idx="8">
                  <c:v>90.720006</c:v>
                </c:pt>
                <c:pt idx="9">
                  <c:v>92.571464</c:v>
                </c:pt>
                <c:pt idx="10">
                  <c:v>94.320414</c:v>
                </c:pt>
                <c:pt idx="11">
                  <c:v>96.098088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Outlook ($M)</c:v>
                </c:pt>
              </c:strCache>
            </c:strRef>
          </c:tx>
          <c:spPr>
            <a:solidFill>
              <a:srgbClr val="6B8CA8"/>
            </a:solidFill>
            <a:ln w="25400" cap="flat">
              <a:solidFill>
                <a:srgbClr val="6B8C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B8CA8"/>
              </a:solidFill>
              <a:ln w="9525" cap="flat">
                <a:solidFill>
                  <a:srgbClr val="6B8C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76.31</c:v>
                </c:pt>
                <c:pt idx="1">
                  <c:v>77.815</c:v>
                </c:pt>
                <c:pt idx="2">
                  <c:v>79.505</c:v>
                </c:pt>
                <c:pt idx="3">
                  <c:v>81.385</c:v>
                </c:pt>
                <c:pt idx="4">
                  <c:v>83.445</c:v>
                </c:pt>
                <c:pt idx="5">
                  <c:v>85.308021</c:v>
                </c:pt>
                <c:pt idx="6">
                  <c:v>86.292802</c:v>
                </c:pt>
                <c:pt idx="7">
                  <c:v>87.132856</c:v>
                </c:pt>
                <c:pt idx="8">
                  <c:v>87.828763</c:v>
                </c:pt>
                <c:pt idx="9">
                  <c:v>88.513816</c:v>
                </c:pt>
                <c:pt idx="10">
                  <c:v>89.196397</c:v>
                </c:pt>
                <c:pt idx="11">
                  <c:v>90.291802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8CA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B8CA8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B8CA8"/>
                    </a:solidFill>
                    <a:latin typeface="Arial"/>
                  </a:rPr>
                  <a:t>Ending ARR ($M)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8C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FFFFF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SMPL.ai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Operating System for SaaS Finance Teams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971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Operating Review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547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· June 2026 · Series 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931920"/>
            <a:ext cx="5486400" cy="0"/>
          </a:xfrm>
          <a:prstGeom prst="rect">
            <a:avLst/>
          </a:prstGeom>
          <a:noFill/>
          <a:ln w="9525">
            <a:solidFill>
              <a:srgbClr val="1A2E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6446520"/>
            <a:ext cx="11548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1/11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1154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June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1548872" cy="0"/>
          </a:xfrm>
          <a:prstGeom prst="rect">
            <a:avLst/>
          </a:prstGeom>
          <a:noFill/>
          <a:ln w="9525">
            <a:solidFill>
              <a:srgbClr val="1A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2194560" cy="9144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0700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ARR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$85.31M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655064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$84.89M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11480" y="1801368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Budget: +$413.1K (+0.5%)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87752" y="1143000"/>
            <a:ext cx="2194560" cy="9144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9192" y="120700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(CM)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679192" y="13898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$2.20M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79192" y="1655064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$2.32M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679192" y="1801368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Budget: -4.8%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855464" y="1143000"/>
            <a:ext cx="2194560" cy="9144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46904" y="120700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946904" y="13898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$48.43M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46904" y="1655064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$31.46M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946904" y="1801368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Budget: +$16.98M (+54.0%)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123176" y="1143000"/>
            <a:ext cx="2194560" cy="9144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14616" y="120700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%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214616" y="13898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70.0%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14616" y="1655064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70.0%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214616" y="1801368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Actual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9390888" y="1143000"/>
            <a:ext cx="2194560" cy="9144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82328" y="120700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(CM)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482328" y="13898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$661.5K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482328" y="1655064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$647.5K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9482328" y="1801368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Budget: +$14.0K (+2.2%)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20040" y="21762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MATRIX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377440"/>
          <a:ext cx="6583680" cy="146304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Actual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QTD Actual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Actual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Outlook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vs 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ARR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$85.31M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$85.31M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$85.31M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$90.29M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$2.20M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$6.18M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$11.51M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$25.88M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$661.5K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$2.03M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$3.87M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$7.46M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 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Cash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$48.43M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$48.43M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$48.43M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$49.92M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+54.0%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</a:tbl>
          </a:graphicData>
        </a:graphic>
      </p:graphicFrame>
      <p:sp>
        <p:nvSpPr>
          <p:cNvPr id="33" name="Text 30"/>
          <p:cNvSpPr/>
          <p:nvPr/>
        </p:nvSpPr>
        <p:spPr>
          <a:xfrm>
            <a:off x="7086600" y="21762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086600" y="24048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ARR reached $85.31M, +$413.1K vs budget — expansion and new business tracking on plan.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086600" y="275234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$2.20M CM, -4.8% vs budget; YTD $11.51M vs $12.09M budget reflects timing.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086600" y="309981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EBITDA $661.5K CM, +2.2% vs budget; YTD $3.87M ahead of budget by +$59.1K.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086600" y="34472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Cash $48.43M YTD, +$16.98M vs budget — strong collections and payroll efficiency.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086600" y="3794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FY ARR outlook $90.29M vs $96.10M budget; pipeline coverage at 3.0x requires H2 acceleration.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320040" y="5532120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11480" y="5586984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REVENUE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411480" y="57607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$11.51M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411480" y="60258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$12.09M  |  Var: -4.8%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3108960" y="5532120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200400" y="5586984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EBITDA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3200400" y="57607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$3.87M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3200400" y="60258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$3.81M  |  Var: +1.6%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5897880" y="5532120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989320" y="5586984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ARR OUTLOOK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5989320" y="57607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$90.29M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5989320" y="60258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$96.10M  |  Var: -6.0%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86800" y="5532120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778240" y="5586984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CASH EOY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8778240" y="57607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$49.92M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8778240" y="60258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$23.85M  |  Var: +109.3%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320040" y="6446520"/>
            <a:ext cx="11548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2/11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1154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Analysis — June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1548872" cy="0"/>
          </a:xfrm>
          <a:prstGeom prst="rect">
            <a:avLst/>
          </a:prstGeom>
          <a:noFill/>
          <a:ln w="9525">
            <a:solidFill>
              <a:srgbClr val="1A2E42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20040" y="1170432"/>
          <a:ext cx="54864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89320" y="1170432"/>
            <a:ext cx="2834640" cy="749808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123444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ARR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080760" y="14173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$85.31M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080760" y="1682496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$84.89M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080760" y="1828800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Var: +$413.1K (+0.5%)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989320" y="1993392"/>
            <a:ext cx="2834640" cy="749808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205740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NEW ARR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080760" y="22402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$1.68M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080760" y="2505456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$1.77M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080760" y="2651760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Var: -$84.2K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989320" y="2816352"/>
            <a:ext cx="2834640" cy="749808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80760" y="288036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080760" y="30632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$869.1K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080760" y="3328416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$912.6K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080760" y="3474720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Var: -$43.5K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989320" y="3639312"/>
            <a:ext cx="2834640" cy="749808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80760" y="370332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080760" y="38862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$520.2K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080760" y="4151376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$546.2K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080760" y="4297680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Var: -$26.0K (favorable)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20040" y="42062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BRIDGE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407408"/>
          <a:ext cx="5486400" cy="150876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Beginning ARR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$83.44M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$82.94M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+$506.2K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Business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$1.68M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$1.77M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-$84.2K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$869.1K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$912.6K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-$43.5K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Reactivation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$142.9K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$150.0K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-$7.1K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$313.7K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$329.3K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-$15.7K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$520.2K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$546.2K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-$26.0K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ARR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$85.31M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$84.89M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+$413.1K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</a:tbl>
          </a:graphicData>
        </a:graphic>
      </p:graphicFrame>
      <p:sp>
        <p:nvSpPr>
          <p:cNvPr id="29" name="Text 25"/>
          <p:cNvSpPr/>
          <p:nvPr/>
        </p:nvSpPr>
        <p:spPr>
          <a:xfrm>
            <a:off x="5989320" y="42062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989320" y="440740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Ending ARR $85.31M, +$413.1K vs budget — new business and expansion both near plan.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989320" y="47548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Churn $520.2K vs $546.2K budget — favorable by $26.0K; retention holding.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5989320" y="510235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G$R 99.4%; pipeline coverage 3.0x supports near-term ARR targets.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5989320" y="544982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FY ARR outlook $90.29M vs $96.10M budget — H2 acceleration required.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320040" y="6446520"/>
            <a:ext cx="11548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3/11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REVIEW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1154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Review — June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1548872" cy="0"/>
          </a:xfrm>
          <a:prstGeom prst="rect">
            <a:avLst/>
          </a:prstGeom>
          <a:noFill/>
          <a:ln w="9525">
            <a:solidFill>
              <a:srgbClr val="1A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(CM)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$2.20M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$2.32M  |  Var: -4.8%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172968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(CM)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64408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64408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70.0%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025896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7336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(CM)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117336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$661.5K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17336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$647.5K  |  Var: +2.2%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78824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0264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(CM)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70264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$409.0K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70264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$393.4K  |  Var: +4.0%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20040" y="19659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DETAIL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48840"/>
          <a:ext cx="7772400" cy="3474720"/>
        </p:xfrm>
        <a:graphic>
          <a:graphicData uri="http://schemas.openxmlformats.org/drawingml/2006/table">
            <a:tbl>
              <a:tblPr/>
              <a:tblGrid>
                <a:gridCol w="1110343"/>
                <a:gridCol w="1110343"/>
                <a:gridCol w="1110343"/>
                <a:gridCol w="1110343"/>
                <a:gridCol w="1110343"/>
                <a:gridCol w="1110343"/>
                <a:gridCol w="1110343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Actual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Variance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Actual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Variance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$2.20M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$2.32M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-$110.2K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$11.51M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$12.09M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-$575.7K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$2.20M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$2.32M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-$110.2K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$11.51M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$12.09M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-$575.7K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$5.14M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$5.40M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-$257.2K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$27.94M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$29.33M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-$1.40M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 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$2.50M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$2.65M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-$151.2K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$13.41M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$14.22M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-$811.5K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$1.18M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$1.25M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-$71.1K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$6.31M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$6.69M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-$381.9K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G&amp;A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$808.5K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$857.4K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-$48.9K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$4.34M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$4.60M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-$262.5K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$661.5K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$647.5K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+$14.0K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$3.87M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$3.81M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+$59.1K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D&amp;A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$110.2K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$115.8K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-$5.5K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$591.8K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$621.3K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-$29.6K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$409.0K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$393.4K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+$15.6K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$2.43M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$2.36M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+$71.0K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8275320" y="1965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275320" y="214884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$2.20M CM, -4.8% vs budget; YTD $11.51M vs $12.09M budget.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275320" y="262432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Gross margin held at 70.0% CM and 70.8% YTD — in line with budget.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275320" y="309981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EBITDA $661.5K CM, +2.2% vs budget; operating leverage improving.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275320" y="357530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S&amp;M $2.50M vs $2.65M budget — efficiency gains supporting margin.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8275320" y="405079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 income $409.0K CM, +4.0% vs budget; YTD $2.43M vs $2.36M.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20040" y="6446520"/>
            <a:ext cx="11548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4/11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LIQUIDITY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1154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Liquidity — June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1548872" cy="0"/>
          </a:xfrm>
          <a:prstGeom prst="rect">
            <a:avLst/>
          </a:prstGeom>
          <a:noFill/>
          <a:ln w="9525">
            <a:solidFill>
              <a:srgbClr val="1A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 (CM)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$50.26M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$48.17M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172968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 (YTD)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64408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$48.43M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64408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$31.46M  |  +54.0%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025896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7336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HEADROOM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117336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$38.43M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17336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Floor: $10.00M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78824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0264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COLLECTIONS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70264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$58.82M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70264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Collections: $6.81M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20040" y="1965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BRIDGE — JUNE 2026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48840"/>
          <a:ext cx="5029200" cy="2011680"/>
        </p:xfrm>
        <a:graphic>
          <a:graphicData uri="http://schemas.openxmlformats.org/drawingml/2006/table">
            <a:tbl>
              <a:tblPr/>
              <a:tblGrid>
                <a:gridCol w="1676400"/>
                <a:gridCol w="1676400"/>
                <a:gridCol w="16764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Beginning cash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$48.02M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$29.60M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$6.81M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$8.91M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$2.47M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payments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$3.66M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$199.9K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$370.8K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$220.0K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$220.0K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cash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$50.26M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$48.17M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5577840" y="2148840"/>
            <a:ext cx="2834640" cy="749808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0" y="221284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CASH EOY OUTLOOK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669280" y="239572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$49.92M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669280" y="2660904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$23.85M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5669280" y="2807208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Var: +$26.07M (+109.3%)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5577840" y="2971800"/>
            <a:ext cx="2834640" cy="749808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69280" y="30358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CASH (CM)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5669280" y="32186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$48.02M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5669280" y="3483864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month ending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5577840" y="3794760"/>
            <a:ext cx="2834640" cy="749808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69280" y="385876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(CM)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5669280" y="40416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$220.0K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5669280" y="4306824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$220.0K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5577840" y="4617720"/>
            <a:ext cx="2834640" cy="749808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669280" y="468172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FLOOR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5669280" y="48646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$10.00M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5669280" y="5129784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Headroom: $38.43M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8595360" y="19659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8595360" y="2148840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Ending cash $50.26M CM, +$2.09M vs budget of $48.17M.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8595360" y="2624328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YTD ending cash $48.43M vs $31.46M budget — +54.0% favorable.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8595360" y="3099816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Cash headroom $38.43M above $10.00M floor — strong liquidity position.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8595360" y="3575304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FY cash outlook $49.92M vs $23.85M budget — +109.3% upside.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320040" y="6446520"/>
            <a:ext cx="11548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5/11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&amp; MARKETING PERFORMANCE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1154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&amp; Marketing Performance — June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1548872" cy="0"/>
          </a:xfrm>
          <a:prstGeom prst="rect">
            <a:avLst/>
          </a:prstGeom>
          <a:noFill/>
          <a:ln w="9525">
            <a:solidFill>
              <a:srgbClr val="1A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MQLs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172968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CREATED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64408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$5.40M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64408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$57.03M  (-79.9% YTD)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025896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7336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117336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17336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Efficiency: 60.7x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78824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0264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70264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$1.80M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70264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Win Rate: Organic 23.8%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20040" y="1965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48840"/>
          <a:ext cx="5943600" cy="1645920"/>
        </p:xfrm>
        <a:graphic>
          <a:graphicData uri="http://schemas.openxmlformats.org/drawingml/2006/table">
            <a:tbl>
              <a:tblPr/>
              <a:tblGrid>
                <a:gridCol w="849086"/>
                <a:gridCol w="849086"/>
                <a:gridCol w="849086"/>
                <a:gridCol w="849086"/>
                <a:gridCol w="849086"/>
                <a:gridCol w="849086"/>
                <a:gridCol w="849086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(Act)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(Bud)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(Act)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Social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$524K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44.5x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Search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$508K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63.7x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Syndication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$310K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43.5x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 Search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$443K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81.2x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$484K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Chart 0" descr=""/>
          <p:cNvGraphicFramePr/>
          <p:nvPr/>
        </p:nvGraphicFramePr>
        <p:xfrm>
          <a:off x="6400800" y="214884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1"/>
          <p:cNvSpPr/>
          <p:nvPr/>
        </p:nvSpPr>
        <p:spPr>
          <a:xfrm>
            <a:off x="320040" y="38862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20040" y="4069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Outbound leads efficiency at 96.1x pipeline/spend; Organic Search best win rate 23.8%.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320040" y="441655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pipeline created $5.40M CM; blended efficiency 60.7x across all channels.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320040" y="476402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Paid Social highest MQL volume (28) but lowest win rate (10.6%) — review qualification.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20040" y="511149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coverage 3.0x — adequate near-term; H2 ramp required for FY targets.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320040" y="6446520"/>
            <a:ext cx="11548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6/11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FUNNEL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1154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Funnel Analysis — YTD Jan–Jun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1548872" cy="0"/>
          </a:xfrm>
          <a:prstGeom prst="rect">
            <a:avLst/>
          </a:prstGeom>
          <a:noFill/>
          <a:ln w="9525">
            <a:solidFill>
              <a:srgbClr val="1A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MQLs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362  |  Q2: 359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172968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SQLs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64408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64408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126  |  Q2: 125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025896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7336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PIPELINE ARR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117336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$27.90M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17336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$12.15M  |  Q2: $15.75M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78824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0264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CLOSED WON ARR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70264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$9.30M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70264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$4.05M  |  Q2: $5.25M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20040" y="1965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FUNNEL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48840"/>
          <a:ext cx="3474720" cy="2103120"/>
        </p:xfrm>
        <a:graphic>
          <a:graphicData uri="http://schemas.openxmlformats.org/drawingml/2006/table">
            <a:tbl>
              <a:tblPr/>
              <a:tblGrid>
                <a:gridCol w="1158240"/>
                <a:gridCol w="1158240"/>
                <a:gridCol w="11582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Metric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ARR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$12.15M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Won ARR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$144.8K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3977640" y="1965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FUNNEL</a:t>
            </a:r>
            <a:endParaRPr lang="en-US" sz="9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2148840"/>
          <a:ext cx="3474720" cy="2103120"/>
        </p:xfrm>
        <a:graphic>
          <a:graphicData uri="http://schemas.openxmlformats.org/drawingml/2006/table">
            <a:tbl>
              <a:tblPr/>
              <a:tblGrid>
                <a:gridCol w="1158240"/>
                <a:gridCol w="1158240"/>
                <a:gridCol w="11582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Metric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ARR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$15.75M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Won ARR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$5.25M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$146.0K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</a:tbl>
          </a:graphicData>
        </a:graphic>
      </p:graphicFrame>
      <p:sp>
        <p:nvSpPr>
          <p:cNvPr id="26" name="Text 22"/>
          <p:cNvSpPr/>
          <p:nvPr/>
        </p:nvSpPr>
        <p:spPr>
          <a:xfrm>
            <a:off x="7635240" y="1965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2026 FUNNEL</a:t>
            </a:r>
            <a:endParaRPr lang="en-US" sz="9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2148840"/>
          <a:ext cx="4206240" cy="210312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Metric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ARR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$27.90M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Won ARR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$9.30M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$290.8K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</a:tbl>
          </a:graphicData>
        </a:graphic>
      </p:graphicFrame>
      <p:sp>
        <p:nvSpPr>
          <p:cNvPr id="28" name="Text 23"/>
          <p:cNvSpPr/>
          <p:nvPr/>
        </p:nvSpPr>
        <p:spPr>
          <a:xfrm>
            <a:off x="320040" y="43434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320040" y="4526280"/>
            <a:ext cx="11548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YTD MQLs 721 — Q1 362 and Q2 359 showing consistent top-of-funnel volume.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320040" y="4873752"/>
            <a:ext cx="11548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YTD pipeline ARR $27.90M; closed won $9.30M — conversion rate tracking.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320040" y="5221224"/>
            <a:ext cx="11548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YTD spend $290.8K generating $27.90M pipeline — strong efficiency.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320040" y="5568696"/>
            <a:ext cx="11548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 pipeline data not loaded; re-stage with marketing ops for H2 planning.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320040" y="6446520"/>
            <a:ext cx="11548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7/11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OPPORTUNITIES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1154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Opportunities — June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1548872" cy="0"/>
          </a:xfrm>
          <a:prstGeom prst="rect">
            <a:avLst/>
          </a:prstGeom>
          <a:noFill/>
          <a:ln w="9525">
            <a:solidFill>
              <a:srgbClr val="1A2E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704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5577840" cy="1078992"/>
          </a:xfrm>
          <a:prstGeom prst="rect">
            <a:avLst/>
          </a:prstGeom>
          <a:solidFill>
            <a:srgbClr val="111D2E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71600"/>
            <a:ext cx="54864" cy="10789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2646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Pipeline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77393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Slipped pipeline $9.87M requires next-quarter coverage review.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Re-stage opportunities with validated next steps and owners.  |  Impact: $9.87M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20040" y="2560320"/>
            <a:ext cx="5577840" cy="1078992"/>
          </a:xfrm>
          <a:prstGeom prst="rect">
            <a:avLst/>
          </a:prstGeom>
          <a:solidFill>
            <a:srgbClr val="111D2E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560320"/>
            <a:ext cx="54864" cy="10789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1518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57200" y="276148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 Budget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96265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trailed budget in the close month. Validate expansion timing and churn pockets before board distribution.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57200" y="3383280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Review expansion timing and churn pockets.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20040" y="3749040"/>
            <a:ext cx="5577840" cy="1078992"/>
          </a:xfrm>
          <a:prstGeom prst="rect">
            <a:avLst/>
          </a:prstGeom>
          <a:solidFill>
            <a:srgbClr val="111D2E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749040"/>
            <a:ext cx="54864" cy="10789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0390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57200" y="395020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Validation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15137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status: fail. Confirm tie-outs before distribution.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Finance to certify waterfall and GL reconciliations.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20040" y="4937760"/>
            <a:ext cx="5577840" cy="1078992"/>
          </a:xfrm>
          <a:prstGeom prst="rect">
            <a:avLst/>
          </a:prstGeom>
          <a:solidFill>
            <a:srgbClr val="111D2E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937760"/>
            <a:ext cx="54864" cy="10789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99262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57200" y="513892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534009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Forecast ARR waterfall rows for 2026-06. No Forecast revenue line for 2026-06.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57200" y="5760720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Finance to certify waterfall and GL reconciliations.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172200" y="117043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72200" y="1371600"/>
            <a:ext cx="5669280" cy="1078992"/>
          </a:xfrm>
          <a:prstGeom prst="rect">
            <a:avLst/>
          </a:prstGeom>
          <a:solidFill>
            <a:srgbClr val="111D2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1371600"/>
            <a:ext cx="54864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142646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OPP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6309360" y="1572768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Headroom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1773936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$50.26M provides runway for strategic investments.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309360" y="219456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Prioritize high-ROI GTM and product bets with board approval.  |  Upside: $40.26M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172200" y="2560320"/>
            <a:ext cx="5669280" cy="1078992"/>
          </a:xfrm>
          <a:prstGeom prst="rect">
            <a:avLst/>
          </a:prstGeom>
          <a:solidFill>
            <a:srgbClr val="111D2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72200" y="2560320"/>
            <a:ext cx="54864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261518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OPP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6309360" y="2761488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Forecast Upside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09360" y="2962656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ending cash ties to balance sheet cash in Validation tab.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309360" y="338328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Review.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172200" y="3749040"/>
            <a:ext cx="5669280" cy="1078992"/>
          </a:xfrm>
          <a:prstGeom prst="rect">
            <a:avLst/>
          </a:prstGeom>
          <a:solidFill>
            <a:srgbClr val="111D2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72200" y="3749040"/>
            <a:ext cx="54864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380390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OPP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309360" y="3950208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MD&amp;A Summary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09360" y="4151376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Validation Checks before board distribution.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309360" y="457200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Review.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172200" y="4937760"/>
            <a:ext cx="5669280" cy="1078992"/>
          </a:xfrm>
          <a:prstGeom prst="rect">
            <a:avLst/>
          </a:prstGeom>
          <a:solidFill>
            <a:srgbClr val="111D2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72200" y="4937760"/>
            <a:ext cx="54864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499262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OPP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6309360" y="5138928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Data Gaps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09360" y="5340096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Forecast ARR waterfall rows for 2026-06. No Forecast revenue line for 2026-06. Resolve failed validations and reload missing CSV sources.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309360" y="576072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Resolve failed validations and reload missing CSV sources.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20040" y="6446520"/>
            <a:ext cx="11548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8/11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OUTLOOK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1154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Outlook — FY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1548872" cy="0"/>
          </a:xfrm>
          <a:prstGeom prst="rect">
            <a:avLst/>
          </a:prstGeom>
          <a:noFill/>
          <a:ln w="9525">
            <a:solidFill>
              <a:srgbClr val="1A2E42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20040" y="1170432"/>
          <a:ext cx="7315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38221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2026 OUTLOOK SUMMARY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005072"/>
          <a:ext cx="731520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Outlook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ARR (Dec EoY)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$90.29M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$96.10M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Point-in-time Dec — never sum monthly ARR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Revenue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$25.88M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$26.54M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Outlook = Actual closed months + Forecast open months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Gross Margin 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independently — do not copy same value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EBITDA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$7.46M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$7.79M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Cash (Dec EoY)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$49.92M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$23.85M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Point-in-time Dec ending cash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818120" y="11704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PRIORITIES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7818120" y="1371600"/>
            <a:ext cx="4023360" cy="987552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818120" y="1371600"/>
            <a:ext cx="54864" cy="9875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955280" y="14173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&amp; GTM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955280" y="162763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ARR outlook $90.29M vs $96.10M budget. Pipeline coverage 3.0x — accelerate H2 new business and expansion.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7818120" y="2468880"/>
            <a:ext cx="4023360" cy="987552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818120" y="2468880"/>
            <a:ext cx="54864" cy="9875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955280" y="25146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955280" y="272491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gross margin 70.8%, EBITDA $3.87M ahead of budget by +$59.1K. Maintain cost discipline while investing in growth.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7818120" y="3566160"/>
            <a:ext cx="4023360" cy="987552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818120" y="3566160"/>
            <a:ext cx="54864" cy="9875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955280" y="36118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Runway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955280" y="382219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$48.43M YTD, FY outlook $49.92M vs $23.85M budget. Headroom $38.43M above floor — deploy strategically.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7818120" y="4663440"/>
            <a:ext cx="4023360" cy="987552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818120" y="4663440"/>
            <a:ext cx="54864" cy="9875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955280" y="47091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7955280" y="491947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EOY forecast headcount 16. Verify headcount plan and open reqs before next board cycle.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320040" y="574243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20040" y="5897880"/>
            <a:ext cx="7315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FY ARR outlook $90.29M vs $96.10M budget — -6.0% gap requires H2 pipeline acceleration.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320040" y="6062472"/>
            <a:ext cx="7315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FY revenue outlook $25.88M vs $26.54M budget — -2.5% manageable with H2 execution.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320040" y="6227064"/>
            <a:ext cx="7315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Cash outlook $49.92M vs $23.85M budget — +109.3% upside enables strategic investment.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320040" y="6391656"/>
            <a:ext cx="7315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FY EBITDA $7.46M vs $7.79M budget — profitability on track despite revenue headwind.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320040" y="6446520"/>
            <a:ext cx="11548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9/11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1154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Actions — Q2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1548872" cy="0"/>
          </a:xfrm>
          <a:prstGeom prst="rect">
            <a:avLst/>
          </a:prstGeom>
          <a:noFill/>
          <a:ln w="9525">
            <a:solidFill>
              <a:srgbClr val="1A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5394960" cy="2103120"/>
          </a:xfrm>
          <a:prstGeom prst="rect">
            <a:avLst/>
          </a:prstGeom>
          <a:solidFill>
            <a:srgbClr val="111D2E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71600"/>
            <a:ext cx="54864" cy="21031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97280" y="150876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June 2026 financial close package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CFO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9718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Board meeting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1371600"/>
            <a:ext cx="5394960" cy="2103120"/>
          </a:xfrm>
          <a:prstGeom prst="rect">
            <a:avLst/>
          </a:prstGeom>
          <a:solidFill>
            <a:srgbClr val="111D2E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1371600"/>
            <a:ext cx="54864" cy="21031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150876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72200" y="2011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updated FY ARR outlook and GTM plan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2697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CEO / CRO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72200" y="29718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Next board cycle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703320"/>
            <a:ext cx="5394960" cy="2103120"/>
          </a:xfrm>
          <a:prstGeom prst="rect">
            <a:avLst/>
          </a:prstGeom>
          <a:solidFill>
            <a:srgbClr val="111D2E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703320"/>
            <a:ext cx="54864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840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097280" y="38404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4343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headcount and hiring plan adjustments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5029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CFO / CHRO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53035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Next board cycle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89320" y="3703320"/>
            <a:ext cx="5394960" cy="2103120"/>
          </a:xfrm>
          <a:prstGeom prst="rect">
            <a:avLst/>
          </a:prstGeom>
          <a:solidFill>
            <a:srgbClr val="111D2E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89320" y="3703320"/>
            <a:ext cx="54864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3840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766560" y="38404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72200" y="4343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coverage and channel efficiency reallocation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72200" y="5029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CRO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72200" y="53035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Operating review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6446520"/>
            <a:ext cx="11548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10/11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1154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Cash Flow Statement — Jan–Jun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1548872" cy="0"/>
          </a:xfrm>
          <a:prstGeom prst="rect">
            <a:avLst/>
          </a:prstGeom>
          <a:noFill/>
          <a:ln w="9525">
            <a:solidFill>
              <a:srgbClr val="1A2E42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11548872" cy="5029200"/>
        </p:xfrm>
        <a:graphic>
          <a:graphicData uri="http://schemas.openxmlformats.org/drawingml/2006/table">
            <a:tbl>
              <a:tblPr/>
              <a:tblGrid>
                <a:gridCol w="6400800"/>
                <a:gridCol w="2560320"/>
                <a:gridCol w="258775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Beginning Cash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$45.30M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$46.77M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$2.43M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Depreciation &amp; Amortization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$591.8K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$621.3K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Stock-Based Compensation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$2.19M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-$1.88M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Deferred Revenue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$232.0K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$249.2K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$373.5K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$917.7K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Prepaids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$75.0K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$75.0K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from Operations (CFO)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$5.90M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$2.35M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-$335.5K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-$352.3K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from Investing (CFI)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-$335.5K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-$352.3K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from Financing (CFF)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Change in Cash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$4.96M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$1.39M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Cash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$50.26M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$48.17M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6446520"/>
            <a:ext cx="11548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11/11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2026-06-28T21:12:34Z</dcterms:created>
  <dcterms:modified xsi:type="dcterms:W3CDTF">2026-06-28T21:12:34Z</dcterms:modified>
</cp:coreProperties>
</file>