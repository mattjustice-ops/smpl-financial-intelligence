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00D4AA"/>
            </a:solidFill>
            <a:ln w="25400" cap="flat">
              <a:solidFill>
                <a:srgbClr val="00D4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D4AA"/>
              </a:solidFill>
              <a:ln w="9525" cap="flat">
                <a:solidFill>
                  <a:srgbClr val="00D4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76.31</c:v>
                </c:pt>
                <c:pt idx="1">
                  <c:v>77.82</c:v>
                </c:pt>
                <c:pt idx="2">
                  <c:v>79.51</c:v>
                </c:pt>
                <c:pt idx="3">
                  <c:v>81.39</c:v>
                </c:pt>
                <c:pt idx="4">
                  <c:v>83.45</c:v>
                </c:pt>
                <c:pt idx="5">
                  <c:v>85.31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D2E"/>
        </a:solidFill>
        <a:ln>
          <a:noFill/>
        </a:ln>
        <a:effectLst/>
      </c:spPr>
    </c:plotArea>
    <c:plotVisOnly val="1"/>
    <c:dispBlanksAs val="span"/>
  </c:chart>
  <c:spPr>
    <a:solidFill>
      <a:srgbClr val="111D2E"/>
    </a:solidFill>
    <a:ln w="12700" cap="flat">
      <a:solidFill>
        <a:srgbClr val="111D2E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</c:v>
                </c:pt>
                <c:pt idx="1">
                  <c:v>6.1</c:v>
                </c:pt>
                <c:pt idx="2">
                  <c:v>6.4</c:v>
                </c:pt>
                <c:pt idx="3">
                  <c:v>6.7</c:v>
                </c:pt>
                <c:pt idx="4">
                  <c:v>7</c:v>
                </c:pt>
                <c:pt idx="5">
                  <c:v>7.35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D2E"/>
        </a:solidFill>
        <a:ln>
          <a:noFill/>
        </a:ln>
        <a:effectLst/>
      </c:spPr>
    </c:plotArea>
    <c:plotVisOnly val="1"/>
    <c:dispBlanksAs val="span"/>
  </c:chart>
  <c:spPr>
    <a:solidFill>
      <a:srgbClr val="111D2E"/>
    </a:solidFill>
    <a:ln w="12700" cap="flat">
      <a:solidFill>
        <a:srgbClr val="111D2E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22C55E"/>
            </a:solidFill>
            <a:ln w="25400" cap="flat">
              <a:solidFill>
                <a:srgbClr val="22C55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C55E"/>
              </a:solidFill>
              <a:ln w="9525" cap="flat">
                <a:solidFill>
                  <a:srgbClr val="22C55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45.3</c:v>
                </c:pt>
                <c:pt idx="1">
                  <c:v>46</c:v>
                </c:pt>
                <c:pt idx="2">
                  <c:v>47</c:v>
                </c:pt>
                <c:pt idx="3">
                  <c:v>47.5</c:v>
                </c:pt>
                <c:pt idx="4">
                  <c:v>49.76</c:v>
                </c:pt>
                <c:pt idx="5">
                  <c:v>48.43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D2E"/>
        </a:solidFill>
        <a:ln>
          <a:noFill/>
        </a:ln>
        <a:effectLst/>
      </c:spPr>
    </c:plotArea>
    <c:plotVisOnly val="1"/>
    <c:dispBlanksAs val="span"/>
  </c:chart>
  <c:spPr>
    <a:solidFill>
      <a:srgbClr val="111D2E"/>
    </a:solidFill>
    <a:ln w="12700" cap="flat">
      <a:solidFill>
        <a:srgbClr val="111D2E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Efficiency (x)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d4a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Content Syndication</c:v>
                  </c:pt>
                  <c:pt idx="1">
                    <c:v>Paid Social</c:v>
                  </c:pt>
                  <c:pt idx="2">
                    <c:v>Paid Search</c:v>
                  </c:pt>
                  <c:pt idx="3">
                    <c:v>Organic Search</c:v>
                  </c:pt>
                  <c:pt idx="4">
                    <c:v>Outbound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44.5</c:v>
                </c:pt>
                <c:pt idx="2">
                  <c:v>63.7</c:v>
                </c:pt>
                <c:pt idx="3">
                  <c:v>81.2</c:v>
                </c:pt>
                <c:pt idx="4">
                  <c:v>96.1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8C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8C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D2E"/>
        </a:solidFill>
        <a:ln>
          <a:noFill/>
        </a:ln>
        <a:effectLst/>
      </c:spPr>
    </c:plotArea>
    <c:plotVisOnly val="1"/>
    <c:dispBlanksAs val="span"/>
  </c:chart>
  <c:spPr>
    <a:solidFill>
      <a:srgbClr val="111D2E"/>
    </a:solidFill>
    <a:ln w="12700" cap="flat">
      <a:solidFill>
        <a:srgbClr val="111D2E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ARR ($M)</c:v>
                </c:pt>
              </c:strCache>
            </c:strRef>
          </c:tx>
          <c:spPr>
            <a:solidFill>
              <a:srgbClr val="00D4AA"/>
            </a:solidFill>
            <a:ln w="25400" cap="flat">
              <a:solidFill>
                <a:srgbClr val="00D4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00D4AA"/>
              </a:solidFill>
              <a:ln w="9525" cap="flat">
                <a:solidFill>
                  <a:srgbClr val="00D4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76.31</c:v>
                </c:pt>
                <c:pt idx="1">
                  <c:v>77.82</c:v>
                </c:pt>
                <c:pt idx="2">
                  <c:v>79.51</c:v>
                </c:pt>
                <c:pt idx="3">
                  <c:v>81.39</c:v>
                </c:pt>
                <c:pt idx="4">
                  <c:v>83.45</c:v>
                </c:pt>
                <c:pt idx="5">
                  <c:v>85.31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Outlook ARR ($M)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76.31</c:v>
                </c:pt>
                <c:pt idx="1">
                  <c:v>77.82</c:v>
                </c:pt>
                <c:pt idx="2">
                  <c:v>79.51</c:v>
                </c:pt>
                <c:pt idx="3">
                  <c:v>81.39</c:v>
                </c:pt>
                <c:pt idx="4">
                  <c:v>83.45</c:v>
                </c:pt>
                <c:pt idx="5">
                  <c:v>85.31</c:v>
                </c:pt>
                <c:pt idx="6">
                  <c:v>86.29</c:v>
                </c:pt>
                <c:pt idx="7">
                  <c:v>87.13</c:v>
                </c:pt>
                <c:pt idx="8">
                  <c:v>87.83</c:v>
                </c:pt>
                <c:pt idx="9">
                  <c:v>88.51</c:v>
                </c:pt>
                <c:pt idx="10">
                  <c:v>89.2</c:v>
                </c:pt>
                <c:pt idx="11">
                  <c:v>90.29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Budget ARR ($M)</c:v>
                </c:pt>
              </c:strCache>
            </c:strRef>
          </c:tx>
          <c:spPr>
            <a:solidFill>
              <a:srgbClr val="6B8CA8"/>
            </a:solidFill>
            <a:ln w="25400" cap="flat">
              <a:solidFill>
                <a:srgbClr val="6B8C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6B8CA8"/>
              </a:solidFill>
              <a:ln w="9525" cap="flat">
                <a:solidFill>
                  <a:srgbClr val="6B8C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76.23</c:v>
                </c:pt>
                <c:pt idx="1">
                  <c:v>77.64</c:v>
                </c:pt>
                <c:pt idx="2">
                  <c:v>79.23</c:v>
                </c:pt>
                <c:pt idx="3">
                  <c:v>81</c:v>
                </c:pt>
                <c:pt idx="4">
                  <c:v>82.94</c:v>
                </c:pt>
                <c:pt idx="5">
                  <c:v>84.89</c:v>
                </c:pt>
                <c:pt idx="6">
                  <c:v>86.95</c:v>
                </c:pt>
                <c:pt idx="7">
                  <c:v>88.91</c:v>
                </c:pt>
                <c:pt idx="8">
                  <c:v>90.72</c:v>
                </c:pt>
                <c:pt idx="9">
                  <c:v>92.57</c:v>
                </c:pt>
                <c:pt idx="10">
                  <c:v>94.32</c:v>
                </c:pt>
                <c:pt idx="11">
                  <c:v>96.1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8C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7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8C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D2E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8CA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11D2E"/>
    </a:solidFill>
    <a:ln w="12700" cap="flat">
      <a:solidFill>
        <a:srgbClr val="111D2E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821424"/>
            <a:ext cx="12188952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201168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SMPL.ai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0" y="260604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Operating System for SaaS Finance Teams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08476" y="2999232"/>
            <a:ext cx="4572000" cy="18288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3154680"/>
            <a:ext cx="12188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Operating Review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0" y="370332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· June 2026 · Series 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1/11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2/11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 — June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24028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41832"/>
            <a:ext cx="2057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10642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490472"/>
            <a:ext cx="2057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$84.89M  +0.5%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24328" y="868680"/>
            <a:ext cx="224028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941832"/>
            <a:ext cx="2057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(CM)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715768" y="110642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$2.20M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15768" y="1490472"/>
            <a:ext cx="2057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$2.32M  -4.8%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28616" y="868680"/>
            <a:ext cx="224028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0056" y="941832"/>
            <a:ext cx="2057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020056" y="110642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$48.43M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20056" y="1490472"/>
            <a:ext cx="2057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$31.46M  +54.0%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232904" y="868680"/>
            <a:ext cx="224028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24344" y="941832"/>
            <a:ext cx="2057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324344" y="110642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24344" y="1490472"/>
            <a:ext cx="2057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70.0%  on target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537192" y="868680"/>
            <a:ext cx="224028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28632" y="941832"/>
            <a:ext cx="2057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(CM)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628632" y="110642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$661.5K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628632" y="1490472"/>
            <a:ext cx="2057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$647.5K  +2.2%</a:t>
            </a:r>
            <a:endParaRPr lang="en-US" sz="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20040" y="1481328"/>
          <a:ext cx="2103120" cy="502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Chart 1" descr=""/>
          <p:cNvGraphicFramePr/>
          <p:nvPr/>
        </p:nvGraphicFramePr>
        <p:xfrm>
          <a:off x="2624328" y="1481328"/>
          <a:ext cx="2103120" cy="502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" descr=""/>
          <p:cNvGraphicFramePr/>
          <p:nvPr/>
        </p:nvGraphicFramePr>
        <p:xfrm>
          <a:off x="4928616" y="1481328"/>
          <a:ext cx="2103120" cy="502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Shape 24"/>
          <p:cNvSpPr/>
          <p:nvPr/>
        </p:nvSpPr>
        <p:spPr>
          <a:xfrm>
            <a:off x="320040" y="2084832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30" name="Text 25"/>
          <p:cNvSpPr/>
          <p:nvPr/>
        </p:nvSpPr>
        <p:spPr>
          <a:xfrm>
            <a:off x="320040" y="2176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MATRIX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320040" y="2377440"/>
            <a:ext cx="14630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65760" y="23774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1783080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1828800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Actual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532888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578608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Budget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3282696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328416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Variance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032504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4078224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Actual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782312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828032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Budget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5532120" y="2377440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5577840" y="237744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Variance</a:t>
            </a:r>
            <a:endParaRPr lang="en-US" sz="800" dirty="0"/>
          </a:p>
        </p:txBody>
      </p:sp>
      <p:sp>
        <p:nvSpPr>
          <p:cNvPr id="45" name="Shape 40"/>
          <p:cNvSpPr/>
          <p:nvPr/>
        </p:nvSpPr>
        <p:spPr>
          <a:xfrm>
            <a:off x="320040" y="2633472"/>
            <a:ext cx="14630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65760" y="263347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800" dirty="0"/>
          </a:p>
        </p:txBody>
      </p:sp>
      <p:sp>
        <p:nvSpPr>
          <p:cNvPr id="47" name="Shape 42"/>
          <p:cNvSpPr/>
          <p:nvPr/>
        </p:nvSpPr>
        <p:spPr>
          <a:xfrm>
            <a:off x="1783080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1828800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800" dirty="0"/>
          </a:p>
        </p:txBody>
      </p:sp>
      <p:sp>
        <p:nvSpPr>
          <p:cNvPr id="49" name="Shape 44"/>
          <p:cNvSpPr/>
          <p:nvPr/>
        </p:nvSpPr>
        <p:spPr>
          <a:xfrm>
            <a:off x="2532888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2578608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$84.89M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3282696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3328416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+$413.1K</a:t>
            </a:r>
            <a:endParaRPr lang="en-US" sz="800" dirty="0"/>
          </a:p>
        </p:txBody>
      </p:sp>
      <p:sp>
        <p:nvSpPr>
          <p:cNvPr id="53" name="Shape 48"/>
          <p:cNvSpPr/>
          <p:nvPr/>
        </p:nvSpPr>
        <p:spPr>
          <a:xfrm>
            <a:off x="4032504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4078224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800" dirty="0"/>
          </a:p>
        </p:txBody>
      </p:sp>
      <p:sp>
        <p:nvSpPr>
          <p:cNvPr id="55" name="Shape 50"/>
          <p:cNvSpPr/>
          <p:nvPr/>
        </p:nvSpPr>
        <p:spPr>
          <a:xfrm>
            <a:off x="4782312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4828032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$84.89M</a:t>
            </a:r>
            <a:endParaRPr lang="en-US" sz="800" dirty="0"/>
          </a:p>
        </p:txBody>
      </p:sp>
      <p:sp>
        <p:nvSpPr>
          <p:cNvPr id="57" name="Shape 52"/>
          <p:cNvSpPr/>
          <p:nvPr/>
        </p:nvSpPr>
        <p:spPr>
          <a:xfrm>
            <a:off x="5532120" y="2633472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5577840" y="263347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+$413.1K</a:t>
            </a:r>
            <a:endParaRPr lang="en-US" sz="800" dirty="0"/>
          </a:p>
        </p:txBody>
      </p:sp>
      <p:sp>
        <p:nvSpPr>
          <p:cNvPr id="59" name="Shape 54"/>
          <p:cNvSpPr/>
          <p:nvPr/>
        </p:nvSpPr>
        <p:spPr>
          <a:xfrm>
            <a:off x="320040" y="2889504"/>
            <a:ext cx="14630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365760" y="28895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1783080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1828800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$2.20M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2532888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2578608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$2.32M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3282696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3328416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-$110.2K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4032504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4078224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$11.51M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782312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4828032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$12.09M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5532120" y="2889504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5577840" y="2889504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-$575.7K</a:t>
            </a:r>
            <a:endParaRPr lang="en-US" sz="800" dirty="0"/>
          </a:p>
        </p:txBody>
      </p:sp>
      <p:sp>
        <p:nvSpPr>
          <p:cNvPr id="73" name="Shape 68"/>
          <p:cNvSpPr/>
          <p:nvPr/>
        </p:nvSpPr>
        <p:spPr>
          <a:xfrm>
            <a:off x="320040" y="3145536"/>
            <a:ext cx="14630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365760" y="314553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800" dirty="0"/>
          </a:p>
        </p:txBody>
      </p:sp>
      <p:sp>
        <p:nvSpPr>
          <p:cNvPr id="75" name="Shape 70"/>
          <p:cNvSpPr/>
          <p:nvPr/>
        </p:nvSpPr>
        <p:spPr>
          <a:xfrm>
            <a:off x="1783080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1828800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$661.5K</a:t>
            </a:r>
            <a:endParaRPr lang="en-US" sz="800" dirty="0"/>
          </a:p>
        </p:txBody>
      </p:sp>
      <p:sp>
        <p:nvSpPr>
          <p:cNvPr id="77" name="Shape 72"/>
          <p:cNvSpPr/>
          <p:nvPr/>
        </p:nvSpPr>
        <p:spPr>
          <a:xfrm>
            <a:off x="2532888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8" name="Text 73"/>
          <p:cNvSpPr/>
          <p:nvPr/>
        </p:nvSpPr>
        <p:spPr>
          <a:xfrm>
            <a:off x="2578608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$647.5K</a:t>
            </a:r>
            <a:endParaRPr lang="en-US" sz="800" dirty="0"/>
          </a:p>
        </p:txBody>
      </p:sp>
      <p:sp>
        <p:nvSpPr>
          <p:cNvPr id="79" name="Shape 74"/>
          <p:cNvSpPr/>
          <p:nvPr/>
        </p:nvSpPr>
        <p:spPr>
          <a:xfrm>
            <a:off x="3282696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0" name="Text 75"/>
          <p:cNvSpPr/>
          <p:nvPr/>
        </p:nvSpPr>
        <p:spPr>
          <a:xfrm>
            <a:off x="3328416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+$14.0K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4032504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4078224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$3.87M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4782312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4" name="Text 79"/>
          <p:cNvSpPr/>
          <p:nvPr/>
        </p:nvSpPr>
        <p:spPr>
          <a:xfrm>
            <a:off x="4828032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$3.81M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5532120" y="3145536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6" name="Text 81"/>
          <p:cNvSpPr/>
          <p:nvPr/>
        </p:nvSpPr>
        <p:spPr>
          <a:xfrm>
            <a:off x="5577840" y="3145536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+$59.1K</a:t>
            </a:r>
            <a:endParaRPr lang="en-US" sz="800" dirty="0"/>
          </a:p>
        </p:txBody>
      </p:sp>
      <p:sp>
        <p:nvSpPr>
          <p:cNvPr id="87" name="Shape 82"/>
          <p:cNvSpPr/>
          <p:nvPr/>
        </p:nvSpPr>
        <p:spPr>
          <a:xfrm>
            <a:off x="320040" y="3401568"/>
            <a:ext cx="14630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365760" y="340156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800" dirty="0"/>
          </a:p>
        </p:txBody>
      </p:sp>
      <p:sp>
        <p:nvSpPr>
          <p:cNvPr id="89" name="Shape 84"/>
          <p:cNvSpPr/>
          <p:nvPr/>
        </p:nvSpPr>
        <p:spPr>
          <a:xfrm>
            <a:off x="1783080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1828800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532888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578608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3282696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3328416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4032504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4078224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70.8%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4782312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4828032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70.8%</a:t>
            </a:r>
            <a:endParaRPr lang="en-US" sz="800" dirty="0"/>
          </a:p>
        </p:txBody>
      </p:sp>
      <p:sp>
        <p:nvSpPr>
          <p:cNvPr id="99" name="Shape 94"/>
          <p:cNvSpPr/>
          <p:nvPr/>
        </p:nvSpPr>
        <p:spPr>
          <a:xfrm>
            <a:off x="5532120" y="3401568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0" name="Text 95"/>
          <p:cNvSpPr/>
          <p:nvPr/>
        </p:nvSpPr>
        <p:spPr>
          <a:xfrm>
            <a:off x="5577840" y="3401568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01" name="Shape 96"/>
          <p:cNvSpPr/>
          <p:nvPr/>
        </p:nvSpPr>
        <p:spPr>
          <a:xfrm>
            <a:off x="320040" y="3657600"/>
            <a:ext cx="14630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2" name="Text 97"/>
          <p:cNvSpPr/>
          <p:nvPr/>
        </p:nvSpPr>
        <p:spPr>
          <a:xfrm>
            <a:off x="365760" y="365760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</a:t>
            </a:r>
            <a:endParaRPr lang="en-US" sz="800" dirty="0"/>
          </a:p>
        </p:txBody>
      </p:sp>
      <p:sp>
        <p:nvSpPr>
          <p:cNvPr id="103" name="Shape 98"/>
          <p:cNvSpPr/>
          <p:nvPr/>
        </p:nvSpPr>
        <p:spPr>
          <a:xfrm>
            <a:off x="1783080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4" name="Text 99"/>
          <p:cNvSpPr/>
          <p:nvPr/>
        </p:nvSpPr>
        <p:spPr>
          <a:xfrm>
            <a:off x="1828800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$48.43M</a:t>
            </a:r>
            <a:endParaRPr lang="en-US" sz="800" dirty="0"/>
          </a:p>
        </p:txBody>
      </p:sp>
      <p:sp>
        <p:nvSpPr>
          <p:cNvPr id="105" name="Shape 100"/>
          <p:cNvSpPr/>
          <p:nvPr/>
        </p:nvSpPr>
        <p:spPr>
          <a:xfrm>
            <a:off x="2532888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6" name="Text 101"/>
          <p:cNvSpPr/>
          <p:nvPr/>
        </p:nvSpPr>
        <p:spPr>
          <a:xfrm>
            <a:off x="2578608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$31.46M</a:t>
            </a:r>
            <a:endParaRPr lang="en-US" sz="800" dirty="0"/>
          </a:p>
        </p:txBody>
      </p:sp>
      <p:sp>
        <p:nvSpPr>
          <p:cNvPr id="107" name="Shape 102"/>
          <p:cNvSpPr/>
          <p:nvPr/>
        </p:nvSpPr>
        <p:spPr>
          <a:xfrm>
            <a:off x="3282696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8" name="Text 103"/>
          <p:cNvSpPr/>
          <p:nvPr/>
        </p:nvSpPr>
        <p:spPr>
          <a:xfrm>
            <a:off x="3328416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+$16.98M</a:t>
            </a:r>
            <a:endParaRPr lang="en-US" sz="800" dirty="0"/>
          </a:p>
        </p:txBody>
      </p:sp>
      <p:sp>
        <p:nvSpPr>
          <p:cNvPr id="109" name="Shape 104"/>
          <p:cNvSpPr/>
          <p:nvPr/>
        </p:nvSpPr>
        <p:spPr>
          <a:xfrm>
            <a:off x="4032504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0" name="Text 105"/>
          <p:cNvSpPr/>
          <p:nvPr/>
        </p:nvSpPr>
        <p:spPr>
          <a:xfrm>
            <a:off x="4078224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$48.43M</a:t>
            </a:r>
            <a:endParaRPr lang="en-US" sz="800" dirty="0"/>
          </a:p>
        </p:txBody>
      </p:sp>
      <p:sp>
        <p:nvSpPr>
          <p:cNvPr id="111" name="Shape 106"/>
          <p:cNvSpPr/>
          <p:nvPr/>
        </p:nvSpPr>
        <p:spPr>
          <a:xfrm>
            <a:off x="4782312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2" name="Text 107"/>
          <p:cNvSpPr/>
          <p:nvPr/>
        </p:nvSpPr>
        <p:spPr>
          <a:xfrm>
            <a:off x="4828032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$31.46M</a:t>
            </a:r>
            <a:endParaRPr lang="en-US" sz="800" dirty="0"/>
          </a:p>
        </p:txBody>
      </p:sp>
      <p:sp>
        <p:nvSpPr>
          <p:cNvPr id="113" name="Shape 108"/>
          <p:cNvSpPr/>
          <p:nvPr/>
        </p:nvSpPr>
        <p:spPr>
          <a:xfrm>
            <a:off x="5532120" y="3657600"/>
            <a:ext cx="749808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4" name="Text 109"/>
          <p:cNvSpPr/>
          <p:nvPr/>
        </p:nvSpPr>
        <p:spPr>
          <a:xfrm>
            <a:off x="5577840" y="3657600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+$16.98M</a:t>
            </a:r>
            <a:endParaRPr lang="en-US" sz="800" dirty="0"/>
          </a:p>
        </p:txBody>
      </p:sp>
      <p:sp>
        <p:nvSpPr>
          <p:cNvPr id="115" name="Shape 110"/>
          <p:cNvSpPr/>
          <p:nvPr/>
        </p:nvSpPr>
        <p:spPr>
          <a:xfrm>
            <a:off x="320040" y="3913632"/>
            <a:ext cx="14630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6" name="Text 111"/>
          <p:cNvSpPr/>
          <p:nvPr/>
        </p:nvSpPr>
        <p:spPr>
          <a:xfrm>
            <a:off x="365760" y="391363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Created</a:t>
            </a:r>
            <a:endParaRPr lang="en-US" sz="800" dirty="0"/>
          </a:p>
        </p:txBody>
      </p:sp>
      <p:sp>
        <p:nvSpPr>
          <p:cNvPr id="117" name="Shape 112"/>
          <p:cNvSpPr/>
          <p:nvPr/>
        </p:nvSpPr>
        <p:spPr>
          <a:xfrm>
            <a:off x="1783080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8" name="Text 113"/>
          <p:cNvSpPr/>
          <p:nvPr/>
        </p:nvSpPr>
        <p:spPr>
          <a:xfrm>
            <a:off x="1828800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$5.40M</a:t>
            </a:r>
            <a:endParaRPr lang="en-US" sz="800" dirty="0"/>
          </a:p>
        </p:txBody>
      </p:sp>
      <p:sp>
        <p:nvSpPr>
          <p:cNvPr id="119" name="Shape 114"/>
          <p:cNvSpPr/>
          <p:nvPr/>
        </p:nvSpPr>
        <p:spPr>
          <a:xfrm>
            <a:off x="2532888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0" name="Text 115"/>
          <p:cNvSpPr/>
          <p:nvPr/>
        </p:nvSpPr>
        <p:spPr>
          <a:xfrm>
            <a:off x="2578608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$5.31M</a:t>
            </a:r>
            <a:endParaRPr lang="en-US" sz="800" dirty="0"/>
          </a:p>
        </p:txBody>
      </p:sp>
      <p:sp>
        <p:nvSpPr>
          <p:cNvPr id="121" name="Shape 116"/>
          <p:cNvSpPr/>
          <p:nvPr/>
        </p:nvSpPr>
        <p:spPr>
          <a:xfrm>
            <a:off x="3282696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2" name="Text 117"/>
          <p:cNvSpPr/>
          <p:nvPr/>
        </p:nvSpPr>
        <p:spPr>
          <a:xfrm>
            <a:off x="3328416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+$92.8K</a:t>
            </a:r>
            <a:endParaRPr lang="en-US" sz="800" dirty="0"/>
          </a:p>
        </p:txBody>
      </p:sp>
      <p:sp>
        <p:nvSpPr>
          <p:cNvPr id="123" name="Shape 118"/>
          <p:cNvSpPr/>
          <p:nvPr/>
        </p:nvSpPr>
        <p:spPr>
          <a:xfrm>
            <a:off x="4032504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4" name="Text 119"/>
          <p:cNvSpPr/>
          <p:nvPr/>
        </p:nvSpPr>
        <p:spPr>
          <a:xfrm>
            <a:off x="4078224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$5.40M</a:t>
            </a:r>
            <a:endParaRPr lang="en-US" sz="800" dirty="0"/>
          </a:p>
        </p:txBody>
      </p:sp>
      <p:sp>
        <p:nvSpPr>
          <p:cNvPr id="125" name="Shape 120"/>
          <p:cNvSpPr/>
          <p:nvPr/>
        </p:nvSpPr>
        <p:spPr>
          <a:xfrm>
            <a:off x="4782312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4828032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$26.91M</a:t>
            </a:r>
            <a:endParaRPr lang="en-US" sz="800" dirty="0"/>
          </a:p>
        </p:txBody>
      </p:sp>
      <p:sp>
        <p:nvSpPr>
          <p:cNvPr id="127" name="Shape 122"/>
          <p:cNvSpPr/>
          <p:nvPr/>
        </p:nvSpPr>
        <p:spPr>
          <a:xfrm>
            <a:off x="5532120" y="3913632"/>
            <a:ext cx="749808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8" name="Text 123"/>
          <p:cNvSpPr/>
          <p:nvPr/>
        </p:nvSpPr>
        <p:spPr>
          <a:xfrm>
            <a:off x="5577840" y="3913632"/>
            <a:ext cx="704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-$21.51M</a:t>
            </a:r>
            <a:endParaRPr lang="en-US" sz="800" dirty="0"/>
          </a:p>
        </p:txBody>
      </p:sp>
      <p:sp>
        <p:nvSpPr>
          <p:cNvPr id="129" name="Text 124"/>
          <p:cNvSpPr/>
          <p:nvPr/>
        </p:nvSpPr>
        <p:spPr>
          <a:xfrm>
            <a:off x="7086600" y="217627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130" name="Shape 125"/>
          <p:cNvSpPr/>
          <p:nvPr/>
        </p:nvSpPr>
        <p:spPr>
          <a:xfrm>
            <a:off x="7086600" y="2377440"/>
            <a:ext cx="4782312" cy="384048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31" name="Text 126"/>
          <p:cNvSpPr/>
          <p:nvPr/>
        </p:nvSpPr>
        <p:spPr>
          <a:xfrm>
            <a:off x="7223760" y="2496312"/>
            <a:ext cx="4507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ARR reached $85.31M, +$413.1K vs budget; MoM growth +2.2% from $83.44M in May.</a:t>
            </a:r>
            <a:endParaRPr lang="en-US" sz="900" dirty="0"/>
          </a:p>
        </p:txBody>
      </p:sp>
      <p:sp>
        <p:nvSpPr>
          <p:cNvPr id="132" name="Text 127"/>
          <p:cNvSpPr/>
          <p:nvPr/>
        </p:nvSpPr>
        <p:spPr>
          <a:xfrm>
            <a:off x="7223760" y="3182112"/>
            <a:ext cx="4507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Revenue $2.20M CM, -4.8% vs budget; YTD $11.51M tracks -4.8% behind $12.09M budget.</a:t>
            </a:r>
            <a:endParaRPr lang="en-US" sz="900" dirty="0"/>
          </a:p>
        </p:txBody>
      </p:sp>
      <p:sp>
        <p:nvSpPr>
          <p:cNvPr id="133" name="Text 128"/>
          <p:cNvSpPr/>
          <p:nvPr/>
        </p:nvSpPr>
        <p:spPr>
          <a:xfrm>
            <a:off x="7223760" y="3867912"/>
            <a:ext cx="4507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EBITDA $661.5K CM beat budget by +$14.0K; YTD $3.87M ahead +$59.1K.</a:t>
            </a:r>
            <a:endParaRPr lang="en-US" sz="900" dirty="0"/>
          </a:p>
        </p:txBody>
      </p:sp>
      <p:sp>
        <p:nvSpPr>
          <p:cNvPr id="134" name="Text 129"/>
          <p:cNvSpPr/>
          <p:nvPr/>
        </p:nvSpPr>
        <p:spPr>
          <a:xfrm>
            <a:off x="7223760" y="4553712"/>
            <a:ext cx="4507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Cash $48.43M, +54.0% vs budget $31.46M; strong liquidity headroom of $38.43M above floor.</a:t>
            </a:r>
            <a:endParaRPr lang="en-US" sz="900" dirty="0"/>
          </a:p>
        </p:txBody>
      </p:sp>
      <p:sp>
        <p:nvSpPr>
          <p:cNvPr id="135" name="Text 130"/>
          <p:cNvSpPr/>
          <p:nvPr/>
        </p:nvSpPr>
        <p:spPr>
          <a:xfrm>
            <a:off x="7223760" y="5239512"/>
            <a:ext cx="4507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FY ARR outlook $90.29M vs $96.10M budget; pipeline coverage 3.0x supports H2 ramp.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3/11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Analysis — June 2026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80467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ARR → components → Ending ARR ($M)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4617720"/>
            <a:ext cx="6035040" cy="9144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452628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$80M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3703320"/>
            <a:ext cx="6035040" cy="9144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0" name="Text 8"/>
          <p:cNvSpPr/>
          <p:nvPr/>
        </p:nvSpPr>
        <p:spPr>
          <a:xfrm>
            <a:off x="0" y="361188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$82M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6035040" cy="9144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269748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20040" y="1874520"/>
            <a:ext cx="6035040" cy="9144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4" name="Text 12"/>
          <p:cNvSpPr/>
          <p:nvPr/>
        </p:nvSpPr>
        <p:spPr>
          <a:xfrm>
            <a:off x="0" y="178308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$86M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0040" y="960120"/>
            <a:ext cx="6035040" cy="9144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6" name="Text 14"/>
          <p:cNvSpPr/>
          <p:nvPr/>
        </p:nvSpPr>
        <p:spPr>
          <a:xfrm>
            <a:off x="0" y="86868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$88M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01091" y="3044952"/>
            <a:ext cx="500177" cy="1572768"/>
          </a:xfrm>
          <a:prstGeom prst="rect">
            <a:avLst/>
          </a:prstGeom>
          <a:solidFill>
            <a:srgbClr val="00D4AA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" y="2843784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$83.44M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55371" y="4873752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ARR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363370" y="2276856"/>
            <a:ext cx="500177" cy="768096"/>
          </a:xfrm>
          <a:prstGeom prst="rect">
            <a:avLst/>
          </a:prstGeom>
          <a:solidFill>
            <a:srgbClr val="166534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17650" y="2075688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+$1.68M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317650" y="3300984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Business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225650" y="1874520"/>
            <a:ext cx="500177" cy="397764"/>
          </a:xfrm>
          <a:prstGeom prst="rect">
            <a:avLst/>
          </a:prstGeom>
          <a:solidFill>
            <a:srgbClr val="166534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79930" y="1673352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+$0.87M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179930" y="2528316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087929" y="1810512"/>
            <a:ext cx="500177" cy="64008"/>
          </a:xfrm>
          <a:prstGeom prst="rect">
            <a:avLst/>
          </a:prstGeom>
          <a:solidFill>
            <a:srgbClr val="166534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2209" y="1609344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+$0.14M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042209" y="2130552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Reactivation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949294" y="1952244"/>
            <a:ext cx="500177" cy="141732"/>
          </a:xfrm>
          <a:prstGeom prst="rect">
            <a:avLst/>
          </a:prstGeom>
          <a:solidFill>
            <a:srgbClr val="991B1B"/>
          </a:solidFill>
          <a:ln w="6350">
            <a:solidFill>
              <a:srgbClr val="991B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03574" y="2130552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-$0.31M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903574" y="2350008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811573" y="2189988"/>
            <a:ext cx="500177" cy="237744"/>
          </a:xfrm>
          <a:prstGeom prst="rect">
            <a:avLst/>
          </a:prstGeom>
          <a:solidFill>
            <a:srgbClr val="991B1B"/>
          </a:solidFill>
          <a:ln w="635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65853" y="2464308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-$0.52M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765853" y="2683764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673852" y="2189988"/>
            <a:ext cx="500177" cy="2427732"/>
          </a:xfrm>
          <a:prstGeom prst="rect">
            <a:avLst/>
          </a:prstGeom>
          <a:solidFill>
            <a:srgbClr val="00D4AA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28132" y="1988820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628132" y="4873752"/>
            <a:ext cx="591617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ARR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492240" y="960120"/>
            <a:ext cx="2743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46520" y="960120"/>
            <a:ext cx="27432" cy="5303520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40" name="Text 38"/>
          <p:cNvSpPr/>
          <p:nvPr/>
        </p:nvSpPr>
        <p:spPr>
          <a:xfrm>
            <a:off x="6629400" y="960120"/>
            <a:ext cx="5212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KPIS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629400" y="1170432"/>
            <a:ext cx="256032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0840" y="1243584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720840" y="14081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720840" y="1792224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$84.89M  +$413.1K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326880" y="1170432"/>
            <a:ext cx="256032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18320" y="1243584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ARR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418320" y="14081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$1.68M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9418320" y="1792224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$1.77M  -$84.2K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629400" y="2157984"/>
            <a:ext cx="256032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20840" y="2231136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G$R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720840" y="23957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6720840" y="277977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Retention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326880" y="2157984"/>
            <a:ext cx="256032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18320" y="2231136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COVERAGE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9418320" y="23957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9418320" y="277977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ending ARR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29400" y="3218688"/>
            <a:ext cx="5212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BRIDGE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629400" y="3401568"/>
            <a:ext cx="13716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75120" y="3401568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8001000" y="3401568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46720" y="3401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915400" y="3401568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61120" y="3401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829800" y="3401568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875520" y="3401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629400" y="3648456"/>
            <a:ext cx="13716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675120" y="3648456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ARR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001000" y="3648456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046720" y="364845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$83.44M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8915400" y="3648456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961120" y="364845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$82.94M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9829800" y="3648456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875520" y="364845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+$506.2K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629400" y="3895344"/>
            <a:ext cx="13716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75120" y="3895344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Business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001000" y="3895344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46720" y="389534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$1.68M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915400" y="3895344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961120" y="389534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$1.77M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9829800" y="3895344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75520" y="389534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-$84.2K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6629400" y="4142232"/>
            <a:ext cx="13716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75120" y="4142232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001000" y="4142232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046720" y="4142232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$869.1K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8915400" y="4142232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61120" y="4142232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$912.6K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9829800" y="4142232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875520" y="4142232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-$43.5K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629400" y="4389120"/>
            <a:ext cx="13716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675120" y="4389120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Reactivation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8001000" y="4389120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046720" y="43891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$142.9K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915400" y="4389120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61120" y="43891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$150.0K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9829800" y="4389120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75520" y="43891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-$7.1K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6629400" y="4636008"/>
            <a:ext cx="13716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675120" y="4636008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8001000" y="4636008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46720" y="4636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$313.7K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8915400" y="4636008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961120" y="4636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$329.3K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9829800" y="4636008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875520" y="4636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-$15.7K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6629400" y="4882896"/>
            <a:ext cx="13716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675120" y="4882896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8001000" y="4882896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46720" y="488289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$520.2K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8915400" y="4882896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961120" y="488289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$546.2K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9829800" y="4882896"/>
            <a:ext cx="914400" cy="246888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9875520" y="4882896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-$26.0K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6629400" y="5129784"/>
            <a:ext cx="13716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75120" y="5129784"/>
            <a:ext cx="1325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8001000" y="5129784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046720" y="512978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$85.31M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8915400" y="5129784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961120" y="512978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$84.89M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9829800" y="5129784"/>
            <a:ext cx="914400" cy="246888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875520" y="5129784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+$413.1K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6629400" y="5440680"/>
            <a:ext cx="5212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6629400" y="5596128"/>
            <a:ext cx="5212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Ending ARR $85.31M beat budget by +$413.1K; MoM growth +2.2% from $83.44M in May 2026.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29400" y="5751576"/>
            <a:ext cx="5212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New Business $1.68M slightly below $1.77M budget; expansion $869.1K vs $912.6K budget.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6629400" y="5907024"/>
            <a:ext cx="5212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Churn $520.2K and contraction $313.7K both below budget — retention tracking favorably.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6629400" y="6062472"/>
            <a:ext cx="5212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FY ARR outlook $90.29M vs $96.10M budget; H2 ramp requires pipeline acceleration.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4/11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Review — June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(CM)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$7.35M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$7.72M  -4.8%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18688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310128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10128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70.0%  on target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17336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08776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(CM)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08776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$661.5K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08776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$647.5K  +2.2%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015984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07424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(CM)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107424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$409.0K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07424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$393.4K  +4.0%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1828800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" y="1920240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202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73736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8308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Actual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0604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Budget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7472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2044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Variance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34340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Actual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21208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5780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Budget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080760" y="192024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19202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Variance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2176272"/>
            <a:ext cx="14173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21762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73736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78308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$7.35M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60604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5176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$7.72M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7472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2044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-$367.5K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34340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$39.45M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21208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780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$41.42M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080760" y="2176272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26480" y="21762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-$1.97M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0040" y="2432304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43230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73736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78308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$2.20M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60604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5176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$2.32M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47472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2044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-$110.2K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4340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$11.51M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1208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780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$12.09M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080760" y="2432304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24323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-$575.7K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20040" y="2688336"/>
            <a:ext cx="14173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5760" y="26883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73736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78308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$5.14M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260604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65176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$5.40M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47472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2044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-$257.2K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4340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$27.94M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21208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5780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$29.33M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080760" y="2688336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68833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-$1.40M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320040" y="2944368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5760" y="29443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173736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78308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60604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65176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70.0%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347472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52044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4340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8912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70.8%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21208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5780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70.8%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080760" y="2944368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126480" y="294436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320040" y="3200400"/>
            <a:ext cx="14173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65760" y="32004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173736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78308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260604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65176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$2.65M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347472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2044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-$151.2K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34340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38912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$13.41M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21208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25780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$14.22M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6080760" y="3200400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126480" y="32004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-$811.5K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320040" y="3456432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65760" y="34564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173736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78308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$1.18M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260604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65176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$1.25M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347472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52044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-$71.1K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434340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38912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$6.31M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21208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25780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$6.69M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080760" y="3456432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12648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-$381.9K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20040" y="3712464"/>
            <a:ext cx="14173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65760" y="37124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G&amp;A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173736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78308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$808.5K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260604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65176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$857.4K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347472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52044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-$48.9K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434340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38912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$4.34M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521208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25780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$4.60M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6080760" y="3712464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126480" y="371246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-$262.5K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320040" y="3968496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657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173736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78308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$661.5K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260604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65176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$647.5K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347472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52044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+$14.0K</a:t>
            </a:r>
            <a:endParaRPr lang="en-US" sz="850" dirty="0"/>
          </a:p>
        </p:txBody>
      </p:sp>
      <p:sp>
        <p:nvSpPr>
          <p:cNvPr id="143" name="Shape 141"/>
          <p:cNvSpPr/>
          <p:nvPr/>
        </p:nvSpPr>
        <p:spPr>
          <a:xfrm>
            <a:off x="434340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38912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$3.87M</a:t>
            </a:r>
            <a:endParaRPr lang="en-US" sz="850" dirty="0"/>
          </a:p>
        </p:txBody>
      </p:sp>
      <p:sp>
        <p:nvSpPr>
          <p:cNvPr id="145" name="Shape 143"/>
          <p:cNvSpPr/>
          <p:nvPr/>
        </p:nvSpPr>
        <p:spPr>
          <a:xfrm>
            <a:off x="521208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25780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$3.81M</a:t>
            </a:r>
            <a:endParaRPr lang="en-US" sz="850" dirty="0"/>
          </a:p>
        </p:txBody>
      </p:sp>
      <p:sp>
        <p:nvSpPr>
          <p:cNvPr id="147" name="Shape 145"/>
          <p:cNvSpPr/>
          <p:nvPr/>
        </p:nvSpPr>
        <p:spPr>
          <a:xfrm>
            <a:off x="6080760" y="3968496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126480" y="396849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+$59.1K</a:t>
            </a:r>
            <a:endParaRPr lang="en-US" sz="850" dirty="0"/>
          </a:p>
        </p:txBody>
      </p:sp>
      <p:sp>
        <p:nvSpPr>
          <p:cNvPr id="149" name="Shape 147"/>
          <p:cNvSpPr/>
          <p:nvPr/>
        </p:nvSpPr>
        <p:spPr>
          <a:xfrm>
            <a:off x="320040" y="4224528"/>
            <a:ext cx="14173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365760" y="42245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850" dirty="0"/>
          </a:p>
        </p:txBody>
      </p:sp>
      <p:sp>
        <p:nvSpPr>
          <p:cNvPr id="151" name="Shape 149"/>
          <p:cNvSpPr/>
          <p:nvPr/>
        </p:nvSpPr>
        <p:spPr>
          <a:xfrm>
            <a:off x="173736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78308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$110.2K</a:t>
            </a:r>
            <a:endParaRPr lang="en-US" sz="850" dirty="0"/>
          </a:p>
        </p:txBody>
      </p:sp>
      <p:sp>
        <p:nvSpPr>
          <p:cNvPr id="153" name="Shape 151"/>
          <p:cNvSpPr/>
          <p:nvPr/>
        </p:nvSpPr>
        <p:spPr>
          <a:xfrm>
            <a:off x="260604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65176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$115.8K</a:t>
            </a:r>
            <a:endParaRPr lang="en-US" sz="850" dirty="0"/>
          </a:p>
        </p:txBody>
      </p:sp>
      <p:sp>
        <p:nvSpPr>
          <p:cNvPr id="155" name="Shape 153"/>
          <p:cNvSpPr/>
          <p:nvPr/>
        </p:nvSpPr>
        <p:spPr>
          <a:xfrm>
            <a:off x="347472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52044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-$5.5K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434340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38912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$591.8K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521208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25780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$621.3K</a:t>
            </a:r>
            <a:endParaRPr lang="en-US" sz="850" dirty="0"/>
          </a:p>
        </p:txBody>
      </p:sp>
      <p:sp>
        <p:nvSpPr>
          <p:cNvPr id="161" name="Shape 159"/>
          <p:cNvSpPr/>
          <p:nvPr/>
        </p:nvSpPr>
        <p:spPr>
          <a:xfrm>
            <a:off x="6080760" y="4224528"/>
            <a:ext cx="8686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126480" y="42245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-$29.6K</a:t>
            </a:r>
            <a:endParaRPr lang="en-US" sz="850" dirty="0"/>
          </a:p>
        </p:txBody>
      </p:sp>
      <p:sp>
        <p:nvSpPr>
          <p:cNvPr id="163" name="Shape 161"/>
          <p:cNvSpPr/>
          <p:nvPr/>
        </p:nvSpPr>
        <p:spPr>
          <a:xfrm>
            <a:off x="320040" y="4480560"/>
            <a:ext cx="14173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365760" y="44805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</a:t>
            </a:r>
            <a:endParaRPr lang="en-US" sz="850" dirty="0"/>
          </a:p>
        </p:txBody>
      </p:sp>
      <p:sp>
        <p:nvSpPr>
          <p:cNvPr id="165" name="Shape 163"/>
          <p:cNvSpPr/>
          <p:nvPr/>
        </p:nvSpPr>
        <p:spPr>
          <a:xfrm>
            <a:off x="173736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78308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$409.0K</a:t>
            </a:r>
            <a:endParaRPr lang="en-US" sz="850" dirty="0"/>
          </a:p>
        </p:txBody>
      </p:sp>
      <p:sp>
        <p:nvSpPr>
          <p:cNvPr id="167" name="Shape 165"/>
          <p:cNvSpPr/>
          <p:nvPr/>
        </p:nvSpPr>
        <p:spPr>
          <a:xfrm>
            <a:off x="260604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65176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$393.4K</a:t>
            </a:r>
            <a:endParaRPr lang="en-US" sz="850" dirty="0"/>
          </a:p>
        </p:txBody>
      </p:sp>
      <p:sp>
        <p:nvSpPr>
          <p:cNvPr id="169" name="Shape 167"/>
          <p:cNvSpPr/>
          <p:nvPr/>
        </p:nvSpPr>
        <p:spPr>
          <a:xfrm>
            <a:off x="347472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352044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+$15.6K</a:t>
            </a:r>
            <a:endParaRPr lang="en-US" sz="850" dirty="0"/>
          </a:p>
        </p:txBody>
      </p:sp>
      <p:sp>
        <p:nvSpPr>
          <p:cNvPr id="171" name="Shape 169"/>
          <p:cNvSpPr/>
          <p:nvPr/>
        </p:nvSpPr>
        <p:spPr>
          <a:xfrm>
            <a:off x="434340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38912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$2.43M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521208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525780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$2.36M</a:t>
            </a:r>
            <a:endParaRPr lang="en-US" sz="850" dirty="0"/>
          </a:p>
        </p:txBody>
      </p:sp>
      <p:sp>
        <p:nvSpPr>
          <p:cNvPr id="175" name="Shape 173"/>
          <p:cNvSpPr/>
          <p:nvPr/>
        </p:nvSpPr>
        <p:spPr>
          <a:xfrm>
            <a:off x="6080760" y="4480560"/>
            <a:ext cx="8686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6126480" y="448056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+$71.0K</a:t>
            </a:r>
            <a:endParaRPr lang="en-US" sz="850" dirty="0"/>
          </a:p>
        </p:txBody>
      </p:sp>
      <p:sp>
        <p:nvSpPr>
          <p:cNvPr id="177" name="Text 175"/>
          <p:cNvSpPr/>
          <p:nvPr/>
        </p:nvSpPr>
        <p:spPr>
          <a:xfrm>
            <a:off x="7315200" y="19202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178" name="Shape 176"/>
          <p:cNvSpPr/>
          <p:nvPr/>
        </p:nvSpPr>
        <p:spPr>
          <a:xfrm>
            <a:off x="7315200" y="2121408"/>
            <a:ext cx="4572000" cy="41148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452360" y="2240280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Revenue $7.35M CM, -4.8% vs $7.72M budget; YTD $39.45M trails $41.42M by -$1.97M.</a:t>
            </a:r>
            <a:endParaRPr lang="en-US" sz="900" dirty="0"/>
          </a:p>
        </p:txBody>
      </p:sp>
      <p:sp>
        <p:nvSpPr>
          <p:cNvPr id="180" name="Text 178"/>
          <p:cNvSpPr/>
          <p:nvPr/>
        </p:nvSpPr>
        <p:spPr>
          <a:xfrm>
            <a:off x="7452360" y="299008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Gross margin held at 70.0% CM and 70.8% YTD — in line with budget on both horizons.</a:t>
            </a:r>
            <a:endParaRPr lang="en-US" sz="900" dirty="0"/>
          </a:p>
        </p:txBody>
      </p:sp>
      <p:sp>
        <p:nvSpPr>
          <p:cNvPr id="181" name="Text 179"/>
          <p:cNvSpPr/>
          <p:nvPr/>
        </p:nvSpPr>
        <p:spPr>
          <a:xfrm>
            <a:off x="7452360" y="373989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EBITDA $661.5K beat budget by +$14.0K; YTD $3.87M ahead +$59.1K reflecting cost discipline.</a:t>
            </a:r>
            <a:endParaRPr lang="en-US" sz="900" dirty="0"/>
          </a:p>
        </p:txBody>
      </p:sp>
      <p:sp>
        <p:nvSpPr>
          <p:cNvPr id="182" name="Text 180"/>
          <p:cNvSpPr/>
          <p:nvPr/>
        </p:nvSpPr>
        <p:spPr>
          <a:xfrm>
            <a:off x="7452360" y="448970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S&amp;M $2.50M and R&amp;D $1.18M both -5.7% vs budget; opex leverage supporting margin.</a:t>
            </a:r>
            <a:endParaRPr lang="en-US" sz="900" dirty="0"/>
          </a:p>
        </p:txBody>
      </p:sp>
      <p:sp>
        <p:nvSpPr>
          <p:cNvPr id="183" name="Text 181"/>
          <p:cNvSpPr/>
          <p:nvPr/>
        </p:nvSpPr>
        <p:spPr>
          <a:xfrm>
            <a:off x="7452360" y="523951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Net income $409.0K CM, +4.0% vs budget; YTD $2.43M ahead +$71.0K — profitable trajectory.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5/11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LIQUIDITY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Liquidity — June 2026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89611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CASH BRIDGE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48840" y="107899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07899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63240" y="107899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7899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135331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3533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Cash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48840" y="135331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135331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$48.02M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063240" y="135331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08960" y="135331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$29.60M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162763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6276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148840" y="162763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162763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$6.81M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063240" y="162763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08960" y="162763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$8.91M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190195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19019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148840" y="190195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190195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$2.47M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63240" y="190195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90195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$4.00M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217627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176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Payments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148840" y="217627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94560" y="217627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$3.66M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063240" y="217627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08960" y="217627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$1.40M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245059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24505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148840" y="245059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94560" y="245059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$199.9K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063240" y="245059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08960" y="245059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$370.8K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20040" y="272491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27249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148840" y="272491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94560" y="272491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$220.0K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063240" y="272491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72491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$220.0K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0040" y="299923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29992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148840" y="299923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194560" y="299923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063240" y="2999232"/>
            <a:ext cx="9144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08960" y="299923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0040" y="327355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32735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148840" y="327355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194560" y="327355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$50.26M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063240" y="3273552"/>
            <a:ext cx="9144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108960" y="3273552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$48.17M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320040" y="365760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CASH SUMMARY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0040" y="3840480"/>
            <a:ext cx="3840480" cy="50292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1480" y="38862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Collections: $58.82M  |  YTD Ending Cash: $48.43M  |  Budget: $23.85M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434840" y="896112"/>
            <a:ext cx="7406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KPIS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434840" y="1078992"/>
            <a:ext cx="365760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26280" y="1152144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(CM)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4526280" y="131673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$48.43M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4526280" y="17007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$31.46M  +54.0%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8202168" y="1078992"/>
            <a:ext cx="365760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93608" y="1152144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HEADROOM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8293608" y="131673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$38.43M</a:t>
            </a:r>
            <a:endParaRPr lang="en-US" sz="2200" dirty="0"/>
          </a:p>
        </p:txBody>
      </p:sp>
      <p:sp>
        <p:nvSpPr>
          <p:cNvPr id="72" name="Text 70"/>
          <p:cNvSpPr/>
          <p:nvPr/>
        </p:nvSpPr>
        <p:spPr>
          <a:xfrm>
            <a:off x="8293608" y="17007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$10.00M floor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434840" y="2066544"/>
            <a:ext cx="365760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26280" y="2139696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CASH OUTLOOK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4526280" y="230428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$49.92M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4526280" y="268833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$23.85M  +109.3%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202168" y="2066544"/>
            <a:ext cx="365760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293608" y="2139696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COLLECTIONS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8293608" y="230428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$58.82M</a:t>
            </a:r>
            <a:endParaRPr lang="en-US" sz="2200" dirty="0"/>
          </a:p>
        </p:txBody>
      </p:sp>
      <p:sp>
        <p:nvSpPr>
          <p:cNvPr id="80" name="Text 78"/>
          <p:cNvSpPr/>
          <p:nvPr/>
        </p:nvSpPr>
        <p:spPr>
          <a:xfrm>
            <a:off x="8293608" y="268833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 collections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434840" y="3090672"/>
            <a:ext cx="7406640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82" name="Text 80"/>
          <p:cNvSpPr/>
          <p:nvPr/>
        </p:nvSpPr>
        <p:spPr>
          <a:xfrm>
            <a:off x="4434840" y="3154680"/>
            <a:ext cx="7406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434840" y="3337560"/>
            <a:ext cx="7406640" cy="274320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72000" y="3456432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Ending cash $48.43M, +54.0% vs $31.46M budget; MoM +1.0% from $49.76M in May 2026.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572000" y="4078224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Cash headroom $38.43M above $10.00M floor provides significant strategic runway.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4572000" y="4700016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Collections $6.81M CM vs $8.91M budget; YTD collections $58.82M tracking strong.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4572000" y="532180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FY cash outlook $49.92M vs $23.85M budget — +109.3% upside from disciplined spend.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6/11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PERFORMANCE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Performance — June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$5.40M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created  vs bud $5.31M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18688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MQLS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310128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10128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 best: Organic Search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17336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08776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08776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$1.80M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08776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ARR closed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015984" y="8686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07424" y="9418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EFFICIENCY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107424" y="1106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60.7x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07424" y="14904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per $ spend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1828800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90195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PERFORMANCE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084832"/>
            <a:ext cx="16459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084832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965960" y="2084832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20848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(Act)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880360" y="2084832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0" y="20848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(Bud)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794760" y="2084832"/>
            <a:ext cx="10058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2084832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(Act)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00600" y="2084832"/>
            <a:ext cx="640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2084832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40680" y="2084832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20848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084832"/>
            <a:ext cx="7772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208483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0040" y="2340864"/>
            <a:ext cx="16459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2340864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0" y="234086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880360" y="2340864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26080" y="234086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$2K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794760" y="2340864"/>
            <a:ext cx="10058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0" y="234086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$524K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00600" y="2340864"/>
            <a:ext cx="640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2340864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40680" y="2340864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0" y="234086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44.5x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355080" y="2340864"/>
            <a:ext cx="7772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234086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10.6%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20040" y="2596896"/>
            <a:ext cx="16459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596896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Search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965960" y="2596896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259689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880360" y="2596896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26080" y="259689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794760" y="2596896"/>
            <a:ext cx="10058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40480" y="259689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$508K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800600" y="2596896"/>
            <a:ext cx="640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46320" y="259689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440680" y="2596896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0" y="259689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63.7x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355080" y="2596896"/>
            <a:ext cx="7772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00800" y="259689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3.3%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320040" y="2852928"/>
            <a:ext cx="16459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2852928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Syndication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965960" y="2852928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011680" y="285292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$7K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880360" y="2852928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926080" y="285292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$9K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3794760" y="2852928"/>
            <a:ext cx="10058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40480" y="285292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$310K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800600" y="2852928"/>
            <a:ext cx="640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46320" y="285292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5440680" y="2852928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0" y="285292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43.5x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6355080" y="2852928"/>
            <a:ext cx="7772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400800" y="28529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9.1%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320040" y="3108960"/>
            <a:ext cx="164592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65760" y="310896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965960" y="3108960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011680" y="310896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2880360" y="3108960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926080" y="310896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3794760" y="3108960"/>
            <a:ext cx="10058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840480" y="31089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$443K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800600" y="3108960"/>
            <a:ext cx="640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46320" y="31089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5440680" y="3108960"/>
            <a:ext cx="9144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486400" y="310896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81.2x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355080" y="3108960"/>
            <a:ext cx="77724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31089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23.8%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20040" y="3364992"/>
            <a:ext cx="164592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65760" y="3364992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965960" y="3364992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011680" y="336499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2880360" y="3364992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26080" y="336499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3794760" y="3364992"/>
            <a:ext cx="10058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40480" y="3364992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$484K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4800600" y="3364992"/>
            <a:ext cx="640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46320" y="3364992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5440680" y="3364992"/>
            <a:ext cx="9144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486400" y="336499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96.1x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355080" y="3364992"/>
            <a:ext cx="77724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400800" y="33649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8.1%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320040" y="3429000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09" name="Text 107"/>
          <p:cNvSpPr/>
          <p:nvPr/>
        </p:nvSpPr>
        <p:spPr>
          <a:xfrm>
            <a:off x="320040" y="34930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EFFICIENCY (PIPELINE / SPEND)</a:t>
            </a:r>
            <a:endParaRPr lang="en-US" sz="900" dirty="0"/>
          </a:p>
        </p:txBody>
      </p:sp>
      <p:graphicFrame>
        <p:nvGraphicFramePr>
          <p:cNvPr id="110" name="Chart 0" descr=""/>
          <p:cNvGraphicFramePr/>
          <p:nvPr/>
        </p:nvGraphicFramePr>
        <p:xfrm>
          <a:off x="320040" y="3657600"/>
          <a:ext cx="685800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1" name="Text 108"/>
          <p:cNvSpPr/>
          <p:nvPr/>
        </p:nvSpPr>
        <p:spPr>
          <a:xfrm>
            <a:off x="7406640" y="349300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112" name="Shape 109"/>
          <p:cNvSpPr/>
          <p:nvPr/>
        </p:nvSpPr>
        <p:spPr>
          <a:xfrm>
            <a:off x="7406640" y="3657600"/>
            <a:ext cx="4572000" cy="242316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7543800" y="376732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Outbound leads efficiency at 96.1x; Organic Search 81.2x with best win rate 23.8%.</a:t>
            </a:r>
            <a:endParaRPr lang="en-US" sz="850" dirty="0"/>
          </a:p>
        </p:txBody>
      </p:sp>
      <p:sp>
        <p:nvSpPr>
          <p:cNvPr id="114" name="Text 111"/>
          <p:cNvSpPr/>
          <p:nvPr/>
        </p:nvSpPr>
        <p:spPr>
          <a:xfrm>
            <a:off x="7543800" y="42062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Paid Social spend $12K vs $2K budget — overspend warrants reallocation review.</a:t>
            </a:r>
            <a:endParaRPr lang="en-US" sz="850" dirty="0"/>
          </a:p>
        </p:txBody>
      </p:sp>
      <p:sp>
        <p:nvSpPr>
          <p:cNvPr id="115" name="Text 112"/>
          <p:cNvSpPr/>
          <p:nvPr/>
        </p:nvSpPr>
        <p:spPr>
          <a:xfrm>
            <a:off x="7543800" y="464515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Total pipeline $5.40M vs $5.31M budget; YTD pipeline -79.9% vs $26.91M budget.</a:t>
            </a:r>
            <a:endParaRPr lang="en-US" sz="850" dirty="0"/>
          </a:p>
        </p:txBody>
      </p:sp>
      <p:sp>
        <p:nvSpPr>
          <p:cNvPr id="116" name="Text 113"/>
          <p:cNvSpPr/>
          <p:nvPr/>
        </p:nvSpPr>
        <p:spPr>
          <a:xfrm>
            <a:off x="7543800" y="508406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MQL volume 119 CM; pipeline coverage 3.0x supports near-term ARR targets.</a:t>
            </a:r>
            <a:endParaRPr lang="en-US" sz="850" dirty="0"/>
          </a:p>
        </p:txBody>
      </p:sp>
      <p:sp>
        <p:nvSpPr>
          <p:cNvPr id="117" name="Text 114"/>
          <p:cNvSpPr/>
          <p:nvPr/>
        </p:nvSpPr>
        <p:spPr>
          <a:xfrm>
            <a:off x="7543800" y="552297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Content Syndication lowest efficiency 43.5x — consider budget shift to Outbound.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7/11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FUNNEL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Funnel Analysis — Jan–Jun 2026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8961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48840" y="107899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0789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Actual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040" y="135331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533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48840" y="135331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13533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362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162763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276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48840" y="162763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0" y="16276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190195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9019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148840" y="190195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190195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217627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176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48840" y="217627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0" y="217627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245059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505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148840" y="245059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94560" y="24505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$12.15M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272491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7249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ARR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148840" y="272491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94560" y="27249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$4.05M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0040" y="299923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29992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148840" y="299923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94560" y="29992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$144.8K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749040" y="8961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749040" y="107899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94760" y="10789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77840" y="107899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10789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Actual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749040" y="135331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94760" y="13533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577840" y="135331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13533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359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49040" y="162763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94760" y="16276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577840" y="162763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23560" y="16276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749040" y="190195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94760" y="19019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577840" y="190195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23560" y="190195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749040" y="217627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94760" y="2176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577840" y="217627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23560" y="217627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749040" y="245059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94760" y="24505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ARR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577840" y="245059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623560" y="24505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$15.75M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749040" y="272491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794760" y="27249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ARR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577840" y="272491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23560" y="27249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$5.25M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749040" y="299923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94760" y="29992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577840" y="299923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23560" y="29992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$146.0K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178040" y="89611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178040" y="107899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23760" y="10789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006840" y="107899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052560" y="10789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Actual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178040" y="135331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223760" y="13533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006840" y="135331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052560" y="13533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721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7178040" y="162763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23760" y="16276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SQLs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006840" y="162763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052560" y="16276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7178040" y="190195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223760" y="190195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9006840" y="190195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190195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178040" y="217627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223760" y="2176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9006840" y="217627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052560" y="217627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178040" y="245059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223760" y="24505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ARR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9006840" y="245059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052560" y="24505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$27.90M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178040" y="2724912"/>
            <a:ext cx="18288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223760" y="272491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ARR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9006840" y="2724912"/>
            <a:ext cx="146304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052560" y="27249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$9.30M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178040" y="2999232"/>
            <a:ext cx="18288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223760" y="29992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9006840" y="2999232"/>
            <a:ext cx="146304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9052560" y="299923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$290.8K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20040" y="3127248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06" name="Text 104"/>
          <p:cNvSpPr/>
          <p:nvPr/>
        </p:nvSpPr>
        <p:spPr>
          <a:xfrm>
            <a:off x="320040" y="3200400"/>
            <a:ext cx="11548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SUMMARY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320040" y="33832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1480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COVERAGE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411480" y="36210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2200" dirty="0"/>
          </a:p>
        </p:txBody>
      </p:sp>
      <p:sp>
        <p:nvSpPr>
          <p:cNvPr id="110" name="Text 108"/>
          <p:cNvSpPr/>
          <p:nvPr/>
        </p:nvSpPr>
        <p:spPr>
          <a:xfrm>
            <a:off x="411480" y="40050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ending ARR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3218688" y="33832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310128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CLOSED WON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3310128" y="36210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$9.30M</a:t>
            </a:r>
            <a:endParaRPr lang="en-US" sz="2200" dirty="0"/>
          </a:p>
        </p:txBody>
      </p:sp>
      <p:sp>
        <p:nvSpPr>
          <p:cNvPr id="114" name="Text 112"/>
          <p:cNvSpPr/>
          <p:nvPr/>
        </p:nvSpPr>
        <p:spPr>
          <a:xfrm>
            <a:off x="3310128" y="40050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closed Jan–Jun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6117336" y="33832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208776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PIPELINE CREATED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6208776" y="36210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$27.90M</a:t>
            </a:r>
            <a:endParaRPr lang="en-US" sz="2200" dirty="0"/>
          </a:p>
        </p:txBody>
      </p:sp>
      <p:sp>
        <p:nvSpPr>
          <p:cNvPr id="118" name="Text 116"/>
          <p:cNvSpPr/>
          <p:nvPr/>
        </p:nvSpPr>
        <p:spPr>
          <a:xfrm>
            <a:off x="6208776" y="40050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opportunities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9015984" y="3383280"/>
            <a:ext cx="2834640" cy="896112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107424" y="34564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SPEND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9107424" y="36210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$290.8K</a:t>
            </a:r>
            <a:endParaRPr lang="en-US" sz="2200" dirty="0"/>
          </a:p>
        </p:txBody>
      </p:sp>
      <p:sp>
        <p:nvSpPr>
          <p:cNvPr id="122" name="Text 120"/>
          <p:cNvSpPr/>
          <p:nvPr/>
        </p:nvSpPr>
        <p:spPr>
          <a:xfrm>
            <a:off x="9107424" y="400507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GTM spend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320040" y="4343400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24" name="Text 122"/>
          <p:cNvSpPr/>
          <p:nvPr/>
        </p:nvSpPr>
        <p:spPr>
          <a:xfrm>
            <a:off x="320040" y="4407408"/>
            <a:ext cx="11548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320040" y="4572000"/>
            <a:ext cx="11548872" cy="1554480"/>
          </a:xfrm>
          <a:prstGeom prst="rect">
            <a:avLst/>
          </a:prstGeom>
          <a:solidFill>
            <a:srgbClr val="111D2E"/>
          </a:solidFill>
          <a:ln w="6350">
            <a:solidFill>
              <a:srgbClr val="1A2E42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YTD MQLs 721 with Q2 359 slightly below Q1 362 — funnel volume stable MoM into H2.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457200" y="5010912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YTD closed won $9.30M ARR; Q2 $5.25M outpaced Q1 $4.05M — positive conversion trend.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457200" y="5358384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Pipeline coverage 3.0x provides near-term visibility; YTD pipeline $27.90M supports H2 targets.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457200" y="57058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YTD GTM spend $290.8K; efficiency improvement opportunity via channel reallocation to Outbound.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8/11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ASSESSMENT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Opportunities — June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41248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144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115568"/>
            <a:ext cx="685800" cy="201168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13385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051560" y="113385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Pipeline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137160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Slipped pipeline $9.87M requires next-quarter coverage review.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180136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Re-stage opportunities with validated next steps and owners.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11480" y="2011680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$9.87M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235000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350008"/>
            <a:ext cx="685800" cy="201168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236829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51560" y="236829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vs Budget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06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trailed budget in close month. Validate expansion timing and churn pockets before board distribution.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11480" y="303580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Review expansion timing and churn pockets.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358444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584448"/>
            <a:ext cx="685800" cy="201168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" y="360273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051560" y="36027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Validation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8404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status: FAIL. Confirm tie-outs before distribution.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11480" y="427024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Finance to certify waterfall and GL reconciliations.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481888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818888"/>
            <a:ext cx="685800" cy="201168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" y="483717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051560" y="483717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11480" y="507492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Forecast ARR waterfall rows for 2026-06; no Forecast revenue line for 2026-06.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1480" y="550468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Reload missing CSV sources and re-run validation.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63640" y="9144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OPPORTUNITIES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111556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1115568"/>
            <a:ext cx="685800" cy="201168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6" name="Text 34"/>
          <p:cNvSpPr/>
          <p:nvPr/>
        </p:nvSpPr>
        <p:spPr>
          <a:xfrm>
            <a:off x="6291072" y="113385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995160" y="113385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Headroom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55080" y="137160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$50.26M provides runway for strategic investments.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355080" y="180136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Prioritize high-ROI GTM and product bets with board approval.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355080" y="2011680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Upside: $40.26M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63640" y="235000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2350008"/>
            <a:ext cx="685800" cy="201168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43" name="Text 41"/>
          <p:cNvSpPr/>
          <p:nvPr/>
        </p:nvSpPr>
        <p:spPr>
          <a:xfrm>
            <a:off x="6291072" y="236829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995160" y="236829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Forecast Upside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355080" y="2606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cash outlook $49.92M vs $23.85M budget — +109.3% above plan.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355080" y="303580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Confirm ending cash ties to balance sheet; deploy excess strategically.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355080" y="3246120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Upside: +$26.07M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263640" y="358444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3584448"/>
            <a:ext cx="685800" cy="201168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50" name="Text 48"/>
          <p:cNvSpPr/>
          <p:nvPr/>
        </p:nvSpPr>
        <p:spPr>
          <a:xfrm>
            <a:off x="6291072" y="360273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95160" y="36027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Reallocation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355080" y="38404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96.1x and Organic Search 81.2x efficiency — shift budget from underperformers.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355080" y="427024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Reallocate Paid Social overspend to Outbound and Organic Search.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263640" y="4818888"/>
            <a:ext cx="5577840" cy="1143000"/>
          </a:xfrm>
          <a:prstGeom prst="rect">
            <a:avLst/>
          </a:prstGeom>
          <a:solidFill>
            <a:srgbClr val="111D2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63640" y="4818888"/>
            <a:ext cx="685800" cy="201168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56" name="Text 54"/>
          <p:cNvSpPr/>
          <p:nvPr/>
        </p:nvSpPr>
        <p:spPr>
          <a:xfrm>
            <a:off x="6291072" y="483717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995160" y="483717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Retention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355080" y="507492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$520.2K and contraction $313.7K both below budget — retention outperforming.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355080" y="5504688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Invest in expansion motion to accelerate N$R above 100%.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053328" y="914400"/>
            <a:ext cx="27432" cy="5212080"/>
          </a:xfrm>
          <a:prstGeom prst="rect">
            <a:avLst/>
          </a:prstGeom>
          <a:solidFill>
            <a:srgbClr val="1A2E42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9/11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OUTLOOK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Outlook — FY 2026</a:t>
            </a:r>
            <a:endParaRPr lang="en-US" sz="2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20040" y="86868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133088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 OUTLOOK SUMMARY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0040" y="4315968"/>
            <a:ext cx="2926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31596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4315968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91840" y="431596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74920" y="4315968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1596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" y="4572000"/>
            <a:ext cx="2926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57200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 (Dec EoY)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246120" y="4572000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91840" y="457200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$90.29M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74920" y="4572000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20640" y="457200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$96.10M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20040" y="4828032"/>
            <a:ext cx="2926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4828032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Revenue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46120" y="4828032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91840" y="482803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$25.88M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074920" y="4828032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20640" y="482803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$26.54M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20040" y="5084064"/>
            <a:ext cx="2926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5760" y="508406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Gross Margin %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3246120" y="5084064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91840" y="508406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074920" y="5084064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120640" y="508406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70.9%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320040" y="5340096"/>
            <a:ext cx="292608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65760" y="5340096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EBITDA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3246120" y="5340096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291840" y="534009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$7.46M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074920" y="5340096"/>
            <a:ext cx="1828800" cy="256032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120640" y="534009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$7.79M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20040" y="5596128"/>
            <a:ext cx="292608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5760" y="559612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(Dec EoY)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3246120" y="5596128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91840" y="559612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$49.92M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5074920" y="5596128"/>
            <a:ext cx="1828800" cy="256032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120640" y="559612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$23.85M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406640" y="86868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PRIORITIES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7406640" y="1051560"/>
            <a:ext cx="457200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516368" y="1078992"/>
            <a:ext cx="4352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&amp; GTM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7516368" y="1316736"/>
            <a:ext cx="43525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ARR outlook $90.29M vs $96.10M budget; pipeline 3.0x coverage supports H2 ramp.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7406640" y="2057400"/>
            <a:ext cx="457200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516368" y="2084832"/>
            <a:ext cx="4352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516368" y="2322576"/>
            <a:ext cx="43525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gross margin 70.8% on budget; EBITDA $3.87M ahead +$59.1K — sustain discipline.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7406640" y="3063240"/>
            <a:ext cx="457200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516368" y="3090672"/>
            <a:ext cx="4352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Runway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516368" y="3328416"/>
            <a:ext cx="43525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$48.43M, +54.0% vs budget; FY outlook $49.92M — deploy strategically.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7406640" y="4069080"/>
            <a:ext cx="4572000" cy="914400"/>
          </a:xfrm>
          <a:prstGeom prst="rect">
            <a:avLst/>
          </a:prstGeom>
          <a:solidFill>
            <a:srgbClr val="111D2E"/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516368" y="4096512"/>
            <a:ext cx="4352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7516368" y="4334256"/>
            <a:ext cx="43525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EOY forecast 16 headcount; open reqs 0 — hiring plan approval required next cycle.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7406640" y="5074920"/>
            <a:ext cx="4572000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58" name="Text 55"/>
          <p:cNvSpPr/>
          <p:nvPr/>
        </p:nvSpPr>
        <p:spPr>
          <a:xfrm>
            <a:off x="7406640" y="513892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7406640" y="528523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FY ARR outlook $90.29M, -6.0% vs $96.10M budget; H2 acceleration required to close gap.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406640" y="551383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FY revenue $25.88M vs $26.54M budget; -2.5% gap manageable with pipeline conversion.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7406640" y="574243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Cash outlook $49.92M vs $23.85M budget — +109.3% upside enables strategic investment.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7406640" y="597103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EBITDA $7.46M FY outlook vs $7.79M budget; profitability trajectory intact.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10/11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ACTIONS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Actions — June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41248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960120"/>
            <a:ext cx="5614416" cy="2468880"/>
          </a:xfrm>
          <a:prstGeom prst="rect">
            <a:avLst/>
          </a:prstGeom>
          <a:solidFill>
            <a:srgbClr val="111D2E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1691640" y="1124712"/>
            <a:ext cx="1645920" cy="23774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1709928" y="1133856"/>
            <a:ext cx="16093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02920" y="1463040"/>
            <a:ext cx="52486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June 2026 financial close package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1945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CFO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46888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Board meeting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5248656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board vote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54496" y="960120"/>
            <a:ext cx="5614416" cy="2468880"/>
          </a:xfrm>
          <a:prstGeom prst="rect">
            <a:avLst/>
          </a:prstGeom>
          <a:solidFill>
            <a:srgbClr val="111D2E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37376" y="109728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200" dirty="0"/>
          </a:p>
        </p:txBody>
      </p:sp>
      <p:sp>
        <p:nvSpPr>
          <p:cNvPr id="18" name="Shape 16"/>
          <p:cNvSpPr/>
          <p:nvPr/>
        </p:nvSpPr>
        <p:spPr>
          <a:xfrm>
            <a:off x="7626096" y="1124712"/>
            <a:ext cx="1645920" cy="23774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7644384" y="1133856"/>
            <a:ext cx="16093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437376" y="1463040"/>
            <a:ext cx="52486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updated FY ARR outlook and GTM plan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37376" y="21945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CEO / CRO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246888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Next board 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37376" y="2788920"/>
            <a:ext cx="5248656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24" name="Text 22"/>
          <p:cNvSpPr/>
          <p:nvPr/>
        </p:nvSpPr>
        <p:spPr>
          <a:xfrm>
            <a:off x="6437376" y="28803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board vote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3657600"/>
            <a:ext cx="5614416" cy="2468880"/>
          </a:xfrm>
          <a:prstGeom prst="rect">
            <a:avLst/>
          </a:prstGeom>
          <a:solidFill>
            <a:srgbClr val="111D2E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7947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200" dirty="0"/>
          </a:p>
        </p:txBody>
      </p:sp>
      <p:sp>
        <p:nvSpPr>
          <p:cNvPr id="27" name="Shape 25"/>
          <p:cNvSpPr/>
          <p:nvPr/>
        </p:nvSpPr>
        <p:spPr>
          <a:xfrm>
            <a:off x="1691640" y="3822192"/>
            <a:ext cx="1645920" cy="23774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8" name="Text 26"/>
          <p:cNvSpPr/>
          <p:nvPr/>
        </p:nvSpPr>
        <p:spPr>
          <a:xfrm>
            <a:off x="1709928" y="3831336"/>
            <a:ext cx="16093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APPROVAL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02920" y="4160520"/>
            <a:ext cx="52486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headcount and hiring plan adjustments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489204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CFO / CHRO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1663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Next board cycle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248656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557784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board vote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54496" y="3657600"/>
            <a:ext cx="5614416" cy="2468880"/>
          </a:xfrm>
          <a:prstGeom prst="rect">
            <a:avLst/>
          </a:prstGeom>
          <a:solidFill>
            <a:srgbClr val="111D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37376" y="37947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5200" dirty="0"/>
          </a:p>
        </p:txBody>
      </p:sp>
      <p:sp>
        <p:nvSpPr>
          <p:cNvPr id="36" name="Shape 34"/>
          <p:cNvSpPr/>
          <p:nvPr/>
        </p:nvSpPr>
        <p:spPr>
          <a:xfrm>
            <a:off x="7626096" y="3822192"/>
            <a:ext cx="1645920" cy="23774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7644384" y="3831336"/>
            <a:ext cx="16093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DISCUSSION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437376" y="4160520"/>
            <a:ext cx="52486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coverage and channel efficiency reallocation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37376" y="489204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CRO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37376" y="516636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Operating review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37376" y="5486400"/>
            <a:ext cx="5248656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42" name="Text 40"/>
          <p:cNvSpPr/>
          <p:nvPr/>
        </p:nvSpPr>
        <p:spPr>
          <a:xfrm>
            <a:off x="6437376" y="5577840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item — no vote required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44652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SMPL · Board Operating Review · Q2 2026 · CONFIDENTIAL  11/11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320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Cash Flow Statement — Jan–Jun 2026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841248"/>
            <a:ext cx="11548872" cy="27432"/>
          </a:xfrm>
          <a:prstGeom prst="rect">
            <a:avLst/>
          </a:prstGeom>
          <a:solidFill>
            <a:srgbClr val="1A2E42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96012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96012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49240" y="9601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2392" y="9601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Actual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360920" y="9601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34072" y="9601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Budget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372600" y="9601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45752" y="9601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Variance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123444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23444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Cash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349240" y="12344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2392" y="12344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$45.30M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60920" y="12344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34072" y="12344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$46.77M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372600" y="12344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45752" y="12344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-$1.47M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150876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150876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49240" y="15087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392" y="15087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$2.43M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60920" y="15087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4072" y="15087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$2.36M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372600" y="15087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5752" y="15087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+$70.0K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78308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3192" y="178308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 &amp; Amortization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349240" y="17830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22392" y="17830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$591.8K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360920" y="17830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34072" y="17830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$621.3K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372600" y="17830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45752" y="17830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-$29.5K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205740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205740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Stock-Based Compensation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349240" y="20574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22392" y="20574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360920" y="20574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34072" y="20574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9372600" y="20574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45752" y="20574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20040" y="233172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3192" y="233172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Accounts Receivable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349240" y="233172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22392" y="23317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$2.19M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360920" y="233172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34072" y="23317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-$1.88M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372600" y="233172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45752" y="23317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+$4.07M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0040" y="260604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3192" y="260604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Deferred Revenue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349240" y="260604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22392" y="26060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$232.0K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7360920" y="260604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34072" y="26060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$249.2K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372600" y="260604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45752" y="26060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-$17.2K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20040" y="288036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93192" y="288036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Accounts Payable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349240" y="288036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22392" y="28803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$373.5K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7360920" y="288036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34072" y="28803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$917.7K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372600" y="288036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445752" y="28803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-$544.2K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20040" y="315468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93192" y="315468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Prepaids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349240" y="315468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22392" y="31546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$75.0K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7360920" y="315468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434072" y="31546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$75.0K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372600" y="315468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445752" y="31546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$0.0K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320040" y="342900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342900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Operations (CFO)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5349240" y="342900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22392" y="34290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$5.90M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360920" y="342900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434072" y="34290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$2.35M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9372600" y="342900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445752" y="34290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+$3.55M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20040" y="370332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93192" y="370332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349240" y="37033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422392" y="37033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-$335.5K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7360920" y="37033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434072" y="37033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-$352.3K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9372600" y="370332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445752" y="370332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+$16.8K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320040" y="397764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93192" y="397764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Investing (CFI)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349240" y="39776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22392" y="39776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-$335.5K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7360920" y="39776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434072" y="39776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-$352.3K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9372600" y="397764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445752" y="397764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+$16.8K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320040" y="425196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3192" y="425196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Financing (CFF)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349240" y="42519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422392" y="42519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7360920" y="42519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34072" y="42519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9372600" y="425196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445752" y="425196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20040" y="4526280"/>
            <a:ext cx="502920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3192" y="452628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Change in Cash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349240" y="45262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422392" y="45262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$4.96M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7360920" y="45262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434072" y="45262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$1.39M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9372600" y="4526280"/>
            <a:ext cx="2011680" cy="274320"/>
          </a:xfrm>
          <a:prstGeom prst="rect">
            <a:avLst/>
          </a:prstGeom>
          <a:solidFill>
            <a:srgbClr val="0D1520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445752" y="452628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+$3.57M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320040" y="4800600"/>
            <a:ext cx="502920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93192" y="4800600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5349240" y="48006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422392" y="48006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$50.26M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7360920" y="48006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34072" y="48006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$48.17M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9372600" y="4800600"/>
            <a:ext cx="2011680" cy="274320"/>
          </a:xfrm>
          <a:prstGeom prst="rect">
            <a:avLst/>
          </a:prstGeom>
          <a:solidFill>
            <a:srgbClr val="111D2E"/>
          </a:solidFill>
          <a:ln w="3810">
            <a:solidFill>
              <a:srgbClr val="1A2E42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445752" y="4800600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+$2.09M</a:t>
            </a:r>
            <a:endParaRPr lang="en-US" sz="850" dirty="0"/>
          </a:p>
        </p:txBody>
      </p:sp>
      <p:sp>
        <p:nvSpPr>
          <p:cNvPr id="127" name="Text 125"/>
          <p:cNvSpPr/>
          <p:nvPr/>
        </p:nvSpPr>
        <p:spPr>
          <a:xfrm>
            <a:off x="320040" y="4892040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build_ts_data.cfs  |  Period: Jan–Jun 2026  |  Currency: USD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20040" y="5120640"/>
            <a:ext cx="11548872" cy="548640"/>
          </a:xfrm>
          <a:prstGeom prst="rect">
            <a:avLst/>
          </a:prstGeom>
          <a:solidFill>
            <a:srgbClr val="0D1520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Data Gaps: No Forecast ARR waterfall rows for 2026-06. No Forecast revenue line for 2026-06. Validation status: FAIL — Finance to certify reconciliations before distribution.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320040" y="5742432"/>
            <a:ext cx="11548872" cy="365760"/>
          </a:xfrm>
          <a:prstGeom prst="rect">
            <a:avLst/>
          </a:prstGeom>
          <a:solidFill>
            <a:srgbClr val="0D1520"/>
          </a:solidFill>
          <a:ln w="6350">
            <a:solidFill>
              <a:srgbClr val="6B8CA8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57200" y="57790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Headcount: Current month actual = 0 — verify headcount_plan / workforce tables loaded. EOY forecast = 16 headcount (integers, not dollars).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2026-06-29T15:00:31Z</dcterms:created>
  <dcterms:modified xsi:type="dcterms:W3CDTF">2026-06-29T15:00:31Z</dcterms:modified>
</cp:coreProperties>
</file>