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ARR ($M)</c:v>
                </c:pt>
              </c:strCache>
            </c:strRef>
          </c:tx>
          <c:spPr>
            <a:solidFill>
              <a:srgbClr val="00D4AA"/>
            </a:solidFill>
            <a:ln w="25400" cap="flat">
              <a:solidFill>
                <a:srgbClr val="00D4A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00D4AA"/>
              </a:solidFill>
              <a:ln w="9525" cap="flat">
                <a:solidFill>
                  <a:srgbClr val="00D4A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76.31</c:v>
                </c:pt>
                <c:pt idx="1">
                  <c:v>77.82</c:v>
                </c:pt>
                <c:pt idx="2">
                  <c:v>79.51</c:v>
                </c:pt>
                <c:pt idx="3">
                  <c:v>81.39</c:v>
                </c:pt>
                <c:pt idx="4">
                  <c:v>83.45</c:v>
                </c:pt>
                <c:pt idx="5">
                  <c:v>85.31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Outlook ARR ($M)</c:v>
                </c:pt>
              </c:strCache>
            </c:strRef>
          </c:tx>
          <c:spPr>
            <a:solidFill>
              <a:srgbClr val="F59E0B"/>
            </a:solidFill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76.31</c:v>
                </c:pt>
                <c:pt idx="1">
                  <c:v>77.82</c:v>
                </c:pt>
                <c:pt idx="2">
                  <c:v>79.51</c:v>
                </c:pt>
                <c:pt idx="3">
                  <c:v>81.39</c:v>
                </c:pt>
                <c:pt idx="4">
                  <c:v>83.45</c:v>
                </c:pt>
                <c:pt idx="5">
                  <c:v>85.31</c:v>
                </c:pt>
                <c:pt idx="6">
                  <c:v>86.29</c:v>
                </c:pt>
                <c:pt idx="7">
                  <c:v>87.13</c:v>
                </c:pt>
                <c:pt idx="8">
                  <c:v>87.83</c:v>
                </c:pt>
                <c:pt idx="9">
                  <c:v>88.51</c:v>
                </c:pt>
                <c:pt idx="10">
                  <c:v>89.2</c:v>
                </c:pt>
                <c:pt idx="11">
                  <c:v>90.29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Budget ARR ($M)</c:v>
                </c:pt>
              </c:strCache>
            </c:strRef>
          </c:tx>
          <c:spPr>
            <a:solidFill>
              <a:srgbClr val="6B8CA8"/>
            </a:solidFill>
            <a:ln w="25400" cap="flat">
              <a:solidFill>
                <a:srgbClr val="6B8C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6B8CA8"/>
              </a:solidFill>
              <a:ln w="9525" cap="flat">
                <a:solidFill>
                  <a:srgbClr val="6B8C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76.23</c:v>
                </c:pt>
                <c:pt idx="1">
                  <c:v>77.64</c:v>
                </c:pt>
                <c:pt idx="2">
                  <c:v>79.23</c:v>
                </c:pt>
                <c:pt idx="3">
                  <c:v>81</c:v>
                </c:pt>
                <c:pt idx="4">
                  <c:v>82.94</c:v>
                </c:pt>
                <c:pt idx="5">
                  <c:v>84.89</c:v>
                </c:pt>
                <c:pt idx="6">
                  <c:v>86.95</c:v>
                </c:pt>
                <c:pt idx="7">
                  <c:v>88.91</c:v>
                </c:pt>
                <c:pt idx="8">
                  <c:v>90.72</c:v>
                </c:pt>
                <c:pt idx="9">
                  <c:v>92.57</c:v>
                </c:pt>
                <c:pt idx="10">
                  <c:v>94.32</c:v>
                </c:pt>
                <c:pt idx="11">
                  <c:v>96.1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8C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8"/>
          <c:min val="74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8C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D2E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6B8CA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11D2E"/>
    </a:solidFill>
    <a:ln w="12700" cap="flat">
      <a:solidFill>
        <a:srgbClr val="111D2E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01168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SMPL.ai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0" y="260604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Operating System for SaaS Finance Teams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08476" y="2999232"/>
            <a:ext cx="4572000" cy="182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3154680"/>
            <a:ext cx="12188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Operating Review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0" y="370332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 · June 2026 · Series 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6446520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1/11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6446520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2/11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320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 — June 2026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2240280" cy="9144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41832"/>
            <a:ext cx="2057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ARR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1106424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$85.31M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490472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bud $84.89M  +0.5%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24328" y="868680"/>
            <a:ext cx="2240280" cy="9144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15768" y="941832"/>
            <a:ext cx="2057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(CM)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715768" y="1106424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$7.35M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15768" y="1490472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bud $7.72M  -4.8%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928616" y="868680"/>
            <a:ext cx="2240280" cy="9144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0056" y="941832"/>
            <a:ext cx="2057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CASH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020056" y="1106424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$30.00M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020056" y="1490472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bud $31.46M  -4.6%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232904" y="868680"/>
            <a:ext cx="2240280" cy="9144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24344" y="941832"/>
            <a:ext cx="2057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7324344" y="1106424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24344" y="1490472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bud 70.0%  on target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537192" y="868680"/>
            <a:ext cx="2240280" cy="9144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28632" y="941832"/>
            <a:ext cx="2057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(CM)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628632" y="1106424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$661.5K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628632" y="1490472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bud $647.5K  +2.2%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0040" y="1920240"/>
            <a:ext cx="11548872" cy="27432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20116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MATRIX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2212848"/>
            <a:ext cx="146304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21284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783080" y="2212848"/>
            <a:ext cx="749808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28800" y="2212848"/>
            <a:ext cx="704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Actual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532888" y="2212848"/>
            <a:ext cx="749808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78608" y="2212848"/>
            <a:ext cx="704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Budget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82696" y="2212848"/>
            <a:ext cx="749808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28416" y="2212848"/>
            <a:ext cx="704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Variance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032504" y="2212848"/>
            <a:ext cx="749808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78224" y="2212848"/>
            <a:ext cx="704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Actual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82312" y="2212848"/>
            <a:ext cx="749808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28032" y="2212848"/>
            <a:ext cx="704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Budget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532120" y="2212848"/>
            <a:ext cx="749808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77840" y="2212848"/>
            <a:ext cx="704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Variance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20040" y="2468880"/>
            <a:ext cx="146304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246888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ARR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783080" y="2468880"/>
            <a:ext cx="749808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828800" y="2468880"/>
            <a:ext cx="704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$85.31M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532888" y="2468880"/>
            <a:ext cx="749808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78608" y="2468880"/>
            <a:ext cx="704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$84.89M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282696" y="2468880"/>
            <a:ext cx="749808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28416" y="2468880"/>
            <a:ext cx="704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+$413.1K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032504" y="2468880"/>
            <a:ext cx="749808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078224" y="2468880"/>
            <a:ext cx="704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$85.31M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782312" y="2468880"/>
            <a:ext cx="749808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28032" y="2468880"/>
            <a:ext cx="704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$84.89M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532120" y="2468880"/>
            <a:ext cx="749808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77840" y="2468880"/>
            <a:ext cx="704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+$413.1K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20040" y="2724912"/>
            <a:ext cx="146304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272491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783080" y="2724912"/>
            <a:ext cx="749808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828800" y="2724912"/>
            <a:ext cx="704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$7.35M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532888" y="2724912"/>
            <a:ext cx="749808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578608" y="2724912"/>
            <a:ext cx="704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$7.72M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282696" y="2724912"/>
            <a:ext cx="749808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28416" y="2724912"/>
            <a:ext cx="704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-$367.5K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032504" y="2724912"/>
            <a:ext cx="749808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078224" y="2724912"/>
            <a:ext cx="704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$39.45M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782312" y="2724912"/>
            <a:ext cx="749808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828032" y="2724912"/>
            <a:ext cx="704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$41.42M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5532120" y="2724912"/>
            <a:ext cx="749808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577840" y="2724912"/>
            <a:ext cx="704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-$1.97M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20040" y="2980944"/>
            <a:ext cx="146304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65760" y="298094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783080" y="2980944"/>
            <a:ext cx="749808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828800" y="2980944"/>
            <a:ext cx="704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$661.5K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2532888" y="2980944"/>
            <a:ext cx="749808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578608" y="2980944"/>
            <a:ext cx="704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$647.5K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3282696" y="2980944"/>
            <a:ext cx="749808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328416" y="2980944"/>
            <a:ext cx="704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+$14.0K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4032504" y="2980944"/>
            <a:ext cx="749808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078224" y="2980944"/>
            <a:ext cx="704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$3.87M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4782312" y="2980944"/>
            <a:ext cx="749808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828032" y="2980944"/>
            <a:ext cx="704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$3.81M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532120" y="2980944"/>
            <a:ext cx="749808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577840" y="2980944"/>
            <a:ext cx="704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+$59.1K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320040" y="3236976"/>
            <a:ext cx="146304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65760" y="323697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%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1783080" y="3236976"/>
            <a:ext cx="749808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828800" y="3236976"/>
            <a:ext cx="704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70.0%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2532888" y="3236976"/>
            <a:ext cx="749808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578608" y="3236976"/>
            <a:ext cx="704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70.0%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3282696" y="3236976"/>
            <a:ext cx="749808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328416" y="3236976"/>
            <a:ext cx="704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4032504" y="3236976"/>
            <a:ext cx="749808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078224" y="3236976"/>
            <a:ext cx="704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70.8%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4782312" y="3236976"/>
            <a:ext cx="749808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828032" y="3236976"/>
            <a:ext cx="704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70.8%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5532120" y="3236976"/>
            <a:ext cx="749808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577840" y="3236976"/>
            <a:ext cx="704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320040" y="3493008"/>
            <a:ext cx="146304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65760" y="349300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Cash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1783080" y="3493008"/>
            <a:ext cx="749808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828800" y="3493008"/>
            <a:ext cx="704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$30.00M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2532888" y="3493008"/>
            <a:ext cx="749808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578608" y="3493008"/>
            <a:ext cx="704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$31.46M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3282696" y="3493008"/>
            <a:ext cx="749808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328416" y="3493008"/>
            <a:ext cx="704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-$1.46M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4032504" y="3493008"/>
            <a:ext cx="749808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078224" y="3493008"/>
            <a:ext cx="704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$30.00M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4782312" y="3493008"/>
            <a:ext cx="749808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828032" y="3493008"/>
            <a:ext cx="704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$31.46M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5532120" y="3493008"/>
            <a:ext cx="749808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577840" y="3493008"/>
            <a:ext cx="704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-$1.46M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320040" y="3749040"/>
            <a:ext cx="146304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365760" y="374904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Created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1783080" y="3749040"/>
            <a:ext cx="749808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828800" y="3749040"/>
            <a:ext cx="704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$9.19M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2532888" y="3749040"/>
            <a:ext cx="749808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2578608" y="3749040"/>
            <a:ext cx="704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$10.32M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3282696" y="3749040"/>
            <a:ext cx="749808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3328416" y="3749040"/>
            <a:ext cx="704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-$1.13M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4032504" y="3749040"/>
            <a:ext cx="749808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078224" y="3749040"/>
            <a:ext cx="704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$51.18M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4782312" y="3749040"/>
            <a:ext cx="749808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828032" y="3749040"/>
            <a:ext cx="704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$51.96M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5532120" y="3749040"/>
            <a:ext cx="749808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577840" y="3749040"/>
            <a:ext cx="704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-$780.2K</a:t>
            </a:r>
            <a:endParaRPr lang="en-US" sz="800" dirty="0"/>
          </a:p>
        </p:txBody>
      </p:sp>
      <p:sp>
        <p:nvSpPr>
          <p:cNvPr id="126" name="Text 124"/>
          <p:cNvSpPr/>
          <p:nvPr/>
        </p:nvSpPr>
        <p:spPr>
          <a:xfrm>
            <a:off x="7086600" y="201168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7086600" y="2212848"/>
            <a:ext cx="4782312" cy="384048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7223760" y="2331720"/>
            <a:ext cx="450799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ARR $85.31M beat budget +$413.1K; MoM growth +2.2% reflects steady new business and expansion momentum.</a:t>
            </a:r>
            <a:endParaRPr lang="en-US" sz="850" dirty="0"/>
          </a:p>
        </p:txBody>
      </p:sp>
      <p:sp>
        <p:nvSpPr>
          <p:cNvPr id="129" name="Text 127"/>
          <p:cNvSpPr/>
          <p:nvPr/>
        </p:nvSpPr>
        <p:spPr>
          <a:xfrm>
            <a:off x="7223760" y="3063240"/>
            <a:ext cx="450799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Revenue $7.35M CM trails budget -4.8%; YTD $39.45M behind -$1.97M. Conversion of ending pipeline $8.27M critical for H2 ramp.</a:t>
            </a:r>
            <a:endParaRPr lang="en-US" sz="850" dirty="0"/>
          </a:p>
        </p:txBody>
      </p:sp>
      <p:sp>
        <p:nvSpPr>
          <p:cNvPr id="130" name="Text 128"/>
          <p:cNvSpPr/>
          <p:nvPr/>
        </p:nvSpPr>
        <p:spPr>
          <a:xfrm>
            <a:off x="7223760" y="3794760"/>
            <a:ext cx="450799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EBITDA $661.5K beat budget +$14.0K; YTD $3.87M ahead +$59.1K. Opex discipline (S&amp;M -5.7%, R&amp;D -5.7%) sustaining profitability.</a:t>
            </a:r>
            <a:endParaRPr lang="en-US" sz="850" dirty="0"/>
          </a:p>
        </p:txBody>
      </p:sp>
      <p:sp>
        <p:nvSpPr>
          <p:cNvPr id="131" name="Text 129"/>
          <p:cNvSpPr/>
          <p:nvPr/>
        </p:nvSpPr>
        <p:spPr>
          <a:xfrm>
            <a:off x="7223760" y="4526280"/>
            <a:ext cx="450799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Cash $30.00M vs budget $31.46M; YTD collections $55.66M support liquidity. H2 collections expected to moderate 40% vs Q1 average.</a:t>
            </a:r>
            <a:endParaRPr lang="en-US" sz="850" dirty="0"/>
          </a:p>
        </p:txBody>
      </p:sp>
      <p:sp>
        <p:nvSpPr>
          <p:cNvPr id="132" name="Text 130"/>
          <p:cNvSpPr/>
          <p:nvPr/>
        </p:nvSpPr>
        <p:spPr>
          <a:xfrm>
            <a:off x="7223760" y="5257800"/>
            <a:ext cx="450799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FY ARR outlook $90.29M vs $96.10M budget; pipeline coverage 3.0x. Prioritize enterprise conversion and channel reallocation to Outbound/Partner.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6446520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3/11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320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Analysis — June 2026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804672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ARR → components → Ending ARR ($M)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4617720"/>
            <a:ext cx="6035040" cy="9144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452628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$80M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20040" y="3703320"/>
            <a:ext cx="6035040" cy="9144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361188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$82M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0040" y="2788920"/>
            <a:ext cx="6035040" cy="9144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12" name="Text 10"/>
          <p:cNvSpPr/>
          <p:nvPr/>
        </p:nvSpPr>
        <p:spPr>
          <a:xfrm>
            <a:off x="0" y="269748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$84M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20040" y="1874520"/>
            <a:ext cx="6035040" cy="9144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14" name="Text 12"/>
          <p:cNvSpPr/>
          <p:nvPr/>
        </p:nvSpPr>
        <p:spPr>
          <a:xfrm>
            <a:off x="0" y="178308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$86M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0040" y="960120"/>
            <a:ext cx="6035040" cy="9144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86868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$88M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01091" y="3044952"/>
            <a:ext cx="500177" cy="1572768"/>
          </a:xfrm>
          <a:prstGeom prst="rect">
            <a:avLst/>
          </a:prstGeom>
          <a:solidFill>
            <a:srgbClr val="00D4AA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5371" y="2843784"/>
            <a:ext cx="59161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$83.44M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55371" y="4709160"/>
            <a:ext cx="59161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ARR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363370" y="2276856"/>
            <a:ext cx="500177" cy="768096"/>
          </a:xfrm>
          <a:prstGeom prst="rect">
            <a:avLst/>
          </a:prstGeom>
          <a:solidFill>
            <a:srgbClr val="166534"/>
          </a:solidFill>
          <a:ln w="6350">
            <a:solidFill>
              <a:srgbClr val="1665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17650" y="2075688"/>
            <a:ext cx="59161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+$1.68M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317650" y="4709160"/>
            <a:ext cx="59161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Business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225650" y="1874520"/>
            <a:ext cx="500177" cy="397764"/>
          </a:xfrm>
          <a:prstGeom prst="rect">
            <a:avLst/>
          </a:prstGeom>
          <a:solidFill>
            <a:srgbClr val="166534"/>
          </a:solidFill>
          <a:ln w="6350">
            <a:solidFill>
              <a:srgbClr val="1665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79930" y="1673352"/>
            <a:ext cx="59161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+$0.87M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179930" y="4709160"/>
            <a:ext cx="59161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087929" y="1810512"/>
            <a:ext cx="500177" cy="64008"/>
          </a:xfrm>
          <a:prstGeom prst="rect">
            <a:avLst/>
          </a:prstGeom>
          <a:solidFill>
            <a:srgbClr val="166534"/>
          </a:solidFill>
          <a:ln w="6350">
            <a:solidFill>
              <a:srgbClr val="16653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42209" y="1609344"/>
            <a:ext cx="59161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+$0.14M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042209" y="4709160"/>
            <a:ext cx="59161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Reactivation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949294" y="1952244"/>
            <a:ext cx="500177" cy="141732"/>
          </a:xfrm>
          <a:prstGeom prst="rect">
            <a:avLst/>
          </a:prstGeom>
          <a:solidFill>
            <a:srgbClr val="991B1B"/>
          </a:solidFill>
          <a:ln w="6350">
            <a:solidFill>
              <a:srgbClr val="991B1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03574" y="2130552"/>
            <a:ext cx="59161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-$0.31M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903574" y="4709160"/>
            <a:ext cx="59161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Contraction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811573" y="2189988"/>
            <a:ext cx="500177" cy="237744"/>
          </a:xfrm>
          <a:prstGeom prst="rect">
            <a:avLst/>
          </a:prstGeom>
          <a:solidFill>
            <a:srgbClr val="991B1B"/>
          </a:solidFill>
          <a:ln w="6350">
            <a:solidFill>
              <a:srgbClr val="991B1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65853" y="2464308"/>
            <a:ext cx="59161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-$0.52M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765853" y="4709160"/>
            <a:ext cx="59161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5673852" y="2189988"/>
            <a:ext cx="500177" cy="2427732"/>
          </a:xfrm>
          <a:prstGeom prst="rect">
            <a:avLst/>
          </a:prstGeom>
          <a:solidFill>
            <a:srgbClr val="00D4AA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28132" y="1988820"/>
            <a:ext cx="59161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$85.31M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628132" y="4709160"/>
            <a:ext cx="59161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ARR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6492240" y="960120"/>
            <a:ext cx="27432" cy="27432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39" name="Shape 37"/>
          <p:cNvSpPr/>
          <p:nvPr/>
        </p:nvSpPr>
        <p:spPr>
          <a:xfrm>
            <a:off x="6446520" y="960120"/>
            <a:ext cx="27432" cy="384048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40" name="Text 38"/>
          <p:cNvSpPr/>
          <p:nvPr/>
        </p:nvSpPr>
        <p:spPr>
          <a:xfrm>
            <a:off x="6629400" y="960120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KPIS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629400" y="1170432"/>
            <a:ext cx="2560320" cy="896112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20840" y="1243584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ARR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720840" y="140817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$85.31M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720840" y="179222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bud $84.89M  +$413.1K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9326880" y="1170432"/>
            <a:ext cx="2560320" cy="896112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418320" y="1243584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NEW ARR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9418320" y="140817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$1.68M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9418320" y="179222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bud $1.77M  -$84.2K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629400" y="2157984"/>
            <a:ext cx="2560320" cy="896112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20840" y="2231136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G$R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720840" y="23957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6720840" y="2779776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Retention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9326880" y="2157984"/>
            <a:ext cx="2560320" cy="896112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418320" y="2231136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COVERAGE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9418320" y="23957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3.0x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9418320" y="2779776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ending ARR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629400" y="3218688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BRIDGE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629400" y="3401568"/>
            <a:ext cx="1371600" cy="201168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75120" y="3401568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8001000" y="3401568"/>
            <a:ext cx="914400" cy="201168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046720" y="340156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8915400" y="3401568"/>
            <a:ext cx="914400" cy="201168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961120" y="340156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9829800" y="3401568"/>
            <a:ext cx="914400" cy="201168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875520" y="340156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6629400" y="3602736"/>
            <a:ext cx="1371600" cy="201168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675120" y="3602736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ARR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8001000" y="3602736"/>
            <a:ext cx="914400" cy="201168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046720" y="3602736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$83.44M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8915400" y="3602736"/>
            <a:ext cx="914400" cy="201168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961120" y="3602736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$82.94M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9829800" y="3602736"/>
            <a:ext cx="914400" cy="201168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875520" y="3602736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+$506.2K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6629400" y="3803904"/>
            <a:ext cx="1371600" cy="201168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675120" y="3803904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Business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8001000" y="3803904"/>
            <a:ext cx="914400" cy="201168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046720" y="3803904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$1.68M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8915400" y="3803904"/>
            <a:ext cx="914400" cy="201168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961120" y="3803904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$1.77M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9829800" y="3803904"/>
            <a:ext cx="914400" cy="201168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875520" y="3803904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-$84.2K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6629400" y="4005072"/>
            <a:ext cx="1371600" cy="201168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675120" y="400507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8001000" y="4005072"/>
            <a:ext cx="914400" cy="201168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046720" y="4005072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$869.1K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8915400" y="4005072"/>
            <a:ext cx="914400" cy="201168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961120" y="4005072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$912.6K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9829800" y="4005072"/>
            <a:ext cx="914400" cy="201168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875520" y="4005072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-$43.5K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6629400" y="4206240"/>
            <a:ext cx="1371600" cy="201168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675120" y="4206240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Reactivation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8001000" y="4206240"/>
            <a:ext cx="914400" cy="201168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046720" y="4206240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$142.9K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8915400" y="4206240"/>
            <a:ext cx="914400" cy="201168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961120" y="4206240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$150.0K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9829800" y="4206240"/>
            <a:ext cx="914400" cy="201168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875520" y="4206240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-$7.1K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6629400" y="4407408"/>
            <a:ext cx="1371600" cy="201168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675120" y="4407408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Contraction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8001000" y="4407408"/>
            <a:ext cx="914400" cy="201168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046720" y="440740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$313.7K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8915400" y="4407408"/>
            <a:ext cx="914400" cy="201168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961120" y="440740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$329.3K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9829800" y="4407408"/>
            <a:ext cx="914400" cy="201168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875520" y="440740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-$15.7K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6629400" y="4608576"/>
            <a:ext cx="1371600" cy="201168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675120" y="4608576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8001000" y="4608576"/>
            <a:ext cx="914400" cy="201168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046720" y="4608576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$520.2K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8915400" y="4608576"/>
            <a:ext cx="914400" cy="201168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8961120" y="4608576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$546.2K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9829800" y="4608576"/>
            <a:ext cx="914400" cy="201168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9875520" y="4608576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-$26.0K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6629400" y="4809744"/>
            <a:ext cx="1371600" cy="201168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675120" y="4809744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ARR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8001000" y="4809744"/>
            <a:ext cx="914400" cy="201168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8046720" y="4809744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$85.31M</a:t>
            </a:r>
            <a:endParaRPr lang="en-US" sz="750" dirty="0"/>
          </a:p>
        </p:txBody>
      </p:sp>
      <p:sp>
        <p:nvSpPr>
          <p:cNvPr id="118" name="Shape 116"/>
          <p:cNvSpPr/>
          <p:nvPr/>
        </p:nvSpPr>
        <p:spPr>
          <a:xfrm>
            <a:off x="8915400" y="4809744"/>
            <a:ext cx="914400" cy="201168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8961120" y="4809744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$84.89M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9829800" y="4809744"/>
            <a:ext cx="914400" cy="201168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9875520" y="4809744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+$413.1K</a:t>
            </a:r>
            <a:endParaRPr lang="en-US" sz="750" dirty="0"/>
          </a:p>
        </p:txBody>
      </p:sp>
      <p:sp>
        <p:nvSpPr>
          <p:cNvPr id="122" name="Shape 120"/>
          <p:cNvSpPr/>
          <p:nvPr/>
        </p:nvSpPr>
        <p:spPr>
          <a:xfrm>
            <a:off x="320040" y="5010912"/>
            <a:ext cx="11548872" cy="27432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123" name="Text 121"/>
          <p:cNvSpPr/>
          <p:nvPr/>
        </p:nvSpPr>
        <p:spPr>
          <a:xfrm>
            <a:off x="320040" y="5074920"/>
            <a:ext cx="11548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320040" y="5257800"/>
            <a:ext cx="11548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Ending ARR $85.31M beat budget +$413.1K; MoM growth +2.2% from $83.44M in May driven by new business and expansion.</a:t>
            </a:r>
            <a:endParaRPr lang="en-US" sz="900" dirty="0"/>
          </a:p>
        </p:txBody>
      </p:sp>
      <p:sp>
        <p:nvSpPr>
          <p:cNvPr id="125" name="Text 123"/>
          <p:cNvSpPr/>
          <p:nvPr/>
        </p:nvSpPr>
        <p:spPr>
          <a:xfrm>
            <a:off x="320040" y="5513832"/>
            <a:ext cx="11548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New Business $1.68M slightly below $1.77M budget; expansion $869.1K vs $912.6K budget reflects timing in enterprise segment.</a:t>
            </a:r>
            <a:endParaRPr lang="en-US" sz="900" dirty="0"/>
          </a:p>
        </p:txBody>
      </p:sp>
      <p:sp>
        <p:nvSpPr>
          <p:cNvPr id="126" name="Text 124"/>
          <p:cNvSpPr/>
          <p:nvPr/>
        </p:nvSpPr>
        <p:spPr>
          <a:xfrm>
            <a:off x="320040" y="5769864"/>
            <a:ext cx="11548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Churn $520.2K and contraction $313.7K both below budget — retention tracking favorably with G$R 99.4% and N$R 100%+.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320040" y="6025896"/>
            <a:ext cx="11548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FY ARR outlook $90.29M vs $96.10M budget; H2 ramp requires pipeline acceleration and enterprise close velocity improvement.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6446520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4/11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320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Review — June 2026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2834640" cy="896112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41832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(CM)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110642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$7.35M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49047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bud $7.72M  -4.8%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18688" y="868680"/>
            <a:ext cx="2834640" cy="896112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941832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%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310128" y="110642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10128" y="149047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bud 70.0%  on target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117336" y="868680"/>
            <a:ext cx="2834640" cy="896112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08776" y="941832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(CM)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08776" y="110642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$661.5K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08776" y="149047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bud $647.5K  +2.2%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9015984" y="868680"/>
            <a:ext cx="2834640" cy="896112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07424" y="941832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 (CM)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107424" y="110642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$409.0K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107424" y="149047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bud $393.4K  +4.0%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1828800"/>
            <a:ext cx="11548872" cy="27432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23" name="Shape 21"/>
          <p:cNvSpPr/>
          <p:nvPr/>
        </p:nvSpPr>
        <p:spPr>
          <a:xfrm>
            <a:off x="320040" y="1920240"/>
            <a:ext cx="141732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9202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Item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737360" y="1920240"/>
            <a:ext cx="8686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83080" y="19202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Actual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606040" y="1920240"/>
            <a:ext cx="8686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51760" y="19202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Budget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474720" y="1920240"/>
            <a:ext cx="8686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20440" y="19202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Variance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343400" y="1920240"/>
            <a:ext cx="8686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0" y="19202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Actual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212080" y="1920240"/>
            <a:ext cx="8686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57800" y="19202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Budget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080760" y="1920240"/>
            <a:ext cx="8686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19202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Variance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2176272"/>
            <a:ext cx="141732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21762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737360" y="2176272"/>
            <a:ext cx="86868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83080" y="217627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$7.35M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606040" y="2176272"/>
            <a:ext cx="86868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51760" y="217627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$7.72M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474720" y="2176272"/>
            <a:ext cx="86868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20440" y="217627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-$367.5K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343400" y="2176272"/>
            <a:ext cx="86868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89120" y="217627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$39.45M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212080" y="2176272"/>
            <a:ext cx="86868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7800" y="217627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$41.42M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080760" y="2176272"/>
            <a:ext cx="86868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26480" y="217627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-$1.97M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20040" y="2432304"/>
            <a:ext cx="141732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243230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737360" y="2432304"/>
            <a:ext cx="8686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783080" y="24323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$2.20M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606040" y="2432304"/>
            <a:ext cx="8686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651760" y="24323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$2.32M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474720" y="2432304"/>
            <a:ext cx="8686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520440" y="24323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-$110.2K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343400" y="2432304"/>
            <a:ext cx="8686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389120" y="24323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$11.51M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212080" y="2432304"/>
            <a:ext cx="8686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257800" y="24323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$12.09M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080760" y="2432304"/>
            <a:ext cx="8686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26480" y="243230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-$575.7K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320040" y="2688336"/>
            <a:ext cx="141732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65760" y="26883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1737360" y="2688336"/>
            <a:ext cx="86868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783080" y="268833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$5.14M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2606040" y="2688336"/>
            <a:ext cx="86868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651760" y="268833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$5.40M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3474720" y="2688336"/>
            <a:ext cx="86868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520440" y="268833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-$257.2K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343400" y="2688336"/>
            <a:ext cx="86868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389120" y="268833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$27.94M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5212080" y="2688336"/>
            <a:ext cx="86868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257800" y="268833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$29.33M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6080760" y="2688336"/>
            <a:ext cx="86868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126480" y="268833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-$1.40M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320040" y="2944368"/>
            <a:ext cx="141732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65760" y="29443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%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1737360" y="2944368"/>
            <a:ext cx="8686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783080" y="29443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70.0%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2606040" y="2944368"/>
            <a:ext cx="8686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651760" y="29443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70.0%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3474720" y="2944368"/>
            <a:ext cx="8686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520440" y="29443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4343400" y="2944368"/>
            <a:ext cx="8686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389120" y="29443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70.8%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5212080" y="2944368"/>
            <a:ext cx="8686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257800" y="29443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70.8%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6080760" y="2944368"/>
            <a:ext cx="8686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126480" y="29443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320040" y="3200400"/>
            <a:ext cx="141732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65760" y="32004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S&amp;M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1737360" y="3200400"/>
            <a:ext cx="86868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783080" y="32004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$2.50M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2606040" y="3200400"/>
            <a:ext cx="86868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651760" y="32004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$2.65M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3474720" y="3200400"/>
            <a:ext cx="86868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520440" y="32004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-$151.2K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4343400" y="3200400"/>
            <a:ext cx="86868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389120" y="32004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$13.41M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5212080" y="3200400"/>
            <a:ext cx="86868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257800" y="32004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$14.22M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6080760" y="3200400"/>
            <a:ext cx="86868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126480" y="320040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-$811.5K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320040" y="3456432"/>
            <a:ext cx="141732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65760" y="34564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1737360" y="3456432"/>
            <a:ext cx="8686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1783080" y="34564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$1.18M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2606040" y="3456432"/>
            <a:ext cx="8686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651760" y="34564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$1.25M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3474720" y="3456432"/>
            <a:ext cx="8686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3520440" y="34564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-$71.1K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4343400" y="3456432"/>
            <a:ext cx="8686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389120" y="34564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$6.31M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5212080" y="3456432"/>
            <a:ext cx="8686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257800" y="34564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$6.69M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6080760" y="3456432"/>
            <a:ext cx="8686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6126480" y="34564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-$381.9K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320040" y="3712464"/>
            <a:ext cx="141732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365760" y="371246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G&amp;A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1737360" y="3712464"/>
            <a:ext cx="86868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783080" y="371246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$808.5K</a:t>
            </a:r>
            <a:endParaRPr lang="en-US" sz="850" dirty="0"/>
          </a:p>
        </p:txBody>
      </p:sp>
      <p:sp>
        <p:nvSpPr>
          <p:cNvPr id="125" name="Shape 123"/>
          <p:cNvSpPr/>
          <p:nvPr/>
        </p:nvSpPr>
        <p:spPr>
          <a:xfrm>
            <a:off x="2606040" y="3712464"/>
            <a:ext cx="86868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2651760" y="371246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$857.4K</a:t>
            </a:r>
            <a:endParaRPr lang="en-US" sz="850" dirty="0"/>
          </a:p>
        </p:txBody>
      </p:sp>
      <p:sp>
        <p:nvSpPr>
          <p:cNvPr id="127" name="Shape 125"/>
          <p:cNvSpPr/>
          <p:nvPr/>
        </p:nvSpPr>
        <p:spPr>
          <a:xfrm>
            <a:off x="3474720" y="3712464"/>
            <a:ext cx="86868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3520440" y="371246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-$48.9K</a:t>
            </a:r>
            <a:endParaRPr lang="en-US" sz="850" dirty="0"/>
          </a:p>
        </p:txBody>
      </p:sp>
      <p:sp>
        <p:nvSpPr>
          <p:cNvPr id="129" name="Shape 127"/>
          <p:cNvSpPr/>
          <p:nvPr/>
        </p:nvSpPr>
        <p:spPr>
          <a:xfrm>
            <a:off x="4343400" y="3712464"/>
            <a:ext cx="86868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4389120" y="371246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$4.34M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5212080" y="3712464"/>
            <a:ext cx="86868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5257800" y="371246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$4.60M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6080760" y="3712464"/>
            <a:ext cx="86868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6126480" y="371246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-$262.5K</a:t>
            </a:r>
            <a:endParaRPr lang="en-US" sz="850" dirty="0"/>
          </a:p>
        </p:txBody>
      </p:sp>
      <p:sp>
        <p:nvSpPr>
          <p:cNvPr id="135" name="Shape 133"/>
          <p:cNvSpPr/>
          <p:nvPr/>
        </p:nvSpPr>
        <p:spPr>
          <a:xfrm>
            <a:off x="320040" y="3968496"/>
            <a:ext cx="141732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365760" y="39684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850" dirty="0"/>
          </a:p>
        </p:txBody>
      </p:sp>
      <p:sp>
        <p:nvSpPr>
          <p:cNvPr id="137" name="Shape 135"/>
          <p:cNvSpPr/>
          <p:nvPr/>
        </p:nvSpPr>
        <p:spPr>
          <a:xfrm>
            <a:off x="1737360" y="3968496"/>
            <a:ext cx="8686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1783080" y="396849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$661.5K</a:t>
            </a:r>
            <a:endParaRPr lang="en-US" sz="850" dirty="0"/>
          </a:p>
        </p:txBody>
      </p:sp>
      <p:sp>
        <p:nvSpPr>
          <p:cNvPr id="139" name="Shape 137"/>
          <p:cNvSpPr/>
          <p:nvPr/>
        </p:nvSpPr>
        <p:spPr>
          <a:xfrm>
            <a:off x="2606040" y="3968496"/>
            <a:ext cx="8686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2651760" y="396849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$647.5K</a:t>
            </a:r>
            <a:endParaRPr lang="en-US" sz="850" dirty="0"/>
          </a:p>
        </p:txBody>
      </p:sp>
      <p:sp>
        <p:nvSpPr>
          <p:cNvPr id="141" name="Shape 139"/>
          <p:cNvSpPr/>
          <p:nvPr/>
        </p:nvSpPr>
        <p:spPr>
          <a:xfrm>
            <a:off x="3474720" y="3968496"/>
            <a:ext cx="8686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3520440" y="396849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+$14.0K</a:t>
            </a:r>
            <a:endParaRPr lang="en-US" sz="850" dirty="0"/>
          </a:p>
        </p:txBody>
      </p:sp>
      <p:sp>
        <p:nvSpPr>
          <p:cNvPr id="143" name="Shape 141"/>
          <p:cNvSpPr/>
          <p:nvPr/>
        </p:nvSpPr>
        <p:spPr>
          <a:xfrm>
            <a:off x="4343400" y="3968496"/>
            <a:ext cx="8686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4389120" y="396849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$3.87M</a:t>
            </a:r>
            <a:endParaRPr lang="en-US" sz="850" dirty="0"/>
          </a:p>
        </p:txBody>
      </p:sp>
      <p:sp>
        <p:nvSpPr>
          <p:cNvPr id="145" name="Shape 143"/>
          <p:cNvSpPr/>
          <p:nvPr/>
        </p:nvSpPr>
        <p:spPr>
          <a:xfrm>
            <a:off x="5212080" y="3968496"/>
            <a:ext cx="8686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5257800" y="396849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$3.81M</a:t>
            </a:r>
            <a:endParaRPr lang="en-US" sz="850" dirty="0"/>
          </a:p>
        </p:txBody>
      </p:sp>
      <p:sp>
        <p:nvSpPr>
          <p:cNvPr id="147" name="Shape 145"/>
          <p:cNvSpPr/>
          <p:nvPr/>
        </p:nvSpPr>
        <p:spPr>
          <a:xfrm>
            <a:off x="6080760" y="3968496"/>
            <a:ext cx="8686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6126480" y="396849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+$59.1K</a:t>
            </a:r>
            <a:endParaRPr lang="en-US" sz="850" dirty="0"/>
          </a:p>
        </p:txBody>
      </p:sp>
      <p:sp>
        <p:nvSpPr>
          <p:cNvPr id="149" name="Shape 147"/>
          <p:cNvSpPr/>
          <p:nvPr/>
        </p:nvSpPr>
        <p:spPr>
          <a:xfrm>
            <a:off x="320040" y="4224528"/>
            <a:ext cx="141732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365760" y="42245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D&amp;A</a:t>
            </a:r>
            <a:endParaRPr lang="en-US" sz="850" dirty="0"/>
          </a:p>
        </p:txBody>
      </p:sp>
      <p:sp>
        <p:nvSpPr>
          <p:cNvPr id="151" name="Shape 149"/>
          <p:cNvSpPr/>
          <p:nvPr/>
        </p:nvSpPr>
        <p:spPr>
          <a:xfrm>
            <a:off x="1737360" y="4224528"/>
            <a:ext cx="86868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1783080" y="42245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$110.2K</a:t>
            </a:r>
            <a:endParaRPr lang="en-US" sz="850" dirty="0"/>
          </a:p>
        </p:txBody>
      </p:sp>
      <p:sp>
        <p:nvSpPr>
          <p:cNvPr id="153" name="Shape 151"/>
          <p:cNvSpPr/>
          <p:nvPr/>
        </p:nvSpPr>
        <p:spPr>
          <a:xfrm>
            <a:off x="2606040" y="4224528"/>
            <a:ext cx="86868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2651760" y="42245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$115.8K</a:t>
            </a:r>
            <a:endParaRPr lang="en-US" sz="850" dirty="0"/>
          </a:p>
        </p:txBody>
      </p:sp>
      <p:sp>
        <p:nvSpPr>
          <p:cNvPr id="155" name="Shape 153"/>
          <p:cNvSpPr/>
          <p:nvPr/>
        </p:nvSpPr>
        <p:spPr>
          <a:xfrm>
            <a:off x="3474720" y="4224528"/>
            <a:ext cx="86868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3520440" y="42245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-$5.5K</a:t>
            </a:r>
            <a:endParaRPr lang="en-US" sz="850" dirty="0"/>
          </a:p>
        </p:txBody>
      </p:sp>
      <p:sp>
        <p:nvSpPr>
          <p:cNvPr id="157" name="Shape 155"/>
          <p:cNvSpPr/>
          <p:nvPr/>
        </p:nvSpPr>
        <p:spPr>
          <a:xfrm>
            <a:off x="4343400" y="4224528"/>
            <a:ext cx="86868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4389120" y="42245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$591.8K</a:t>
            </a:r>
            <a:endParaRPr lang="en-US" sz="850" dirty="0"/>
          </a:p>
        </p:txBody>
      </p:sp>
      <p:sp>
        <p:nvSpPr>
          <p:cNvPr id="159" name="Shape 157"/>
          <p:cNvSpPr/>
          <p:nvPr/>
        </p:nvSpPr>
        <p:spPr>
          <a:xfrm>
            <a:off x="5212080" y="4224528"/>
            <a:ext cx="86868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5257800" y="42245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$621.3K</a:t>
            </a:r>
            <a:endParaRPr lang="en-US" sz="850" dirty="0"/>
          </a:p>
        </p:txBody>
      </p:sp>
      <p:sp>
        <p:nvSpPr>
          <p:cNvPr id="161" name="Shape 159"/>
          <p:cNvSpPr/>
          <p:nvPr/>
        </p:nvSpPr>
        <p:spPr>
          <a:xfrm>
            <a:off x="6080760" y="4224528"/>
            <a:ext cx="86868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6126480" y="42245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-$29.6K</a:t>
            </a:r>
            <a:endParaRPr lang="en-US" sz="850" dirty="0"/>
          </a:p>
        </p:txBody>
      </p:sp>
      <p:sp>
        <p:nvSpPr>
          <p:cNvPr id="163" name="Shape 161"/>
          <p:cNvSpPr/>
          <p:nvPr/>
        </p:nvSpPr>
        <p:spPr>
          <a:xfrm>
            <a:off x="320040" y="4480560"/>
            <a:ext cx="141732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365760" y="44805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</a:t>
            </a:r>
            <a:endParaRPr lang="en-US" sz="850" dirty="0"/>
          </a:p>
        </p:txBody>
      </p:sp>
      <p:sp>
        <p:nvSpPr>
          <p:cNvPr id="165" name="Shape 163"/>
          <p:cNvSpPr/>
          <p:nvPr/>
        </p:nvSpPr>
        <p:spPr>
          <a:xfrm>
            <a:off x="1737360" y="4480560"/>
            <a:ext cx="8686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1783080" y="448056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$409.0K</a:t>
            </a:r>
            <a:endParaRPr lang="en-US" sz="850" dirty="0"/>
          </a:p>
        </p:txBody>
      </p:sp>
      <p:sp>
        <p:nvSpPr>
          <p:cNvPr id="167" name="Shape 165"/>
          <p:cNvSpPr/>
          <p:nvPr/>
        </p:nvSpPr>
        <p:spPr>
          <a:xfrm>
            <a:off x="2606040" y="4480560"/>
            <a:ext cx="8686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2651760" y="448056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$393.4K</a:t>
            </a:r>
            <a:endParaRPr lang="en-US" sz="850" dirty="0"/>
          </a:p>
        </p:txBody>
      </p:sp>
      <p:sp>
        <p:nvSpPr>
          <p:cNvPr id="169" name="Shape 167"/>
          <p:cNvSpPr/>
          <p:nvPr/>
        </p:nvSpPr>
        <p:spPr>
          <a:xfrm>
            <a:off x="3474720" y="4480560"/>
            <a:ext cx="8686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3520440" y="448056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+$15.6K</a:t>
            </a:r>
            <a:endParaRPr lang="en-US" sz="850" dirty="0"/>
          </a:p>
        </p:txBody>
      </p:sp>
      <p:sp>
        <p:nvSpPr>
          <p:cNvPr id="171" name="Shape 169"/>
          <p:cNvSpPr/>
          <p:nvPr/>
        </p:nvSpPr>
        <p:spPr>
          <a:xfrm>
            <a:off x="4343400" y="4480560"/>
            <a:ext cx="8686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4389120" y="448056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$2.43M</a:t>
            </a:r>
            <a:endParaRPr lang="en-US" sz="850" dirty="0"/>
          </a:p>
        </p:txBody>
      </p:sp>
      <p:sp>
        <p:nvSpPr>
          <p:cNvPr id="173" name="Shape 171"/>
          <p:cNvSpPr/>
          <p:nvPr/>
        </p:nvSpPr>
        <p:spPr>
          <a:xfrm>
            <a:off x="5212080" y="4480560"/>
            <a:ext cx="8686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5257800" y="448056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$2.36M</a:t>
            </a:r>
            <a:endParaRPr lang="en-US" sz="850" dirty="0"/>
          </a:p>
        </p:txBody>
      </p:sp>
      <p:sp>
        <p:nvSpPr>
          <p:cNvPr id="175" name="Shape 173"/>
          <p:cNvSpPr/>
          <p:nvPr/>
        </p:nvSpPr>
        <p:spPr>
          <a:xfrm>
            <a:off x="6080760" y="4480560"/>
            <a:ext cx="8686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6126480" y="448056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+$71.0K</a:t>
            </a:r>
            <a:endParaRPr lang="en-US" sz="850" dirty="0"/>
          </a:p>
        </p:txBody>
      </p:sp>
      <p:sp>
        <p:nvSpPr>
          <p:cNvPr id="177" name="Text 175"/>
          <p:cNvSpPr/>
          <p:nvPr/>
        </p:nvSpPr>
        <p:spPr>
          <a:xfrm>
            <a:off x="7315200" y="19202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178" name="Shape 176"/>
          <p:cNvSpPr/>
          <p:nvPr/>
        </p:nvSpPr>
        <p:spPr>
          <a:xfrm>
            <a:off x="7315200" y="2121408"/>
            <a:ext cx="4572000" cy="411480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7452360" y="2240280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Revenue $7.35M CM trails budget -4.8%; YTD $39.45M behind -$1.97M. Expansion timing and new logo conversion critical for H2 close.</a:t>
            </a:r>
            <a:endParaRPr lang="en-US" sz="850" dirty="0"/>
          </a:p>
        </p:txBody>
      </p:sp>
      <p:sp>
        <p:nvSpPr>
          <p:cNvPr id="180" name="Text 178"/>
          <p:cNvSpPr/>
          <p:nvPr/>
        </p:nvSpPr>
        <p:spPr>
          <a:xfrm>
            <a:off x="7452360" y="2990088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Gross margin held at 70.0% CM and 70.8% YTD — in line with budget on both horizons; COGS discipline intact.</a:t>
            </a:r>
            <a:endParaRPr lang="en-US" sz="850" dirty="0"/>
          </a:p>
        </p:txBody>
      </p:sp>
      <p:sp>
        <p:nvSpPr>
          <p:cNvPr id="181" name="Text 179"/>
          <p:cNvSpPr/>
          <p:nvPr/>
        </p:nvSpPr>
        <p:spPr>
          <a:xfrm>
            <a:off x="7452360" y="3739896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EBITDA $661.5K beat budget +$14.0K; YTD $3.87M ahead +$59.1K. S&amp;M and R&amp;D both -5.7% vs budget reflecting opex leverage.</a:t>
            </a:r>
            <a:endParaRPr lang="en-US" sz="850" dirty="0"/>
          </a:p>
        </p:txBody>
      </p:sp>
      <p:sp>
        <p:nvSpPr>
          <p:cNvPr id="182" name="Text 180"/>
          <p:cNvSpPr/>
          <p:nvPr/>
        </p:nvSpPr>
        <p:spPr>
          <a:xfrm>
            <a:off x="7452360" y="4489704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Net income $409.0K CM, +4.0% vs budget; YTD $2.43M ahead +$71.0K — profitability trajectory remains intact despite revenue headwind.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7452360" y="5239512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Board action: validate P&amp;L tie-out and approve H2 revenue acceleration plan with enterprise focus and channel reallocation.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6446520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5/11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320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&amp; LIQUIDITY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&amp; Liquidity — June 2026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8961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CASH BRIDGE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1828800" cy="274320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789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Item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148840" y="1078992"/>
            <a:ext cx="914400" cy="274320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107899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063240" y="1078992"/>
            <a:ext cx="914400" cy="274320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07899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1353312"/>
            <a:ext cx="1828800" cy="274320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35331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Cash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148840" y="1353312"/>
            <a:ext cx="914400" cy="274320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94560" y="135331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$29.50M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063240" y="1353312"/>
            <a:ext cx="914400" cy="274320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0" y="135331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$29.60M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1627632"/>
            <a:ext cx="1828800" cy="274320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162763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148840" y="1627632"/>
            <a:ext cx="914400" cy="274320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94560" y="162763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$7.13M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063240" y="1627632"/>
            <a:ext cx="914400" cy="274320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08960" y="162763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$8.91M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1901952"/>
            <a:ext cx="1828800" cy="274320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190195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148840" y="1901952"/>
            <a:ext cx="914400" cy="274320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94560" y="190195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$2.47M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063240" y="1901952"/>
            <a:ext cx="914400" cy="274320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0" y="190195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$4.00M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2176272"/>
            <a:ext cx="1828800" cy="274320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17627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Payments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148840" y="2176272"/>
            <a:ext cx="914400" cy="274320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94560" y="217627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$3.66M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063240" y="2176272"/>
            <a:ext cx="914400" cy="274320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08960" y="217627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$1.40M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2450592"/>
            <a:ext cx="1828800" cy="274320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24505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148840" y="2450592"/>
            <a:ext cx="914400" cy="274320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94560" y="245059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$199.9K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063240" y="2450592"/>
            <a:ext cx="914400" cy="274320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08960" y="245059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$370.8K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20040" y="2724912"/>
            <a:ext cx="1828800" cy="274320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272491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148840" y="2724912"/>
            <a:ext cx="914400" cy="274320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194560" y="272491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$147.0K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063240" y="2724912"/>
            <a:ext cx="914400" cy="274320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08960" y="272491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$220.0K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20040" y="2999232"/>
            <a:ext cx="1828800" cy="274320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299923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Cash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148840" y="2999232"/>
            <a:ext cx="914400" cy="274320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194560" y="299923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$30.00M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063240" y="2999232"/>
            <a:ext cx="914400" cy="274320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108960" y="299923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$31.46M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20040" y="370332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CASH SUMMARY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20040" y="3886200"/>
            <a:ext cx="3840480" cy="123444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1480" y="39593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Collections: $55.66M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11480" y="42336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Ending Cash: $30.00M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11480" y="45079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Ending Cash Budget: $31.46M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389120" y="89611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389120" y="1097280"/>
            <a:ext cx="7479792" cy="425196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26280" y="1216152"/>
            <a:ext cx="72054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Ending cash $30.00M vs budget $31.46M; collections $7.13M below budget $8.91M reflect timing of annual billing concentration.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526280" y="2020824"/>
            <a:ext cx="72054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YTD collections $55.66M support strong liquidity; cash headroom $20.00M above $10.00M floor provides strategic flexibility.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4526280" y="2825496"/>
            <a:ext cx="72054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Payroll $2.47M vs budget $4.00M; vendor payments $3.66M above budget $1.40M. Timing variance expected to normalize in H2.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4526280" y="3630168"/>
            <a:ext cx="72054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FY cash outlook $32.02M vs $23.85M budget; +34.3% upside enables strategic investment. H2 collections expected to moderate 40% vs Q1 average.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4526280" y="4434840"/>
            <a:ext cx="72054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Board action: confirm ending cash ties to balance sheet; update H2 collections model for annual billing concentration and deploy excess strategically.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6446520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6/11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320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PERFORMANCE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Performance — June 2026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89611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FUNNEL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164592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7899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65960" y="1078992"/>
            <a:ext cx="10972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1078992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063240" y="1078992"/>
            <a:ext cx="10972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078992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60520" y="1078992"/>
            <a:ext cx="10972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1078992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1335024"/>
            <a:ext cx="164592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33502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MQLs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965960" y="1335024"/>
            <a:ext cx="109728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0" y="133502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423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063240" y="1335024"/>
            <a:ext cx="109728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133502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60520" y="1335024"/>
            <a:ext cx="109728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0" y="133502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+272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1591056"/>
            <a:ext cx="164592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59105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965960" y="1591056"/>
            <a:ext cx="10972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11680" y="1591056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063240" y="1591056"/>
            <a:ext cx="10972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08960" y="1591056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60520" y="1591056"/>
            <a:ext cx="10972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0" y="1591056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1847088"/>
            <a:ext cx="164592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184708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965960" y="1847088"/>
            <a:ext cx="109728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11680" y="1847088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063240" y="1847088"/>
            <a:ext cx="109728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08960" y="1847088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160520" y="1847088"/>
            <a:ext cx="109728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06240" y="1847088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0040" y="2103120"/>
            <a:ext cx="164592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2103120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Opps Created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965960" y="2103120"/>
            <a:ext cx="10972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11680" y="210312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063240" y="2103120"/>
            <a:ext cx="10972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08960" y="210312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160520" y="2103120"/>
            <a:ext cx="10972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06240" y="210312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20040" y="2359152"/>
            <a:ext cx="164592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2359152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Created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965960" y="2359152"/>
            <a:ext cx="109728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11680" y="2359152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$9.19M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063240" y="2359152"/>
            <a:ext cx="109728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08960" y="2359152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$10.32M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160520" y="2359152"/>
            <a:ext cx="109728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206240" y="2359152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-$1.13M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20040" y="2615184"/>
            <a:ext cx="164592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261518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Won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965960" y="2615184"/>
            <a:ext cx="10972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011680" y="261518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$3.53M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063240" y="2615184"/>
            <a:ext cx="10972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108960" y="261518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160520" y="2615184"/>
            <a:ext cx="10972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206240" y="261518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320040" y="274320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EFFICIENCY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20040" y="2926080"/>
            <a:ext cx="1371600" cy="237744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56616" y="2926080"/>
            <a:ext cx="1335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1691640" y="2926080"/>
            <a:ext cx="822960" cy="237744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728216" y="2926080"/>
            <a:ext cx="786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514600" y="2926080"/>
            <a:ext cx="914400" cy="237744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551176" y="2926080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429000" y="2926080"/>
            <a:ext cx="914400" cy="237744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465576" y="2926080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343400" y="2926080"/>
            <a:ext cx="822960" cy="237744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379976" y="2926080"/>
            <a:ext cx="786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320040" y="3163824"/>
            <a:ext cx="1371600" cy="237744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56616" y="3163824"/>
            <a:ext cx="1335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1691640" y="3163824"/>
            <a:ext cx="822960" cy="237744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728216" y="3163824"/>
            <a:ext cx="786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$85K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2514600" y="3163824"/>
            <a:ext cx="914400" cy="237744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551176" y="3163824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$470K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3429000" y="3163824"/>
            <a:ext cx="914400" cy="237744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465576" y="3163824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5.5x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343400" y="3163824"/>
            <a:ext cx="822960" cy="237744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379976" y="3163824"/>
            <a:ext cx="786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30.0%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320040" y="3401568"/>
            <a:ext cx="1371600" cy="237744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56616" y="3401568"/>
            <a:ext cx="1335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Social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1691640" y="3401568"/>
            <a:ext cx="822960" cy="237744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728216" y="3401568"/>
            <a:ext cx="786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$59K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2514600" y="3401568"/>
            <a:ext cx="914400" cy="237744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551176" y="3401568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$323K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3429000" y="3401568"/>
            <a:ext cx="914400" cy="237744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465576" y="3401568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5.5x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4343400" y="3401568"/>
            <a:ext cx="822960" cy="237744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379976" y="3401568"/>
            <a:ext cx="786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30.0%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320040" y="3639312"/>
            <a:ext cx="1371600" cy="237744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56616" y="3639312"/>
            <a:ext cx="1335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Search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1691640" y="3639312"/>
            <a:ext cx="822960" cy="237744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728216" y="3639312"/>
            <a:ext cx="786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$53K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2514600" y="3639312"/>
            <a:ext cx="914400" cy="237744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551176" y="3639312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$294K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3429000" y="3639312"/>
            <a:ext cx="914400" cy="237744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465576" y="3639312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5.5x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4343400" y="3639312"/>
            <a:ext cx="822960" cy="237744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379976" y="3639312"/>
            <a:ext cx="786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30.0%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320040" y="3877056"/>
            <a:ext cx="1371600" cy="237744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56616" y="3877056"/>
            <a:ext cx="1335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1691640" y="3877056"/>
            <a:ext cx="822960" cy="237744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728216" y="3877056"/>
            <a:ext cx="786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$53K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2514600" y="3877056"/>
            <a:ext cx="914400" cy="237744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551176" y="3877056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$294K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3429000" y="3877056"/>
            <a:ext cx="914400" cy="237744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465576" y="3877056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5.5x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4343400" y="3877056"/>
            <a:ext cx="822960" cy="237744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379976" y="3877056"/>
            <a:ext cx="786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30.0%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320040" y="4114800"/>
            <a:ext cx="1371600" cy="237744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56616" y="4114800"/>
            <a:ext cx="1335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1691640" y="4114800"/>
            <a:ext cx="822960" cy="237744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728216" y="4114800"/>
            <a:ext cx="786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$48K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2514600" y="4114800"/>
            <a:ext cx="914400" cy="237744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2551176" y="4114800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$264K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3429000" y="4114800"/>
            <a:ext cx="914400" cy="237744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3465576" y="4114800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5.5x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4343400" y="4114800"/>
            <a:ext cx="822960" cy="237744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379976" y="4114800"/>
            <a:ext cx="786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30.0%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320040" y="4352544"/>
            <a:ext cx="1371600" cy="237744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356616" y="4352544"/>
            <a:ext cx="1335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1691640" y="4352544"/>
            <a:ext cx="822960" cy="237744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728216" y="4352544"/>
            <a:ext cx="786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$534K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2514600" y="4352544"/>
            <a:ext cx="914400" cy="237744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2551176" y="4352544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$2.94M</a:t>
            </a:r>
            <a:endParaRPr lang="en-US" sz="800" dirty="0"/>
          </a:p>
        </p:txBody>
      </p:sp>
      <p:sp>
        <p:nvSpPr>
          <p:cNvPr id="130" name="Shape 128"/>
          <p:cNvSpPr/>
          <p:nvPr/>
        </p:nvSpPr>
        <p:spPr>
          <a:xfrm>
            <a:off x="3429000" y="4352544"/>
            <a:ext cx="914400" cy="237744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3465576" y="4352544"/>
            <a:ext cx="8778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5.5x</a:t>
            </a:r>
            <a:endParaRPr lang="en-US" sz="800" dirty="0"/>
          </a:p>
        </p:txBody>
      </p:sp>
      <p:sp>
        <p:nvSpPr>
          <p:cNvPr id="132" name="Shape 130"/>
          <p:cNvSpPr/>
          <p:nvPr/>
        </p:nvSpPr>
        <p:spPr>
          <a:xfrm>
            <a:off x="4343400" y="4352544"/>
            <a:ext cx="822960" cy="237744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4379976" y="4352544"/>
            <a:ext cx="786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134" name="Text 132"/>
          <p:cNvSpPr/>
          <p:nvPr/>
        </p:nvSpPr>
        <p:spPr>
          <a:xfrm>
            <a:off x="5303520" y="896112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5303520" y="1097280"/>
            <a:ext cx="6565392" cy="5303520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5440680" y="1216152"/>
            <a:ext cx="6291072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MQLs 423 vs budget 151; +180% above plan reflects strong demand generation. SQL conversion 42% and SAL conversion 56% track favorably.</a:t>
            </a:r>
            <a:endParaRPr lang="en-US" sz="850" dirty="0"/>
          </a:p>
        </p:txBody>
      </p:sp>
      <p:sp>
        <p:nvSpPr>
          <p:cNvPr id="137" name="Text 135"/>
          <p:cNvSpPr/>
          <p:nvPr/>
        </p:nvSpPr>
        <p:spPr>
          <a:xfrm>
            <a:off x="5440680" y="2203704"/>
            <a:ext cx="6291072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Closed-lost $4.56M vs budget $4.85M; -5.9% variance. Run structured loss review to identify competitive/pricing pressure and deal quality issues.</a:t>
            </a:r>
            <a:endParaRPr lang="en-US" sz="850" dirty="0"/>
          </a:p>
        </p:txBody>
      </p:sp>
      <p:sp>
        <p:nvSpPr>
          <p:cNvPr id="138" name="Text 136"/>
          <p:cNvSpPr/>
          <p:nvPr/>
        </p:nvSpPr>
        <p:spPr>
          <a:xfrm>
            <a:off x="5440680" y="3191256"/>
            <a:ext cx="6291072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Slipped pipeline $1.09M vs budget $1.16M; re-stage with owners and validate next steps before H2 forecast lock.</a:t>
            </a:r>
            <a:endParaRPr lang="en-US" sz="850" dirty="0"/>
          </a:p>
        </p:txBody>
      </p:sp>
      <p:sp>
        <p:nvSpPr>
          <p:cNvPr id="139" name="Text 137"/>
          <p:cNvSpPr/>
          <p:nvPr/>
        </p:nvSpPr>
        <p:spPr>
          <a:xfrm>
            <a:off x="5440680" y="4178808"/>
            <a:ext cx="6291072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All channels blended 5.5x efficiency; Paid Search/Social absorb 50% of spend at sub-6% win rates. Partner and Outbound severely under-invested.</a:t>
            </a:r>
            <a:endParaRPr lang="en-US" sz="850" dirty="0"/>
          </a:p>
        </p:txBody>
      </p:sp>
      <p:sp>
        <p:nvSpPr>
          <p:cNvPr id="140" name="Text 138"/>
          <p:cNvSpPr/>
          <p:nvPr/>
        </p:nvSpPr>
        <p:spPr>
          <a:xfrm>
            <a:off x="5440680" y="5166360"/>
            <a:ext cx="6291072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Board action: approve budget-neutral $0.96M reallocation from Paid to Partner/Referral for est. +$5M pipeline at 5x+ efficiency.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6446520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7/11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320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Waterfall — June 2026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804672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Pipeline → flows → Ending Pipeline ($M ARR)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4206240"/>
            <a:ext cx="6035040" cy="9144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411480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$0M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20040" y="3351998"/>
            <a:ext cx="6035040" cy="9144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3260558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$5M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0040" y="2497756"/>
            <a:ext cx="6035040" cy="9144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12" name="Text 10"/>
          <p:cNvSpPr/>
          <p:nvPr/>
        </p:nvSpPr>
        <p:spPr>
          <a:xfrm>
            <a:off x="0" y="2406316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$10M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20040" y="1643514"/>
            <a:ext cx="6035040" cy="9144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14" name="Text 12"/>
          <p:cNvSpPr/>
          <p:nvPr/>
        </p:nvSpPr>
        <p:spPr>
          <a:xfrm>
            <a:off x="0" y="1552074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$15M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0040" y="960120"/>
            <a:ext cx="6035040" cy="9144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86868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$19M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31266" y="2793492"/>
            <a:ext cx="583387" cy="1412748"/>
          </a:xfrm>
          <a:prstGeom prst="rect">
            <a:avLst/>
          </a:prstGeom>
          <a:solidFill>
            <a:srgbClr val="00D4AA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5546" y="2592324"/>
            <a:ext cx="67482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$8.27M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58114" y="4279392"/>
            <a:ext cx="72969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Pipeline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537106" y="1223467"/>
            <a:ext cx="583387" cy="1570025"/>
          </a:xfrm>
          <a:prstGeom prst="rect">
            <a:avLst/>
          </a:prstGeom>
          <a:solidFill>
            <a:srgbClr val="166534"/>
          </a:solidFill>
          <a:ln w="6350">
            <a:solidFill>
              <a:srgbClr val="1665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91386" y="1022299"/>
            <a:ext cx="67482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+$9.19M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463954" y="4279392"/>
            <a:ext cx="72969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542946" y="1225296"/>
            <a:ext cx="583387" cy="603504"/>
          </a:xfrm>
          <a:prstGeom prst="rect">
            <a:avLst/>
          </a:prstGeom>
          <a:solidFill>
            <a:srgbClr val="991B1B"/>
          </a:solidFill>
          <a:ln w="6350">
            <a:solidFill>
              <a:srgbClr val="991B1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97226" y="1847088"/>
            <a:ext cx="67482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-$3.53M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469794" y="4279392"/>
            <a:ext cx="72969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Won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548786" y="1827886"/>
            <a:ext cx="583387" cy="779069"/>
          </a:xfrm>
          <a:prstGeom prst="rect">
            <a:avLst/>
          </a:prstGeom>
          <a:solidFill>
            <a:srgbClr val="991B1B"/>
          </a:solidFill>
          <a:ln w="6350">
            <a:solidFill>
              <a:srgbClr val="991B1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03066" y="2625242"/>
            <a:ext cx="67482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-$4.56M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475634" y="4279392"/>
            <a:ext cx="72969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Lost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554626" y="2606954"/>
            <a:ext cx="583387" cy="186538"/>
          </a:xfrm>
          <a:prstGeom prst="rect">
            <a:avLst/>
          </a:prstGeom>
          <a:solidFill>
            <a:srgbClr val="991B1B"/>
          </a:solidFill>
          <a:ln w="6350">
            <a:solidFill>
              <a:srgbClr val="991B1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08906" y="2811780"/>
            <a:ext cx="67482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-$1.09M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481474" y="4279392"/>
            <a:ext cx="72969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Slipped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560466" y="2793492"/>
            <a:ext cx="583387" cy="1412748"/>
          </a:xfrm>
          <a:prstGeom prst="rect">
            <a:avLst/>
          </a:prstGeom>
          <a:solidFill>
            <a:srgbClr val="00D4AA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14746" y="2592324"/>
            <a:ext cx="674827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$8.27M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487314" y="4279392"/>
            <a:ext cx="72969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Pipeline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629400" y="960120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KPIS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629400" y="1170432"/>
            <a:ext cx="2560320" cy="841248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20840" y="1243584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PIPELINE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720840" y="140817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$8.27M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720840" y="179222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begin $8.27M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9326880" y="1170432"/>
            <a:ext cx="2560320" cy="841248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418320" y="1243584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CREATED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9418320" y="140817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$9.19M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9418320" y="179222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bud $10.32M  -$1.13M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629400" y="2084832"/>
            <a:ext cx="2560320" cy="841248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20840" y="2157984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LOST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720840" y="232257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$4.56M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6720840" y="270662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bud $4.85M  -$289K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9326880" y="2084832"/>
            <a:ext cx="2560320" cy="841248"/>
          </a:xfrm>
          <a:prstGeom prst="rect">
            <a:avLst/>
          </a:prstGeom>
          <a:solidFill>
            <a:srgbClr val="111D2E"/>
          </a:solidFill>
          <a:ln w="6350">
            <a:solidFill>
              <a:srgbClr val="1A2E4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418320" y="2157984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SLIPPED PIPELINE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9418320" y="232257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$1.09M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9418320" y="270662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bud $1.16M  -$70K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629400" y="3108960"/>
            <a:ext cx="5212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BRIDGE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629400" y="3291840"/>
            <a:ext cx="1417320" cy="201168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65976" y="3291840"/>
            <a:ext cx="1380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8046720" y="3291840"/>
            <a:ext cx="914400" cy="201168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083296" y="3291840"/>
            <a:ext cx="877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8961120" y="3291840"/>
            <a:ext cx="914400" cy="201168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997696" y="3291840"/>
            <a:ext cx="877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9875520" y="3291840"/>
            <a:ext cx="914400" cy="201168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912096" y="3291840"/>
            <a:ext cx="877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629400" y="3493008"/>
            <a:ext cx="1417320" cy="201168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665976" y="3493008"/>
            <a:ext cx="1380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Pipeline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8046720" y="3493008"/>
            <a:ext cx="914400" cy="201168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083296" y="3493008"/>
            <a:ext cx="877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$8.27M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8961120" y="3493008"/>
            <a:ext cx="914400" cy="201168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997696" y="3493008"/>
            <a:ext cx="877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$8.68M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9875520" y="3493008"/>
            <a:ext cx="914400" cy="201168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912096" y="3493008"/>
            <a:ext cx="877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6629400" y="3694176"/>
            <a:ext cx="1417320" cy="201168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665976" y="3694176"/>
            <a:ext cx="1380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8046720" y="3694176"/>
            <a:ext cx="914400" cy="201168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083296" y="3694176"/>
            <a:ext cx="877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$9.19M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8961120" y="3694176"/>
            <a:ext cx="914400" cy="201168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997696" y="3694176"/>
            <a:ext cx="877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$10.32M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9875520" y="3694176"/>
            <a:ext cx="914400" cy="201168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912096" y="3694176"/>
            <a:ext cx="877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-$1.13M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6629400" y="3895344"/>
            <a:ext cx="1417320" cy="201168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665976" y="3895344"/>
            <a:ext cx="1380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Won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8046720" y="3895344"/>
            <a:ext cx="914400" cy="201168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083296" y="3895344"/>
            <a:ext cx="877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-$3.53M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8961120" y="3895344"/>
            <a:ext cx="914400" cy="201168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997696" y="3895344"/>
            <a:ext cx="877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9875520" y="3895344"/>
            <a:ext cx="914400" cy="201168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912096" y="3895344"/>
            <a:ext cx="877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6629400" y="4096512"/>
            <a:ext cx="1417320" cy="201168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665976" y="4096512"/>
            <a:ext cx="1380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Lost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8046720" y="4096512"/>
            <a:ext cx="914400" cy="201168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083296" y="4096512"/>
            <a:ext cx="877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-$4.56M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8961120" y="4096512"/>
            <a:ext cx="914400" cy="201168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997696" y="4096512"/>
            <a:ext cx="877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-$4.85M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9875520" y="4096512"/>
            <a:ext cx="914400" cy="201168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912096" y="4096512"/>
            <a:ext cx="877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6629400" y="4297680"/>
            <a:ext cx="1417320" cy="201168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665976" y="4297680"/>
            <a:ext cx="1380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Slipped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8046720" y="4297680"/>
            <a:ext cx="914400" cy="201168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083296" y="4297680"/>
            <a:ext cx="877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-$1.09M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8961120" y="4297680"/>
            <a:ext cx="914400" cy="201168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997696" y="4297680"/>
            <a:ext cx="877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-$1.16M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9875520" y="4297680"/>
            <a:ext cx="914400" cy="201168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9912096" y="4297680"/>
            <a:ext cx="877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6629400" y="4498848"/>
            <a:ext cx="1417320" cy="201168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665976" y="4498848"/>
            <a:ext cx="1380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Pipeline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8046720" y="4498848"/>
            <a:ext cx="914400" cy="201168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083296" y="4498848"/>
            <a:ext cx="877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$8.27M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8961120" y="4498848"/>
            <a:ext cx="914400" cy="201168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997696" y="4498848"/>
            <a:ext cx="877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$9.27M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9875520" y="4498848"/>
            <a:ext cx="914400" cy="201168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9912096" y="4498848"/>
            <a:ext cx="877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-$1.00M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320040" y="4754880"/>
            <a:ext cx="11548872" cy="27432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110" name="Text 108"/>
          <p:cNvSpPr/>
          <p:nvPr/>
        </p:nvSpPr>
        <p:spPr>
          <a:xfrm>
            <a:off x="320040" y="4828032"/>
            <a:ext cx="115488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320040" y="5010912"/>
            <a:ext cx="11548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Beginning pipeline $8.27M → ending $8.27M; additive bridge shows created $9.19M offset by closed won $3.53M, lost $4.56M, slipped $1.09M.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320040" y="5303520"/>
            <a:ext cx="11548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Closed-lost $4.56M vs budget $4.85M; -5.9% variance. Validate loss reasons (competitive, pricing, timing) and update deal qualification criteria.</a:t>
            </a:r>
            <a:endParaRPr lang="en-US" sz="900" dirty="0"/>
          </a:p>
        </p:txBody>
      </p:sp>
      <p:sp>
        <p:nvSpPr>
          <p:cNvPr id="113" name="Text 111"/>
          <p:cNvSpPr/>
          <p:nvPr/>
        </p:nvSpPr>
        <p:spPr>
          <a:xfrm>
            <a:off x="320040" y="5596128"/>
            <a:ext cx="11548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Slipped pipeline $1.09M vs budget $1.16M; re-stage with owners and confirm next steps before H2 forecast lock to avoid further slippage.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320040" y="5888736"/>
            <a:ext cx="11548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Pipeline coverage 3.0x vs ending ARR $85.31M supports H2 ramp; prioritize enterprise conversion velocity and deal cycle acceleration.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6446520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8/11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320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ASSESSMENT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Opportunities — June 2026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11548872" cy="27432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914400"/>
            <a:ext cx="5577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RISKS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5577840" cy="1143000"/>
          </a:xfrm>
          <a:prstGeom prst="rect">
            <a:avLst/>
          </a:prstGeom>
          <a:solidFill>
            <a:srgbClr val="111D2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115568"/>
            <a:ext cx="685800" cy="201168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1133856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051560" y="1133856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Channel Inefficiency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137160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 + Social absorb $144K (50% of spend) at 5.5x efficiency and 30% win rates. Estimated annual drag $2–3M vs Partner/Referral alternatives at 5.8x+ efficiency.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1480" y="1801368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Reallocate $0.96M from Paid to Partner/Referral; quantify $2–3M annual drag vs high-efficiency channels.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11480" y="2011680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$2–3M annual drag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0040" y="2350008"/>
            <a:ext cx="5577840" cy="1143000"/>
          </a:xfrm>
          <a:prstGeom prst="rect">
            <a:avLst/>
          </a:prstGeom>
          <a:solidFill>
            <a:srgbClr val="111D2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350008"/>
            <a:ext cx="685800" cy="201168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2368296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051560" y="2368296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Churn Concentration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1480" y="26060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of gross churn is SMB. G$R could deteriorate 30–50bps in H2, impacting ARR by ~$0.8M and pushing N$R below 100%. Targeted CSM intervention required before Q3 renewal cycle.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11480" y="3035808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Run SMB renewal cohort analysis before Q3; CSM intervention on at-risk accounts to protect G$R/N$R.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11480" y="3246120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~$0.8M ARR / N$R &lt;100%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3584448"/>
            <a:ext cx="5577840" cy="1143000"/>
          </a:xfrm>
          <a:prstGeom prst="rect">
            <a:avLst/>
          </a:prstGeom>
          <a:solidFill>
            <a:srgbClr val="111D2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584448"/>
            <a:ext cx="685800" cy="201168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" y="3602736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51560" y="3602736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Logo $325K Behind Plan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11480" y="38404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timing slippage in 20+ seat segment. Close rates improving (Q2: 13%) but volume trailing. H2 new business revenue at risk if enterprise pipeline doesn't convert within cycle.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11480" y="4270248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Prioritize enterprise close plans; validate 20+ seat segment conversion within the H2 cycle.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11480" y="4480560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$325K behind plan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0040" y="4818888"/>
            <a:ext cx="5577840" cy="1143000"/>
          </a:xfrm>
          <a:prstGeom prst="rect">
            <a:avLst/>
          </a:prstGeom>
          <a:solidFill>
            <a:srgbClr val="111D2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4818888"/>
            <a:ext cx="685800" cy="201168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31" name="Text 29"/>
          <p:cNvSpPr/>
          <p:nvPr/>
        </p:nvSpPr>
        <p:spPr>
          <a:xfrm>
            <a:off x="347472" y="4837176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051560" y="4837176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Collections Moderation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11480" y="507492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March's $13.6M collections spike reflects annual billing concentration. H2 monthly collections expected at $6–8M — a 40% reduction from Q1 average. Cash model needs H2 update.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11480" y="5504688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Update H2 cash model for $6–8M monthly collections (~40% below Q1 avg).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11480" y="5715000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H2 collections ~40% vs Q1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263640" y="914400"/>
            <a:ext cx="5577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OPPORTUNITIES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63640" y="1115568"/>
            <a:ext cx="5577840" cy="1143000"/>
          </a:xfrm>
          <a:prstGeom prst="rect">
            <a:avLst/>
          </a:prstGeom>
          <a:solidFill>
            <a:srgbClr val="111D2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63640" y="1115568"/>
            <a:ext cx="685800" cy="201168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9" name="Text 37"/>
          <p:cNvSpPr/>
          <p:nvPr/>
        </p:nvSpPr>
        <p:spPr>
          <a:xfrm>
            <a:off x="6291072" y="1133856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995160" y="1133856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+ Referral Reallocation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355080" y="137160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and Referral channels severely under-invested. Budget-neutral $0.96M reallocation from Paid could generate est. +$5M pipeline at 5x+ efficiency and 59–66% win rates.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355080" y="1801368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Approve budget-neutral $0.96M shift from Paid to Partner/Referral for est. +$5M pipeline.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355080" y="2011680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Upside: +$5M pipeline / 5x+ efficiency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263640" y="2350008"/>
            <a:ext cx="5577840" cy="1143000"/>
          </a:xfrm>
          <a:prstGeom prst="rect">
            <a:avLst/>
          </a:prstGeom>
          <a:solidFill>
            <a:srgbClr val="111D2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63640" y="2350008"/>
            <a:ext cx="685800" cy="201168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46" name="Text 44"/>
          <p:cNvSpPr/>
          <p:nvPr/>
        </p:nvSpPr>
        <p:spPr>
          <a:xfrm>
            <a:off x="6291072" y="2368296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995160" y="2368296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ARR Momentum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355080" y="26060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outperformed budget 4 of 5 months at $869.1K vs $912.6K budget. CS-led enterprise expansion plays could add $0.5–1.0M ARR per quarter at near-zero incremental CAC.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355080" y="3035808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Fund CS-led enterprise expansion plays targeting $0.5–1.0M ARR/quarter.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355080" y="3246120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Upside: $0.5–1.0M ARR/quarter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263640" y="3584448"/>
            <a:ext cx="5577840" cy="1143000"/>
          </a:xfrm>
          <a:prstGeom prst="rect">
            <a:avLst/>
          </a:prstGeom>
          <a:solidFill>
            <a:srgbClr val="111D2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63640" y="3584448"/>
            <a:ext cx="685800" cy="201168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53" name="Text 51"/>
          <p:cNvSpPr/>
          <p:nvPr/>
        </p:nvSpPr>
        <p:spPr>
          <a:xfrm>
            <a:off x="6291072" y="3602736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6995160" y="3602736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 Expansion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355080" y="38404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billing penetration in mid-market adds est. $5–8M to YE 2026 cash. Include annual terms in all mid-market renewals and new business starting Q3. Revenue recognition neutral.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355080" y="4270248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Mandate annual terms on mid-market renewals/NB starting Q3 (est. +$5–8M YE cash).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355080" y="4480560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Upside: $5–8M YE 2026 cash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263640" y="4818888"/>
            <a:ext cx="5577840" cy="1143000"/>
          </a:xfrm>
          <a:prstGeom prst="rect">
            <a:avLst/>
          </a:prstGeom>
          <a:solidFill>
            <a:srgbClr val="111D2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263640" y="4818888"/>
            <a:ext cx="685800" cy="201168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60" name="Text 58"/>
          <p:cNvSpPr/>
          <p:nvPr/>
        </p:nvSpPr>
        <p:spPr>
          <a:xfrm>
            <a:off x="6291072" y="4837176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6995160" y="4837176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Leverage Improvement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355080" y="507492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+5.0% MoM vs headcount +2.3% YoY. If maintained through H2, EBITDA margin improvement of 150–200bps is achievable without headcount reduction — purely through GTM efficiency gains.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355080" y="5504688"/>
            <a:ext cx="5394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Hold opex/headcount discipline; capture 150–200bps EBITDA margin via GTM efficiency through H2.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6355080" y="5715000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Upside: 150–200bps EBITDA margin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6053328" y="914400"/>
            <a:ext cx="27432" cy="5212080"/>
          </a:xfrm>
          <a:prstGeom prst="rect">
            <a:avLst/>
          </a:prstGeom>
          <a:solidFill>
            <a:srgbClr val="1A2E42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6446520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9/11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320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OUTLOOK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Outlook — FY 2026</a:t>
            </a:r>
            <a:endParaRPr lang="en-US" sz="2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868680"/>
          <a:ext cx="6858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4133088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2026 OUTLOOK SUMMARY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0040" y="4315968"/>
            <a:ext cx="29260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4315968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246120" y="4315968"/>
            <a:ext cx="182880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91840" y="431596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074920" y="4315968"/>
            <a:ext cx="182880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20640" y="431596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0040" y="4572000"/>
            <a:ext cx="292608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4572000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ARR (Dec EoY)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246120" y="4572000"/>
            <a:ext cx="182880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91840" y="457200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$90.29M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074920" y="4572000"/>
            <a:ext cx="182880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20640" y="457200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$96.10M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20040" y="4828032"/>
            <a:ext cx="29260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" y="482803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Revenue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246120" y="4828032"/>
            <a:ext cx="182880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91840" y="482803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$87.35M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074920" y="4828032"/>
            <a:ext cx="182880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20640" y="482803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$91.24M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20040" y="5084064"/>
            <a:ext cx="292608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5760" y="5084064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Gross Margin %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246120" y="5084064"/>
            <a:ext cx="182880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91840" y="5084064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70.8%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074920" y="5084064"/>
            <a:ext cx="182880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20640" y="5084064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70.8%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320040" y="5340096"/>
            <a:ext cx="292608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65760" y="5340096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EBITDA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3246120" y="5340096"/>
            <a:ext cx="182880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291840" y="5340096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$7.46M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5074920" y="5340096"/>
            <a:ext cx="1828800" cy="256032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120640" y="5340096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$7.79M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320040" y="5596128"/>
            <a:ext cx="292608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65760" y="5596128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Cash (Dec EoY)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3246120" y="5596128"/>
            <a:ext cx="182880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291840" y="559612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$32.02M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5074920" y="5596128"/>
            <a:ext cx="1828800" cy="256032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120640" y="559612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$23.85M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7406640" y="86868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PRIORITIES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7406640" y="1051560"/>
            <a:ext cx="4572000" cy="914400"/>
          </a:xfrm>
          <a:prstGeom prst="rect">
            <a:avLst/>
          </a:prstGeom>
          <a:solidFill>
            <a:srgbClr val="111D2E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516368" y="1078992"/>
            <a:ext cx="4352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&amp; GTM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7516368" y="1316736"/>
            <a:ext cx="4352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ARR outlook $90.29M vs $96.10M budget; pipeline 3.0x coverage supports H2 ramp. Prioritize enterprise conversion.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7406640" y="2057400"/>
            <a:ext cx="4572000" cy="914400"/>
          </a:xfrm>
          <a:prstGeom prst="rect">
            <a:avLst/>
          </a:prstGeom>
          <a:solidFill>
            <a:srgbClr val="111D2E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516368" y="2084832"/>
            <a:ext cx="4352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7516368" y="2322576"/>
            <a:ext cx="4352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gross margin 70.8% on budget; EBITDA $3.87M ahead +$59.1K — sustain opex discipline through H2.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7406640" y="3063240"/>
            <a:ext cx="4572000" cy="914400"/>
          </a:xfrm>
          <a:prstGeom prst="rect">
            <a:avLst/>
          </a:prstGeom>
          <a:solidFill>
            <a:srgbClr val="111D2E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516368" y="3090672"/>
            <a:ext cx="4352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&amp; Runway</a:t>
            </a:r>
            <a:endParaRPr lang="en-US" sz="950" dirty="0"/>
          </a:p>
        </p:txBody>
      </p:sp>
      <p:sp>
        <p:nvSpPr>
          <p:cNvPr id="53" name="Text 50"/>
          <p:cNvSpPr/>
          <p:nvPr/>
        </p:nvSpPr>
        <p:spPr>
          <a:xfrm>
            <a:off x="7516368" y="3328416"/>
            <a:ext cx="4352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$30.00M, -4.6% vs budget; FY outlook $32.02M — deploy strategically for GTM and product bets.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7406640" y="4069080"/>
            <a:ext cx="4572000" cy="914400"/>
          </a:xfrm>
          <a:prstGeom prst="rect">
            <a:avLst/>
          </a:prstGeom>
          <a:solidFill>
            <a:srgbClr val="111D2E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516368" y="4096512"/>
            <a:ext cx="4352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7516368" y="4334256"/>
            <a:ext cx="4352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EOY forecast 11 headcount; open reqs 0 — hiring plan approval required next cycle for H2 execution.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7406640" y="5074920"/>
            <a:ext cx="4572000" cy="27432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58" name="Text 55"/>
          <p:cNvSpPr/>
          <p:nvPr/>
        </p:nvSpPr>
        <p:spPr>
          <a:xfrm>
            <a:off x="7406640" y="513892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7406640" y="528523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FY ARR outlook $90.29M, -6.0% vs $96.10M budget; H2 acceleration required. Pipeline coverage 3.0x supports ramp if conversion improves.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7406640" y="5541264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FY revenue $87.35M vs $91.24M budget; -4.3% gap. Expansion momentum and new logo conversion critical for H2 close.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7406640" y="5797296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Cash outlook $32.02M vs $23.85M budget — +34.3% upside enables strategic investment in GTM and product. H2 collections expected to moderate.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7406640" y="605332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EBITDA $7.46M FY outlook vs $7.79M budget; profitability trajectory intact. Operating leverage from revenue growth and opex discipline.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6446520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10/11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320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ACTIONS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Actions — June 2026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11548872" cy="27432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960120"/>
            <a:ext cx="5614416" cy="2468880"/>
          </a:xfrm>
          <a:prstGeom prst="rect">
            <a:avLst/>
          </a:prstGeom>
          <a:solidFill>
            <a:srgbClr val="111D2E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9728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1691640" y="1124712"/>
            <a:ext cx="1645920" cy="23774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1709928" y="1133856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APPROVAL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02920" y="1463040"/>
            <a:ext cx="52486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June 2026 financial close and P&amp;L tie-out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194560"/>
            <a:ext cx="5248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CFO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468880"/>
            <a:ext cx="5248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Board meeting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788920"/>
            <a:ext cx="5248656" cy="27432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880360"/>
            <a:ext cx="5248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board vote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254496" y="960120"/>
            <a:ext cx="5614416" cy="2468880"/>
          </a:xfrm>
          <a:prstGeom prst="rect">
            <a:avLst/>
          </a:prstGeom>
          <a:solidFill>
            <a:srgbClr val="111D2E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37376" y="109728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200" dirty="0"/>
          </a:p>
        </p:txBody>
      </p:sp>
      <p:sp>
        <p:nvSpPr>
          <p:cNvPr id="18" name="Shape 16"/>
          <p:cNvSpPr/>
          <p:nvPr/>
        </p:nvSpPr>
        <p:spPr>
          <a:xfrm>
            <a:off x="7626096" y="1124712"/>
            <a:ext cx="1645920" cy="23774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9" name="Text 17"/>
          <p:cNvSpPr/>
          <p:nvPr/>
        </p:nvSpPr>
        <p:spPr>
          <a:xfrm>
            <a:off x="7644384" y="1133856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APPROVAL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437376" y="1463040"/>
            <a:ext cx="52486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channel reallocation: $0.96M from Paid to Partner/Referral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37376" y="2194560"/>
            <a:ext cx="5248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CRO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37376" y="2468880"/>
            <a:ext cx="5248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Next board cycle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37376" y="2788920"/>
            <a:ext cx="5248656" cy="27432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24" name="Text 22"/>
          <p:cNvSpPr/>
          <p:nvPr/>
        </p:nvSpPr>
        <p:spPr>
          <a:xfrm>
            <a:off x="6437376" y="2880360"/>
            <a:ext cx="5248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board vote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3657600"/>
            <a:ext cx="5614416" cy="2468880"/>
          </a:xfrm>
          <a:prstGeom prst="rect">
            <a:avLst/>
          </a:prstGeom>
          <a:solidFill>
            <a:srgbClr val="111D2E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79476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200" dirty="0"/>
          </a:p>
        </p:txBody>
      </p:sp>
      <p:sp>
        <p:nvSpPr>
          <p:cNvPr id="27" name="Shape 25"/>
          <p:cNvSpPr/>
          <p:nvPr/>
        </p:nvSpPr>
        <p:spPr>
          <a:xfrm>
            <a:off x="1691640" y="3822192"/>
            <a:ext cx="1645920" cy="23774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8" name="Text 26"/>
          <p:cNvSpPr/>
          <p:nvPr/>
        </p:nvSpPr>
        <p:spPr>
          <a:xfrm>
            <a:off x="1709928" y="3831336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APPROVAL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02920" y="4160520"/>
            <a:ext cx="52486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updated FY ARR outlook ($90.29M) and H2 GTM plan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2920" y="4892040"/>
            <a:ext cx="5248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CEO / CRO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2920" y="5166360"/>
            <a:ext cx="5248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Next board cycle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2920" y="5486400"/>
            <a:ext cx="5248656" cy="27432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5577840"/>
            <a:ext cx="5248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board vote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54496" y="3657600"/>
            <a:ext cx="5614416" cy="2468880"/>
          </a:xfrm>
          <a:prstGeom prst="rect">
            <a:avLst/>
          </a:prstGeom>
          <a:solidFill>
            <a:srgbClr val="111D2E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37376" y="379476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5200" dirty="0"/>
          </a:p>
        </p:txBody>
      </p:sp>
      <p:sp>
        <p:nvSpPr>
          <p:cNvPr id="36" name="Shape 34"/>
          <p:cNvSpPr/>
          <p:nvPr/>
        </p:nvSpPr>
        <p:spPr>
          <a:xfrm>
            <a:off x="7626096" y="3822192"/>
            <a:ext cx="1645920" cy="2377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7644384" y="3831336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7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DISCUSSION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437376" y="4160520"/>
            <a:ext cx="52486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churn mitigation and CSM intervention strategy for Q3 renewals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437376" y="4892040"/>
            <a:ext cx="5248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VP CS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437376" y="5166360"/>
            <a:ext cx="5248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Operating review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437376" y="5486400"/>
            <a:ext cx="5248656" cy="27432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42" name="Text 40"/>
          <p:cNvSpPr/>
          <p:nvPr/>
        </p:nvSpPr>
        <p:spPr>
          <a:xfrm>
            <a:off x="6437376" y="5577840"/>
            <a:ext cx="5248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item — no vote required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6446520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SMPL · Board Operating Review · Q2 2026 · CONFIDENTIAL  11/11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3200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Cash Flow Statement — Jan–Jun 2026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11548872" cy="27432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960120"/>
            <a:ext cx="5029200" cy="274320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960120"/>
            <a:ext cx="4956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Item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349240" y="960120"/>
            <a:ext cx="2011680" cy="274320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22392" y="96012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Actual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60920" y="960120"/>
            <a:ext cx="2011680" cy="274320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34072" y="96012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Budget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372600" y="960120"/>
            <a:ext cx="2011680" cy="274320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45752" y="96012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Variance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1234440"/>
            <a:ext cx="5029200" cy="274320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1234440"/>
            <a:ext cx="4956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Cash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349240" y="1234440"/>
            <a:ext cx="2011680" cy="274320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22392" y="123444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$25.74M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360920" y="1234440"/>
            <a:ext cx="2011680" cy="274320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34072" y="123444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$25.74M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372600" y="1234440"/>
            <a:ext cx="2011680" cy="274320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45752" y="123444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+$0.00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1508760"/>
            <a:ext cx="5029200" cy="274320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" y="1508760"/>
            <a:ext cx="4956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349240" y="1508760"/>
            <a:ext cx="2011680" cy="274320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22392" y="150876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$2.43M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360920" y="1508760"/>
            <a:ext cx="2011680" cy="274320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34072" y="150876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$2.36M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372600" y="1508760"/>
            <a:ext cx="2011680" cy="274320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45752" y="150876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+$71.0K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1783080"/>
            <a:ext cx="5029200" cy="274320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3192" y="1783080"/>
            <a:ext cx="4956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Depreciation &amp; Amortization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349240" y="1783080"/>
            <a:ext cx="2011680" cy="274320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22392" y="178308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$591.8K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360920" y="1783080"/>
            <a:ext cx="2011680" cy="274320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34072" y="178308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$621.3K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372600" y="1783080"/>
            <a:ext cx="2011680" cy="274320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45752" y="178308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-$29.6K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0040" y="2057400"/>
            <a:ext cx="5029200" cy="274320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3192" y="2057400"/>
            <a:ext cx="4956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Stock-Based Compensation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349240" y="2057400"/>
            <a:ext cx="2011680" cy="274320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22392" y="205740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$394.5K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360920" y="2057400"/>
            <a:ext cx="2011680" cy="274320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34072" y="205740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$414.2K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9372600" y="2057400"/>
            <a:ext cx="2011680" cy="274320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445752" y="205740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-$19.7K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20040" y="2331720"/>
            <a:ext cx="5029200" cy="274320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3192" y="2331720"/>
            <a:ext cx="4956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 Accounts Receivable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349240" y="2331720"/>
            <a:ext cx="2011680" cy="274320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22392" y="233172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$3.35M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360920" y="2331720"/>
            <a:ext cx="2011680" cy="274320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34072" y="233172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$2.89M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9372600" y="2331720"/>
            <a:ext cx="2011680" cy="274320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445752" y="233172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+$453.2K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20040" y="2606040"/>
            <a:ext cx="5029200" cy="274320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93192" y="2606040"/>
            <a:ext cx="4956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 Deferred Revenue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5349240" y="2606040"/>
            <a:ext cx="2011680" cy="274320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22392" y="260604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$276.0K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7360920" y="2606040"/>
            <a:ext cx="2011680" cy="274320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34072" y="260604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$292.4K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9372600" y="2606040"/>
            <a:ext cx="2011680" cy="274320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445752" y="260604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-$16.4K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20040" y="2880360"/>
            <a:ext cx="5029200" cy="274320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93192" y="2880360"/>
            <a:ext cx="4956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 Accounts Payable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5349240" y="2880360"/>
            <a:ext cx="2011680" cy="274320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22392" y="288036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-$1.91M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7360920" y="2880360"/>
            <a:ext cx="2011680" cy="274320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434072" y="288036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-$3.50M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9372600" y="2880360"/>
            <a:ext cx="2011680" cy="274320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445752" y="288036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+$1.59M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320040" y="3154680"/>
            <a:ext cx="5029200" cy="274320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93192" y="3154680"/>
            <a:ext cx="4956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 Prepaids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5349240" y="3154680"/>
            <a:ext cx="2011680" cy="274320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422392" y="315468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-$90.0K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7360920" y="3154680"/>
            <a:ext cx="2011680" cy="274320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434072" y="315468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-$90.0K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9372600" y="3154680"/>
            <a:ext cx="2011680" cy="274320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445752" y="315468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+$0.00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320040" y="3429000"/>
            <a:ext cx="5029200" cy="274320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93192" y="3429000"/>
            <a:ext cx="4956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from Operations (CFO)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5349240" y="3429000"/>
            <a:ext cx="2011680" cy="274320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422392" y="342900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$5.05M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7360920" y="3429000"/>
            <a:ext cx="2011680" cy="274320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434072" y="342900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$2.99M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9372600" y="3429000"/>
            <a:ext cx="2011680" cy="274320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445752" y="342900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+$2.05M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320040" y="3703320"/>
            <a:ext cx="5029200" cy="274320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93192" y="3703320"/>
            <a:ext cx="4956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5349240" y="3703320"/>
            <a:ext cx="2011680" cy="274320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422392" y="370332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-$789.0K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7360920" y="3703320"/>
            <a:ext cx="2011680" cy="274320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434072" y="370332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-$828.4K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9372600" y="3703320"/>
            <a:ext cx="2011680" cy="274320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445752" y="370332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+$39.4K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320040" y="3977640"/>
            <a:ext cx="5029200" cy="274320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93192" y="3977640"/>
            <a:ext cx="4956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from Investing (CFI)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5349240" y="3977640"/>
            <a:ext cx="2011680" cy="274320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422392" y="397764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-$789.0K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7360920" y="3977640"/>
            <a:ext cx="2011680" cy="274320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434072" y="397764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-$828.4K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9372600" y="3977640"/>
            <a:ext cx="2011680" cy="274320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445752" y="397764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+$39.4K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320040" y="4251960"/>
            <a:ext cx="5029200" cy="274320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93192" y="4251960"/>
            <a:ext cx="4956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from Financing (CFF)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5349240" y="4251960"/>
            <a:ext cx="2011680" cy="274320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422392" y="425196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7360920" y="4251960"/>
            <a:ext cx="2011680" cy="274320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434072" y="425196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9372600" y="4251960"/>
            <a:ext cx="2011680" cy="274320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9445752" y="425196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320040" y="4526280"/>
            <a:ext cx="5029200" cy="274320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93192" y="4526280"/>
            <a:ext cx="4956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Change in Cash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5349240" y="4526280"/>
            <a:ext cx="2011680" cy="274320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422392" y="452628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$4.26M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7360920" y="4526280"/>
            <a:ext cx="2011680" cy="274320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434072" y="452628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$2.17M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9372600" y="4526280"/>
            <a:ext cx="2011680" cy="274320"/>
          </a:xfrm>
          <a:prstGeom prst="rect">
            <a:avLst/>
          </a:prstGeom>
          <a:solidFill>
            <a:srgbClr val="0D1520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9445752" y="452628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+$2.09M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320040" y="4800600"/>
            <a:ext cx="5029200" cy="274320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393192" y="4800600"/>
            <a:ext cx="4956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Cash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5349240" y="4800600"/>
            <a:ext cx="2011680" cy="274320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5422392" y="480060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$30.00M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7360920" y="4800600"/>
            <a:ext cx="2011680" cy="274320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7434072" y="480060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$27.91M</a:t>
            </a:r>
            <a:endParaRPr lang="en-US" sz="850" dirty="0"/>
          </a:p>
        </p:txBody>
      </p:sp>
      <p:sp>
        <p:nvSpPr>
          <p:cNvPr id="125" name="Shape 123"/>
          <p:cNvSpPr/>
          <p:nvPr/>
        </p:nvSpPr>
        <p:spPr>
          <a:xfrm>
            <a:off x="9372600" y="4800600"/>
            <a:ext cx="2011680" cy="274320"/>
          </a:xfrm>
          <a:prstGeom prst="rect">
            <a:avLst/>
          </a:prstGeom>
          <a:solidFill>
            <a:srgbClr val="111D2E"/>
          </a:solidFill>
          <a:ln w="3810">
            <a:solidFill>
              <a:srgbClr val="1A2E42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9445752" y="4800600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+$2.09M</a:t>
            </a:r>
            <a:endParaRPr lang="en-US" sz="850" dirty="0"/>
          </a:p>
        </p:txBody>
      </p:sp>
      <p:sp>
        <p:nvSpPr>
          <p:cNvPr id="127" name="Text 125"/>
          <p:cNvSpPr/>
          <p:nvPr/>
        </p:nvSpPr>
        <p:spPr>
          <a:xfrm>
            <a:off x="320040" y="5148072"/>
            <a:ext cx="11548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build_ts_data.cfs  |  Period: Jan–Jun 2026  |  Currency: USD  |  Actual CFS for periods ≤ close_month (never Forecast)</a:t>
            </a:r>
            <a:endParaRPr lang="en-US" sz="750" dirty="0"/>
          </a:p>
        </p:txBody>
      </p:sp>
      <p:sp>
        <p:nvSpPr>
          <p:cNvPr id="128" name="Shape 126"/>
          <p:cNvSpPr/>
          <p:nvPr/>
        </p:nvSpPr>
        <p:spPr>
          <a:xfrm>
            <a:off x="320040" y="5404104"/>
            <a:ext cx="11548872" cy="457200"/>
          </a:xfrm>
          <a:prstGeom prst="rect">
            <a:avLst/>
          </a:prstGeom>
          <a:solidFill>
            <a:srgbClr val="0D1520"/>
          </a:solidFill>
          <a:ln w="6350">
            <a:solidFill>
              <a:srgbClr val="6B8CA8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457200" y="544068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Actual uses Actual CFS for periods ≤ close_month (2026-06). Budget column is Budget scenario only. Variance = Actual − Budget.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2026-09-08T22:05:53Z</dcterms:created>
  <dcterms:modified xsi:type="dcterms:W3CDTF">2026-09-08T22:05:53Z</dcterms:modified>
</cp:coreProperties>
</file>