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90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Beginning ARR</c:v>
                </c:pt>
                <c:pt idx="1">
                  <c:v>+ New Business</c:v>
                </c:pt>
                <c:pt idx="2">
                  <c:v>+ Expansion</c:v>
                </c:pt>
                <c:pt idx="3">
                  <c:v>+ Reactivation</c:v>
                </c:pt>
                <c:pt idx="4">
                  <c:v>− Contraction</c:v>
                </c:pt>
                <c:pt idx="5">
                  <c:v>− Churn</c:v>
                </c:pt>
                <c:pt idx="6">
                  <c:v>Ending ARR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83.444999999999993</c:v>
                </c:pt>
                <c:pt idx="1">
                  <c:v>1.6850000000000001</c:v>
                </c:pt>
                <c:pt idx="2">
                  <c:v>0.86899999999999999</c:v>
                </c:pt>
                <c:pt idx="3">
                  <c:v>0.14299999999999999</c:v>
                </c:pt>
                <c:pt idx="4">
                  <c:v>-0.314</c:v>
                </c:pt>
                <c:pt idx="5">
                  <c:v>-0.52</c:v>
                </c:pt>
                <c:pt idx="6">
                  <c:v>85.308000000000007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EB-422C-B5F3-89FF33A0CE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Beginning ARR</c:v>
                </c:pt>
                <c:pt idx="1">
                  <c:v>+ New Business</c:v>
                </c:pt>
                <c:pt idx="2">
                  <c:v>+ Expansion</c:v>
                </c:pt>
                <c:pt idx="3">
                  <c:v>+ Reactivation</c:v>
                </c:pt>
                <c:pt idx="4">
                  <c:v>− Contraction</c:v>
                </c:pt>
                <c:pt idx="5">
                  <c:v>− Churn</c:v>
                </c:pt>
                <c:pt idx="6">
                  <c:v>Ending ARR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82.938999999999993</c:v>
                </c:pt>
                <c:pt idx="1">
                  <c:v>1.7689999999999999</c:v>
                </c:pt>
                <c:pt idx="2">
                  <c:v>0.91300000000000003</c:v>
                </c:pt>
                <c:pt idx="3">
                  <c:v>0.15</c:v>
                </c:pt>
                <c:pt idx="4">
                  <c:v>-0.32900000000000001</c:v>
                </c:pt>
                <c:pt idx="5">
                  <c:v>-0.54600000000000004</c:v>
                </c:pt>
                <c:pt idx="6">
                  <c:v>84.894999999999996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EB-422C-B5F3-89FF33A0C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1A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8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Paid Social</c:v>
                </c:pt>
                <c:pt idx="1">
                  <c:v>Paid Search</c:v>
                </c:pt>
                <c:pt idx="2">
                  <c:v>Content Synd.</c:v>
                </c:pt>
                <c:pt idx="3">
                  <c:v>Organic Search</c:v>
                </c:pt>
                <c:pt idx="4">
                  <c:v>Outbound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0.52356172000000001</c:v>
                </c:pt>
                <c:pt idx="1">
                  <c:v>0.50801766999999998</c:v>
                </c:pt>
                <c:pt idx="2">
                  <c:v>0.31033231999999999</c:v>
                </c:pt>
                <c:pt idx="3">
                  <c:v>0.44345857</c:v>
                </c:pt>
                <c:pt idx="4">
                  <c:v>0.48440304000000001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62-45F6-85C6-570C608119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Paid Social</c:v>
                </c:pt>
                <c:pt idx="1">
                  <c:v>Paid Search</c:v>
                </c:pt>
                <c:pt idx="2">
                  <c:v>Content Synd.</c:v>
                </c:pt>
                <c:pt idx="3">
                  <c:v>Organic Search</c:v>
                </c:pt>
                <c:pt idx="4">
                  <c:v>Outbound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1.176E-2</c:v>
                </c:pt>
                <c:pt idx="1">
                  <c:v>7.9799999999999992E-3</c:v>
                </c:pt>
                <c:pt idx="2">
                  <c:v>7.1399999999999996E-3</c:v>
                </c:pt>
                <c:pt idx="3">
                  <c:v>5.4599999999999996E-3</c:v>
                </c:pt>
                <c:pt idx="4">
                  <c:v>5.0400000000000002E-3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62-45F6-85C6-570C608119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A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8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ln w="25400" cap="flat">
              <a:solidFill>
                <a:srgbClr val="00D4A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76.31</c:v>
                </c:pt>
                <c:pt idx="1">
                  <c:v>77.814999999999998</c:v>
                </c:pt>
                <c:pt idx="2">
                  <c:v>79.504999999999995</c:v>
                </c:pt>
                <c:pt idx="3">
                  <c:v>81.385000000000005</c:v>
                </c:pt>
                <c:pt idx="4">
                  <c:v>83.444999999999993</c:v>
                </c:pt>
                <c:pt idx="5">
                  <c:v>85.308000000000007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26-4CCC-8A11-7FEA444A56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76.225999999999999</c:v>
                </c:pt>
                <c:pt idx="1">
                  <c:v>77.638999999999996</c:v>
                </c:pt>
                <c:pt idx="2">
                  <c:v>79.227999999999994</c:v>
                </c:pt>
                <c:pt idx="3">
                  <c:v>80.998000000000005</c:v>
                </c:pt>
                <c:pt idx="4">
                  <c:v>82.938999999999993</c:v>
                </c:pt>
                <c:pt idx="5">
                  <c:v>84.894999999999996</c:v>
                </c:pt>
                <c:pt idx="6">
                  <c:v>86.95</c:v>
                </c:pt>
                <c:pt idx="7">
                  <c:v>88.908000000000001</c:v>
                </c:pt>
                <c:pt idx="8">
                  <c:v>90.72</c:v>
                </c:pt>
                <c:pt idx="9">
                  <c:v>92.570999999999998</c:v>
                </c:pt>
                <c:pt idx="10">
                  <c:v>94.32</c:v>
                </c:pt>
                <c:pt idx="11">
                  <c:v>96.097999999999999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26-4CCC-8A11-7FEA444A56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Outlook ($M)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76.31</c:v>
                </c:pt>
                <c:pt idx="1">
                  <c:v>77.814999999999998</c:v>
                </c:pt>
                <c:pt idx="2">
                  <c:v>79.504999999999995</c:v>
                </c:pt>
                <c:pt idx="3">
                  <c:v>81.385000000000005</c:v>
                </c:pt>
                <c:pt idx="4">
                  <c:v>83.444999999999993</c:v>
                </c:pt>
                <c:pt idx="5">
                  <c:v>85.308000000000007</c:v>
                </c:pt>
                <c:pt idx="6">
                  <c:v>86.293000000000006</c:v>
                </c:pt>
                <c:pt idx="7">
                  <c:v>87.132999999999996</c:v>
                </c:pt>
                <c:pt idx="8">
                  <c:v>87.828999999999994</c:v>
                </c:pt>
                <c:pt idx="9">
                  <c:v>88.513999999999996</c:v>
                </c:pt>
                <c:pt idx="10">
                  <c:v>89.195999999999998</c:v>
                </c:pt>
                <c:pt idx="11">
                  <c:v>90.292000000000002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26-4CCC-8A11-7FEA444A5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1A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93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SMPL.ai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System for SaaS Finance Teams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578815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33375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·  June 2026  ·  Series 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1/11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2/11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280514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$84.89M  (+0.5%)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37130" y="914400"/>
            <a:ext cx="2280514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6858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6858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$2.20M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6858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$2.32M  (-4.8%)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54219" y="914400"/>
            <a:ext cx="2280514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63947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63947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63947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$31.46M  (+54.0%)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71309" y="914400"/>
            <a:ext cx="2280514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81037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81037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81037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70.0%  (on target)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88398" y="914400"/>
            <a:ext cx="2280514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98126" y="1005840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98126" y="1188720"/>
            <a:ext cx="2061058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98126" y="1627632"/>
            <a:ext cx="2061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$647.5K  (+2.2%)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2029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MATRIX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49424"/>
          <a:ext cx="6583680" cy="23774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vs Bgt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 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vs Bgt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Outlook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Crtd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7086600" y="2029968"/>
            <a:ext cx="4782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86600" y="2249424"/>
            <a:ext cx="4782312" cy="23774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2340864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Ending ARR $85.31M beats budget by +$413K (+0.5%); ARR grew +2.2% MoM from $83.44M in May.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223760" y="2761488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Revenue $2.20M trails budget by -4.8% CM; YTD revenue $11.51M vs $12.09M budget (-4.8%).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223760" y="3182112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Cash $48.43M exceeds budget by +$16.98M (+54.0%); headroom $38.43M above $10M floor.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223760" y="3602736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EBITDA $661.5K beats budget by +$14K (+2.2%); YTD EBITDA $3.87M ahead +$59K vs budget.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223760" y="4023360"/>
            <a:ext cx="4553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FY ARR outlook $90.29M vs $96.10M budget (-6.0%); pipeline coverage 3.0x supports H2 plan.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20040" y="4572000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20040" y="4663440"/>
            <a:ext cx="2859786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29768" y="475488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29768" y="493776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$11.51M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429768" y="537667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$12.09M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216402" y="4663440"/>
            <a:ext cx="2859786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326130" y="475488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326130" y="493776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$3.87M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3326130" y="537667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$3.81M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112764" y="4663440"/>
            <a:ext cx="2859786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222492" y="475488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222492" y="493776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$90.29M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6222492" y="537667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$96.10M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9009126" y="4663440"/>
            <a:ext cx="2859786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118854" y="475488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EOY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9118854" y="493776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2200" dirty="0"/>
          </a:p>
        </p:txBody>
      </p:sp>
      <p:sp>
        <p:nvSpPr>
          <p:cNvPr id="52" name="Text 49"/>
          <p:cNvSpPr/>
          <p:nvPr/>
        </p:nvSpPr>
        <p:spPr>
          <a:xfrm>
            <a:off x="9118854" y="537667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$23.85M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3/11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14400"/>
          <a:ext cx="62179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720840" y="914400"/>
            <a:ext cx="5148072" cy="74980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30568" y="1005840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30568" y="1188720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30568" y="1627632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$84.89M  +0.5%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720840" y="1719072"/>
            <a:ext cx="5148072" cy="74980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30568" y="1810512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30568" y="1993392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830568" y="2432304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$1.77M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720840" y="2523744"/>
            <a:ext cx="5148072" cy="74980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30568" y="2615184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30568" y="2798064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$869.1K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30568" y="3236976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$912.6K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720840" y="3328416"/>
            <a:ext cx="5148072" cy="74980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30568" y="3419856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30568" y="3602736"/>
            <a:ext cx="4928616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$520.2K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30568" y="4041648"/>
            <a:ext cx="4928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$546.2K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20840" y="4224528"/>
            <a:ext cx="5148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BRIDGE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4425696"/>
          <a:ext cx="5148072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$83.44M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$82.94M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New Business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Expansion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$869.1K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$912.6K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Reactivation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Contraction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-$313.7K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-$329.3K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Churn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-$520.2K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-$546.2K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6720840" y="6437376"/>
            <a:ext cx="5148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720840" y="6638544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ARR $85.31M beats budget +$413K; MoM growth +2.2% from $83.44M in May 2026.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720840" y="6967728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Churn $520.2K below budget $546.2K; G$R 99.4% indicates strong retention.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720840" y="7296912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New Business $1.68M slightly below $1.77M budget; pipeline coverage 3.0x.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720840" y="7626096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FY ARR outlook $90.29M vs $96.10M budget; H2 ramp required to close gap.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4/11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$7.72M  (-4.8%)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16402" y="914400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6130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26130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$5.14M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26130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$5.40M  (-4.8%)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12764" y="914400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22492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22492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22492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$647.5K  (+2.2%)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09126" y="914400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18854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(CM)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18854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$409.0K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18854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$393.4K  (+4.0%)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19385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DETAIL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39696"/>
          <a:ext cx="7498080" cy="32918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Var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$39.45M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$41.42M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$29.33M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$13.41M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$808.5K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$857.4K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$647.5K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$110.2K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$409.0K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$393.4K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001000" y="1938528"/>
            <a:ext cx="3867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001000" y="2139696"/>
            <a:ext cx="3867912" cy="32918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138160" y="2231136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Revenue $7.35M trails budget $7.72M by -4.8% CM; YTD $39.45M vs $41.42M budget.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138160" y="2816352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Gross margin 70.0% on target vs budget; YTD 70.8% consistent with FY outlook.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138160" y="3401568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EBITDA $661.5K beats budget by +$14K (+2.2%); opex underspend drives outperformance.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138160" y="3986784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S&amp;M spend $2.50M vs $2.65M budget (-5.7%); efficiency improving MoM vs May 2026.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138160" y="4572000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Net income $409.0K exceeds budget $393.4K by +4.0%; YTD net income $2.43M ahead.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5/11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BRIDGE — JUNE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475488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$48.02M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-$2.47M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-$4.00M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Payments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-$3.66M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-$199.9K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-$370.8K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-$220.0K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-$220.0K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$31.46M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8130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SUMMARY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4014216"/>
            <a:ext cx="4754880" cy="7315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41056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Collections: $58.82M  ·  YTD Ending Cash: $48.43M  ·  Budget: $23.85M  ·  Variance: +$24.58M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257800" y="914400"/>
            <a:ext cx="3268980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67528" y="100584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67528" y="118872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67528" y="162763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$31.46M  (+54.0%)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599932" y="914400"/>
            <a:ext cx="3268980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09660" y="100584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HEADROOM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709660" y="118872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$38.43M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709660" y="162763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$10M floor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57800" y="1965960"/>
            <a:ext cx="3268980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67528" y="205740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67528" y="224028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$6.81M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367528" y="267919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$8.91M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599932" y="1965960"/>
            <a:ext cx="3268980" cy="9601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709660" y="2057400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OUTLOOK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709660" y="2240280"/>
            <a:ext cx="3049524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709660" y="2679192"/>
            <a:ext cx="30495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$23.85M  (+109.3%)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57800" y="3108960"/>
            <a:ext cx="661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257800" y="3310128"/>
            <a:ext cx="6611112" cy="25603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394960" y="34015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Ending cash $48.43M exceeds budget by +$16.98M (+54.0%); cash declined -26.7% MoM from $66.04M in May.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94960" y="38587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Cash headroom $38.43M above $10M floor; FY outlook $49.92M vs budget $23.85M (+109.3%).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94960" y="43159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Payroll $2.47M vs budget $4.00M (-38.3%); vendor payments $3.66M above budget $1.40M.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394960" y="47731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Collections $6.81M below budget $8.91M; YTD collections $58.82M support H2 runway.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394960" y="5230368"/>
            <a:ext cx="6382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Capex $220.0K on budget; commissions $199.9K vs budget $370.8K (-46.1%) reflects pipeline timing.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6/11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859786" cy="86868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$57.03M  (-79.9% YTD)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16402" y="914400"/>
            <a:ext cx="2859786" cy="86868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6130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MQLs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26130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26130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12764" y="914400"/>
            <a:ext cx="2859786" cy="86868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22492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22492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$1.80M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22492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09126" y="914400"/>
            <a:ext cx="2859786" cy="86868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18854" y="1005840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 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18854" y="1188720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18854" y="1627632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18745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CHANNELS BY SPEND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75688"/>
          <a:ext cx="11548872" cy="1737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($M)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($M)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($M)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Syndication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5" name="Chart 0"/>
          <p:cNvGraphicFramePr/>
          <p:nvPr/>
        </p:nvGraphicFramePr>
        <p:xfrm>
          <a:off x="320040" y="3950208"/>
          <a:ext cx="11548872" cy="2221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7/11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 Analysis — YTD Jan–Jun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3788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3788664" cy="2560320"/>
        </p:xfrm>
        <a:graphic>
          <a:graphicData uri="http://schemas.openxmlformats.org/drawingml/2006/table">
            <a:tbl>
              <a:tblPr/>
              <a:tblGrid>
                <a:gridCol w="1818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$12.15M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$144.8K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200144" y="914400"/>
            <a:ext cx="3788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0144" y="1115568"/>
          <a:ext cx="3788664" cy="2560320"/>
        </p:xfrm>
        <a:graphic>
          <a:graphicData uri="http://schemas.openxmlformats.org/drawingml/2006/table">
            <a:tbl>
              <a:tblPr/>
              <a:tblGrid>
                <a:gridCol w="1818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8080248" y="914400"/>
            <a:ext cx="3788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2026</a:t>
            </a:r>
            <a:endParaRPr lang="en-US" sz="9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0248" y="1115568"/>
          <a:ext cx="3788664" cy="2560320"/>
        </p:xfrm>
        <a:graphic>
          <a:graphicData uri="http://schemas.openxmlformats.org/drawingml/2006/table">
            <a:tbl>
              <a:tblPr/>
              <a:tblGrid>
                <a:gridCol w="1818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$9.30M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$290.8K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320040" y="3813048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SUMMARY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20040" y="4014216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429768" y="4105656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29768" y="4288536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3.0x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29768" y="4727448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FY ARR budget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216402" y="4014216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326130" y="4105656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PIPELINE CREATED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326130" y="4288536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$27.90M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3326130" y="4727448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+ Q2 combined</a:t>
            </a:r>
            <a:endParaRPr lang="en-US" sz="800" dirty="0"/>
          </a:p>
        </p:txBody>
      </p:sp>
      <p:sp>
        <p:nvSpPr>
          <p:cNvPr id="12" name="Shape 17"/>
          <p:cNvSpPr/>
          <p:nvPr/>
        </p:nvSpPr>
        <p:spPr>
          <a:xfrm>
            <a:off x="6112764" y="4014216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222492" y="4105656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CLOSED WON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222492" y="4288536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$9.30M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222492" y="4727448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+ Q2 combined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9009126" y="4014216"/>
            <a:ext cx="2859786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9118854" y="4105656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SPEND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9118854" y="4288536"/>
            <a:ext cx="264033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$290.8K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9118854" y="4727448"/>
            <a:ext cx="26403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+ Q2 combined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20040" y="506577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20040" y="5266944"/>
            <a:ext cx="11548872" cy="100584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57200" y="5340096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YTD MQLs 721 with 87 opportunities created; Q2 MQLs 359 slightly below Q1 362 (-0.8% MoM trend).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457200" y="5559552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YTD closed won $9.30M from $27.90M pipeline; pipeline coverage 3.0x supports H2 ARR ramp.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457200" y="5779008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YTD spend $290.8K generating $27.90M pipeline; blended efficiency 96x pipeline-to-spend ratio.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457200" y="5998464"/>
            <a:ext cx="11320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Q2 pipeline $15.75M exceeds Q1 $12.15M (+29.6%); forward implication: H2 conversion critical to FY plan.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8/11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56372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54864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1170432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9768" y="133502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Pipeline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1536192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 pipeline $9.87M requires next-quarter coverage review and re-staging.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188366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Re-stage opportunities with validated next steps and owners.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" y="2103120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$9.87M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54864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468880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9768" y="263347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Budget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2834640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trailed budget -4.8% CM; validate expansion timing and churn pockets.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31821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expansion timing and churn pockets before board distribution.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768" y="3401568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-$110.2K CM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712464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712464"/>
            <a:ext cx="54864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" y="3767328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9768" y="393192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Validation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4133088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status: FAIL. Missing Forecast ARR waterfall rows for 2026-06.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9768" y="448056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Finance to certify waterfall and GL reconciliations before distribution.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768" y="4700016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 integrity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5010912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5010912"/>
            <a:ext cx="54864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" y="5065776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9768" y="523036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YTD Gap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" y="5431536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pipeline created $5.40M vs budget $26.91M (-79.9%); H2 coverage at risk.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9768" y="577900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Accelerate demand gen and channel reallocation in H2 GTM plan.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9768" y="5998464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-$21.51M YTD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31636" y="914400"/>
            <a:ext cx="56372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31636" y="1115568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31636" y="1115568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41364" y="1170432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41364" y="133502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Outperformance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1364" y="1536192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$48.43M exceeds budget by +$16.98M (+54.0%); FY outlook $49.92M.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41364" y="1883664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Confirm ending cash ties to balance sheet; deploy excess for strategic initiatives.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41364" y="2103120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+$16.98M vs budget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31636" y="2414016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31636" y="2414016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41364" y="2468880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41364" y="263347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41364" y="2834640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 $3.87M ahead of budget; opex underspend -5.7% across S&amp;M, R&amp;D, G&amp;A.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41364" y="31821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Maintain opex discipline through H2; reinvest savings into pipeline acceleration.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41364" y="3401568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+$59.1K YTD EBITDA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31636" y="3712464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231636" y="3712464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41364" y="3767328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341364" y="393192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Efficiency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41364" y="4133088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win rate 23.8% — highest of all channels; 81.2x pipeline/spend.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41364" y="4480560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Increase content investment to scale highest-efficiency channel in H2.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341364" y="4700016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23.8% win rate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31636" y="5010912"/>
            <a:ext cx="5637276" cy="123444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31636" y="5010912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41364" y="5065776"/>
            <a:ext cx="54543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341364" y="523036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Retention Strength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341364" y="5431536"/>
            <a:ext cx="5454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G$R 99.4% indicates strong base retention; churn $520.2K below budget $546.2K.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41364" y="5779008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Leverage retention strength in expansion motion to close FY ARR gap vs budget.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341364" y="5998464"/>
            <a:ext cx="54543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G$R 99.4%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9/11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 — FY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14400"/>
          <a:ext cx="6858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6118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OUTLOOK SUMMARY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13048"/>
          <a:ext cx="6858000" cy="1737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Outlook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 (Dec EoY)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$96.10M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— never sum monthly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$26.54M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= Actual closed + Forecast open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Gross Margin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and budget GM% computed independently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 (Dec EoY)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ending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60920" y="914400"/>
            <a:ext cx="4507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PRIORITIES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360920" y="1115568"/>
            <a:ext cx="4507992" cy="93268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360920" y="1115568"/>
            <a:ext cx="45720" cy="9326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70648" y="118872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&amp; GTM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470648" y="140817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 $90.29M vs $96.10M budget; pipeline coverage 3.0x must convert in H2.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360920" y="2121408"/>
            <a:ext cx="4507992" cy="93268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60920" y="2121408"/>
            <a:ext cx="45720" cy="9326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470648" y="219456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470648" y="241401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gross margin 70.8% on track; EBITDA $3.87M ahead of budget by +$59.1K.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360920" y="3127248"/>
            <a:ext cx="4507992" cy="93268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360920" y="3127248"/>
            <a:ext cx="45720" cy="9326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470648" y="320040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Runway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470648" y="341985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$48.43M; FY cash outlook $49.92M vs budget $23.85M (+109.3%).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7360920" y="4133088"/>
            <a:ext cx="4507992" cy="932688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360920" y="4133088"/>
            <a:ext cx="45720" cy="9326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470648" y="4206240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470648" y="44256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EOY headcount forecast 16; open reqs 0 currently; hiring plan approval required.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7360920" y="5230368"/>
            <a:ext cx="4507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360920" y="5431536"/>
            <a:ext cx="4507992" cy="118872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470648" y="5504688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FY ARR outlook $90.29M vs $96.10M budget (-6.0%); H2 net new ARR must accelerate.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7470648" y="5760720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FY gross margin outlook 70.4% vs budget 70.9% — computed independently, not copied.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470648" y="6016752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Cash outlook $49.92M vs budget $23.85M (+109.3%); strong liquidity supports H2 investment.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70648" y="6272784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FY EBITDA outlook $7.46M vs $7.79M budget (-4.2%); revenue shortfall partially offset by opex.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10/11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 — Q2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5682996" cy="22860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68299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1161288"/>
            <a:ext cx="1280160" cy="237744"/>
          </a:xfrm>
          <a:prstGeom prst="rect">
            <a:avLst/>
          </a:prstGeom>
          <a:solidFill>
            <a:srgbClr val="0D1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11612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167335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June 2026 Financial Close Package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the June 2026 financial close package including ARR waterfall, income statement, cash flow statement, and all supporting reconciliations. Validation status requires CFO certification prior to distribution.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 ·  Due: Board meeting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85916" y="960120"/>
            <a:ext cx="5682996" cy="22860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5916" y="960120"/>
            <a:ext cx="568299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23076" y="1097280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3076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17436" y="1161288"/>
            <a:ext cx="1280160" cy="237744"/>
          </a:xfrm>
          <a:prstGeom prst="rect">
            <a:avLst/>
          </a:prstGeom>
          <a:solidFill>
            <a:srgbClr val="0D1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17436" y="11612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23076" y="167335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Updated FY ARR Outlook and GTM 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3076" y="214884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revised FY 2026 ARR outlook of $90.29M vs $96.10M budget (-6.0%). Align on H2 GTM acceleration plan including pipeline coverage targets, channel reallocation, and closed won ARR requirements.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23076" y="295351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CEO / CRO  ·  Due: Next board cycle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5682996" cy="22860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429000"/>
            <a:ext cx="568299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51560" y="3630168"/>
            <a:ext cx="1280160" cy="237744"/>
          </a:xfrm>
          <a:prstGeom prst="rect">
            <a:avLst/>
          </a:prstGeom>
          <a:solidFill>
            <a:srgbClr val="0D1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36301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414223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Headcount and Hiring Plan Adjustments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EOY headcount forecast of 16 FTEs. Current headcount data shows zero actuals — verify workforce tables and approve any open requisitions and hiring plan adjustments for H2 2026.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542239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CHRO  ·  Due: Next board cycle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85916" y="3429000"/>
            <a:ext cx="5682996" cy="22860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85916" y="3429000"/>
            <a:ext cx="568299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23076" y="3566160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23076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917436" y="3630168"/>
            <a:ext cx="1280160" cy="237744"/>
          </a:xfrm>
          <a:prstGeom prst="rect">
            <a:avLst/>
          </a:prstGeom>
          <a:solidFill>
            <a:srgbClr val="0D152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17436" y="36301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23076" y="4142232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and Channel Efficiency Reallocation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23076" y="4617720"/>
            <a:ext cx="54543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YTD pipeline created $5.40M vs $26.91M budget (-79.9%). Review channel efficiency data: Outbound 96.1x, Organic Search 81.2x. Determine reallocation strategy to close H2 pipeline gap of $51.63M vs FY budget.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23076" y="5422392"/>
            <a:ext cx="54543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CRO  ·  Due: Operating review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11/11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Flow Statement — Jan–Jun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11548872" cy="512064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Variance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$45.30M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$46.77M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ACTIVITIES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+$70.0K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-$29.5K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Stock-Based Compensation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-$1.88M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+$4.07M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Deferred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-$17.2K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$373.5K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$917.7K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-$544.2K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Prepaids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Operations (CFO)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+$3.55M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ACTIVITIES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+$16.8K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Investing (CFI)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+$16.8K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ACTIVITIES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Financing (CFF)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+$3.57M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$48.17M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+$2.09M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2515</Words>
  <Application>Microsoft Office PowerPoint</Application>
  <PresentationFormat>Widescreen</PresentationFormat>
  <Paragraphs>623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Matt Justice</cp:lastModifiedBy>
  <cp:revision>1</cp:revision>
  <dcterms:created xsi:type="dcterms:W3CDTF">2026-06-28T19:39:19Z</dcterms:created>
  <dcterms:modified xsi:type="dcterms:W3CDTF">2026-06-28T20:10:33Z</dcterms:modified>
</cp:coreProperties>
</file>