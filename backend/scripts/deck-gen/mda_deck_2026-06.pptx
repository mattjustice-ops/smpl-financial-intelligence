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($M)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Beginning ARR</c:v>
                  </c:pt>
                  <c:pt idx="1">
                    <c:v>+ New Business</c:v>
                  </c:pt>
                  <c:pt idx="2">
                    <c:v>+ Expansion</c:v>
                  </c:pt>
                  <c:pt idx="3">
                    <c:v>+ Reactivation</c:v>
                  </c:pt>
                  <c:pt idx="4">
                    <c:v>− Contraction</c:v>
                  </c:pt>
                  <c:pt idx="5">
                    <c:v>− Churn</c:v>
                  </c:pt>
                  <c:pt idx="6">
                    <c:v>Ending ARR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83.445</c:v>
                </c:pt>
                <c:pt idx="1">
                  <c:v>1.685</c:v>
                </c:pt>
                <c:pt idx="2">
                  <c:v>0.869</c:v>
                </c:pt>
                <c:pt idx="3">
                  <c:v>0.143</c:v>
                </c:pt>
                <c:pt idx="4">
                  <c:v>-0.314</c:v>
                </c:pt>
                <c:pt idx="5">
                  <c:v>-0.52</c:v>
                </c:pt>
                <c:pt idx="6">
                  <c:v>85.308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($M)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Beginning ARR</c:v>
                  </c:pt>
                  <c:pt idx="1">
                    <c:v>+ New Business</c:v>
                  </c:pt>
                  <c:pt idx="2">
                    <c:v>+ Expansion</c:v>
                  </c:pt>
                  <c:pt idx="3">
                    <c:v>+ Reactivation</c:v>
                  </c:pt>
                  <c:pt idx="4">
                    <c:v>− Contraction</c:v>
                  </c:pt>
                  <c:pt idx="5">
                    <c:v>− Churn</c:v>
                  </c:pt>
                  <c:pt idx="6">
                    <c:v>Ending ARR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82.939</c:v>
                </c:pt>
                <c:pt idx="1">
                  <c:v>1.769</c:v>
                </c:pt>
                <c:pt idx="2">
                  <c:v>0.913</c:v>
                </c:pt>
                <c:pt idx="3">
                  <c:v>0.15</c:v>
                </c:pt>
                <c:pt idx="4">
                  <c:v>-0.329</c:v>
                </c:pt>
                <c:pt idx="5">
                  <c:v>-0.546</c:v>
                </c:pt>
                <c:pt idx="6">
                  <c:v>84.895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ARR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 ($M)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Paid Social</c:v>
                  </c:pt>
                  <c:pt idx="1">
                    <c:v>Paid Search</c:v>
                  </c:pt>
                  <c:pt idx="2">
                    <c:v>Content Synd.</c:v>
                  </c:pt>
                  <c:pt idx="3">
                    <c:v>Organic Search</c:v>
                  </c:pt>
                  <c:pt idx="4">
                    <c:v>Outbound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0.5236</c:v>
                </c:pt>
                <c:pt idx="1">
                  <c:v>0.508</c:v>
                </c:pt>
                <c:pt idx="2">
                  <c:v>0.3103</c:v>
                </c:pt>
                <c:pt idx="3">
                  <c:v>0.4435</c:v>
                </c:pt>
                <c:pt idx="4">
                  <c:v>0.4844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Spend ($M)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Paid Social</c:v>
                  </c:pt>
                  <c:pt idx="1">
                    <c:v>Paid Search</c:v>
                  </c:pt>
                  <c:pt idx="2">
                    <c:v>Content Synd.</c:v>
                  </c:pt>
                  <c:pt idx="3">
                    <c:v>Organic Search</c:v>
                  </c:pt>
                  <c:pt idx="4">
                    <c:v>Outbound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0.0118</c:v>
                </c:pt>
                <c:pt idx="1">
                  <c:v>0.008</c:v>
                </c:pt>
                <c:pt idx="2">
                  <c:v>0.0071</c:v>
                </c:pt>
                <c:pt idx="3">
                  <c:v>0.0055</c:v>
                </c:pt>
                <c:pt idx="4">
                  <c:v>0.005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($M)</c:v>
                </c:pt>
              </c:strCache>
            </c:strRef>
          </c:tx>
          <c:spPr>
            <a:solidFill>
              <a:srgbClr val="00D4AA"/>
            </a:solidFill>
            <a:ln w="25400" cap="flat">
              <a:solidFill>
                <a:srgbClr val="00D4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D4AA"/>
              </a:solidFill>
              <a:ln w="9525" cap="flat">
                <a:solidFill>
                  <a:srgbClr val="00D4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76.31</c:v>
                </c:pt>
                <c:pt idx="1">
                  <c:v>77.815</c:v>
                </c:pt>
                <c:pt idx="2">
                  <c:v>79.505</c:v>
                </c:pt>
                <c:pt idx="3">
                  <c:v>81.385</c:v>
                </c:pt>
                <c:pt idx="4">
                  <c:v>83.445</c:v>
                </c:pt>
                <c:pt idx="5">
                  <c:v>85.308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($M)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76.226</c:v>
                </c:pt>
                <c:pt idx="1">
                  <c:v>77.639</c:v>
                </c:pt>
                <c:pt idx="2">
                  <c:v>79.228</c:v>
                </c:pt>
                <c:pt idx="3">
                  <c:v>80.998</c:v>
                </c:pt>
                <c:pt idx="4">
                  <c:v>82.939</c:v>
                </c:pt>
                <c:pt idx="5">
                  <c:v>84.895</c:v>
                </c:pt>
                <c:pt idx="6">
                  <c:v>86.95</c:v>
                </c:pt>
                <c:pt idx="7">
                  <c:v>88.908</c:v>
                </c:pt>
                <c:pt idx="8">
                  <c:v>90.72</c:v>
                </c:pt>
                <c:pt idx="9">
                  <c:v>92.571</c:v>
                </c:pt>
                <c:pt idx="10">
                  <c:v>94.32</c:v>
                </c:pt>
                <c:pt idx="11">
                  <c:v>96.098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Outlook ($M)</c:v>
                </c:pt>
              </c:strCache>
            </c:strRef>
          </c:tx>
          <c:spPr>
            <a:solidFill>
              <a:srgbClr val="6B8CA8"/>
            </a:solidFill>
            <a:ln w="25400" cap="flat">
              <a:solidFill>
                <a:srgbClr val="6B8C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B8CA8"/>
              </a:solidFill>
              <a:ln w="9525" cap="flat">
                <a:solidFill>
                  <a:srgbClr val="6B8C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76.31</c:v>
                </c:pt>
                <c:pt idx="1">
                  <c:v>77.815</c:v>
                </c:pt>
                <c:pt idx="2">
                  <c:v>79.505</c:v>
                </c:pt>
                <c:pt idx="3">
                  <c:v>81.385</c:v>
                </c:pt>
                <c:pt idx="4">
                  <c:v>83.445</c:v>
                </c:pt>
                <c:pt idx="5">
                  <c:v>85.308</c:v>
                </c:pt>
                <c:pt idx="6">
                  <c:v>86.293</c:v>
                </c:pt>
                <c:pt idx="7">
                  <c:v>87.133</c:v>
                </c:pt>
                <c:pt idx="8">
                  <c:v>87.829</c:v>
                </c:pt>
                <c:pt idx="9">
                  <c:v>88.514</c:v>
                </c:pt>
                <c:pt idx="10">
                  <c:v>89.196</c:v>
                </c:pt>
                <c:pt idx="11">
                  <c:v>90.292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Ending ARR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SMPL.ai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260604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Operating System for SaaS Finance Teams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3375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Operating Review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0" y="40690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 ·  June 2026  ·  Series 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1/11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June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2/11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9768" y="1005840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ARR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29768" y="1188720"/>
            <a:ext cx="20610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$85.31M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9768" y="1627632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 $84.89M  (+0.5%)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6858" y="1005840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(CM)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46858" y="1188720"/>
            <a:ext cx="20610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$2.20M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6858" y="1627632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 $2.32M  (-4.8%)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63947" y="1005840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63947" y="1188720"/>
            <a:ext cx="20610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$48.43M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63947" y="1627632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 $31.46M  (+54.0%)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381037" y="1005840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381037" y="1188720"/>
            <a:ext cx="20610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81037" y="1627632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 70.0%  (on target)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698126" y="1005840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(CM)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698126" y="1188720"/>
            <a:ext cx="20610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$661.5K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98126" y="1627632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 $647.5K  (+2.2%)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0040" y="20299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MATRIX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49424"/>
          <a:ext cx="6583680" cy="2377440"/>
        </p:xfrm>
        <a:graphic>
          <a:graphicData uri="http://schemas.openxmlformats.org/drawingml/2006/table">
            <a:tbl>
              <a:tblPr/>
              <a:tblGrid>
                <a:gridCol w="940526"/>
                <a:gridCol w="940526"/>
                <a:gridCol w="940526"/>
                <a:gridCol w="940526"/>
                <a:gridCol w="940526"/>
                <a:gridCol w="940526"/>
                <a:gridCol w="940526"/>
              </a:tblGrid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vs Bgt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QTD 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vs Bgt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Outlook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$90.29M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$6.18M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$11.51M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$25.88M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$661.5K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$7.46M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+54.0%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+54.0%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$49.92M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Crtd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-79.9%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7086600" y="2029968"/>
            <a:ext cx="4782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223760" y="2340864"/>
            <a:ext cx="45537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Ending ARR $85.31M beats budget by +$413K (+0.5%); ARR grew +2.2% MoM from $83.44M in May.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223760" y="2761488"/>
            <a:ext cx="45537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Revenue $2.20M trails budget by -4.8% CM; YTD revenue $11.51M vs $12.09M budget (-4.8%).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223760" y="3182112"/>
            <a:ext cx="45537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Cash $48.43M exceeds budget by +$16.98M (+54.0%); headroom $38.43M above $10M floor.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223760" y="3602736"/>
            <a:ext cx="45537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EBITDA $661.5K beats budget by +$14K (+2.2%); YTD EBITDA $3.87M ahead +$59K vs budget.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223760" y="4023360"/>
            <a:ext cx="45537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FY ARR outlook $90.29M vs $96.10M budget (-6.0%); pipeline coverage 3.0x supports H2 plan.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29768" y="4754880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REVENUE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29768" y="4937760"/>
            <a:ext cx="26407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$11.51M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429768" y="5376672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$12.09M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3326587" y="4754880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EBITDA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326587" y="4937760"/>
            <a:ext cx="26407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$3.87M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3326587" y="5376672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$3.81M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6222492" y="4754880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ARR OUTLOOK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222492" y="4937760"/>
            <a:ext cx="26407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$90.29M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6222492" y="5376672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$96.10M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119311" y="4754880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CASH EOY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9119311" y="4937760"/>
            <a:ext cx="26407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$49.92M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9119311" y="5376672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$23.85M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ANALYSIS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Analysis — June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3/11</a:t>
            </a:r>
            <a:endParaRPr lang="en-US" sz="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914400"/>
          <a:ext cx="62179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30568" y="1005840"/>
            <a:ext cx="4928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ARR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830568" y="1188720"/>
            <a:ext cx="4928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$85.31M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30568" y="1627632"/>
            <a:ext cx="4928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$84.89M  +0.5%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830568" y="1810512"/>
            <a:ext cx="4928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ARR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830568" y="1993392"/>
            <a:ext cx="4928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$1.68M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30568" y="2432304"/>
            <a:ext cx="4928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$1.77M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830568" y="2615184"/>
            <a:ext cx="4928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830568" y="2798064"/>
            <a:ext cx="4928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$869.1K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830568" y="3236976"/>
            <a:ext cx="4928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$912.6K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830568" y="3419856"/>
            <a:ext cx="4928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830568" y="3602736"/>
            <a:ext cx="4928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$520.2K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830568" y="4041648"/>
            <a:ext cx="4928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$546.2K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720840" y="4224528"/>
            <a:ext cx="5148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BRIDGE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4425696"/>
          <a:ext cx="5148072" cy="1920240"/>
        </p:xfrm>
        <a:graphic>
          <a:graphicData uri="http://schemas.openxmlformats.org/drawingml/2006/table">
            <a:tbl>
              <a:tblPr/>
              <a:tblGrid>
                <a:gridCol w="1716024"/>
                <a:gridCol w="1716024"/>
                <a:gridCol w="1716024"/>
              </a:tblGrid>
              <a:tr h="240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$83.44M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$82.94M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New Business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Expansion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$869.1K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$912.6K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Reactivation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$142.9K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Contraction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-$313.7K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-$329.3K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Churn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-$520.2K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-$546.2K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$84.89M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720840" y="6437376"/>
            <a:ext cx="5148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720840" y="6638544"/>
            <a:ext cx="514807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ARR $85.31M beats budget +$413K; MoM growth +2.2% from $83.44M in May 2026.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720840" y="6967728"/>
            <a:ext cx="514807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Churn $520.2K below budget $546.2K; G$R 99.4% indicates strong retention.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720840" y="7296912"/>
            <a:ext cx="514807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New Business $1.68M slightly below $1.77M budget; pipeline coverage 3.0x.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6720840" y="7626096"/>
            <a:ext cx="514807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FY ARR outlook $90.29M vs $96.10M budget; H2 ramp required to close gap.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Review — June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4/11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9768" y="1005840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(CM)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29768" y="1188720"/>
            <a:ext cx="26407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$7.35M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9768" y="1627632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$7.72M  (-4.8%)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326587" y="1005840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26587" y="1188720"/>
            <a:ext cx="26407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$5.14M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26587" y="1627632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$5.40M  (-4.8%)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222492" y="1005840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(CM)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222492" y="1188720"/>
            <a:ext cx="26407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$661.5K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22492" y="1627632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$647.5K  (+2.2%)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119311" y="1005840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(CM)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119311" y="1188720"/>
            <a:ext cx="26407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$409.0K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19311" y="1627632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$393.4K  (+4.0%)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0040" y="19385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 DETAIL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01000" y="1938528"/>
            <a:ext cx="3867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39696"/>
          <a:ext cx="7498080" cy="3291840"/>
        </p:xfrm>
        <a:graphic>
          <a:graphicData uri="http://schemas.openxmlformats.org/drawingml/2006/table">
            <a:tbl>
              <a:tblPr/>
              <a:tblGrid>
                <a:gridCol w="1071154"/>
                <a:gridCol w="1071154"/>
                <a:gridCol w="1071154"/>
                <a:gridCol w="1071154"/>
                <a:gridCol w="1071154"/>
                <a:gridCol w="1071154"/>
                <a:gridCol w="1071154"/>
              </a:tblGrid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Var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Var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$7.35M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$7.72M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$39.45M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$41.42M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$11.51M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$5.14M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$27.94M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$29.33M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$13.41M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$14.22M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$6.31M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$6.69M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G&amp;A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$808.5K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$857.4K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$4.60M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$661.5K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$647.5K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D&amp;A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$110.2K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$115.8K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$591.8K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$621.3K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$409.0K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$393.4K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8138160" y="2231136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Revenue $7.35M trails budget $7.72M by -4.8% CM; YTD $39.45M vs $41.42M budget.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138160" y="2816352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Gross margin 70.0% on target vs budget; YTD 70.8% consistent with FY outlook.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138160" y="3401568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EBITDA $661.5K beats budget by +$14K (+2.2%); opex underspend drives outperformance.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138160" y="3986784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S&amp;M spend $2.50M vs $2.65M budget (-5.7%); efficiency improving MoM vs May 2026.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138160" y="4572000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Net income $409.0K exceeds budget $393.4K by +4.0%; YTD net income $2.43M ahead.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LIQUIDITY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Liquidity — June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5/11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BRIDGE — JUNE 2026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4754880" cy="2560320"/>
        </p:xfrm>
        <a:graphic>
          <a:graphicData uri="http://schemas.openxmlformats.org/drawingml/2006/table">
            <a:tbl>
              <a:tblPr/>
              <a:tblGrid>
                <a:gridCol w="1584960"/>
                <a:gridCol w="1584960"/>
                <a:gridCol w="158496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 Cash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$48.02M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$29.60M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$6.81M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$8.91M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-$2.47M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-$4.00M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Payments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-$3.66M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-$1.40M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-$199.9K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-$370.8K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-$220.0K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-$220.0K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$31.46M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367528" y="1005840"/>
            <a:ext cx="30495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367528" y="1188720"/>
            <a:ext cx="30495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$48.43M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367528" y="1627632"/>
            <a:ext cx="30495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$31.46M  (+54.0%)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709660" y="1005840"/>
            <a:ext cx="30495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HEADROOM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709660" y="1188720"/>
            <a:ext cx="30495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$38.43M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709660" y="1627632"/>
            <a:ext cx="30495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$10M floor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67528" y="2057400"/>
            <a:ext cx="30495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367528" y="2240280"/>
            <a:ext cx="30495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$6.81M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367528" y="2679192"/>
            <a:ext cx="30495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$8.91M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8709660" y="2057400"/>
            <a:ext cx="30495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CASH OUTLOOK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709660" y="2240280"/>
            <a:ext cx="30495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$49.92M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709660" y="2679192"/>
            <a:ext cx="30495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$23.85M  (+109.3%)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257800" y="3108960"/>
            <a:ext cx="6611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94960" y="3401568"/>
            <a:ext cx="638251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Ending cash $48.43M exceeds budget by +$16.98M (+54.0%); cash declined -26.7% MoM from $66.04M in May.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394960" y="3858768"/>
            <a:ext cx="638251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Cash headroom $38.43M above $10M floor; FY outlook $49.92M vs budget $23.85M (+109.3%).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394960" y="4315968"/>
            <a:ext cx="638251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Payroll $2.47M vs budget $4.00M (-38.3%); vendor payments $3.66M above budget $1.40M.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94960" y="4773168"/>
            <a:ext cx="638251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Collections $6.81M below budget $8.91M; YTD collections $58.82M support H2 runway.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94960" y="5230368"/>
            <a:ext cx="638251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Capex $220.0K on budget; commissions $199.9K vs budget $370.8K (-46.1%) reflects pipeline timing.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20040" y="381304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CASH SUMMARY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57200" y="410565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Collections: $58.82M  ·  YTD Ending Cash: $48.43M  ·  Budget: $23.85M  ·  Variance: +$24.58M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PERFORMANCE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Performance — June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6/11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9768" y="1005840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CREATED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29768" y="1188720"/>
            <a:ext cx="26407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$5.40M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9768" y="1627632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$57.03M  (-79.9% YTD)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326587" y="1005840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MQLs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26587" y="1188720"/>
            <a:ext cx="26407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26587" y="1627632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222492" y="1005840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222492" y="1188720"/>
            <a:ext cx="26407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$1.80M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22492" y="1627632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119311" y="1005840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WIN RATE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119311" y="1188720"/>
            <a:ext cx="26407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19311" y="1627632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0040" y="18745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CHANNELS BY SPEND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75688"/>
          <a:ext cx="11548872" cy="1737360"/>
        </p:xfrm>
        <a:graphic>
          <a:graphicData uri="http://schemas.openxmlformats.org/drawingml/2006/table">
            <a:tbl>
              <a:tblPr/>
              <a:tblGrid>
                <a:gridCol w="1649839"/>
                <a:gridCol w="1649839"/>
                <a:gridCol w="1649839"/>
                <a:gridCol w="1649839"/>
                <a:gridCol w="1649839"/>
                <a:gridCol w="1649839"/>
                <a:gridCol w="1649839"/>
              </a:tblGrid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($M)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($M)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($M)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Social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44.5x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Search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63.7x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Syndication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Search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 0" descr=""/>
          <p:cNvGraphicFramePr/>
          <p:nvPr/>
        </p:nvGraphicFramePr>
        <p:xfrm>
          <a:off x="320040" y="3950208"/>
          <a:ext cx="11548872" cy="2221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FUNNEL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Funnel Analysis — YTD Jan–Jun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7/11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37883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3788359" cy="2560320"/>
        </p:xfrm>
        <a:graphic>
          <a:graphicData uri="http://schemas.openxmlformats.org/drawingml/2006/table">
            <a:tbl>
              <a:tblPr/>
              <a:tblGrid>
                <a:gridCol w="1262786"/>
                <a:gridCol w="1262786"/>
                <a:gridCol w="1262786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$12.15M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Won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99839" y="914400"/>
            <a:ext cx="37883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99839" y="1115568"/>
          <a:ext cx="3788359" cy="2560320"/>
        </p:xfrm>
        <a:graphic>
          <a:graphicData uri="http://schemas.openxmlformats.org/drawingml/2006/table">
            <a:tbl>
              <a:tblPr/>
              <a:tblGrid>
                <a:gridCol w="1262786"/>
                <a:gridCol w="1262786"/>
                <a:gridCol w="1262786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$15.75M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Won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$5.25M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$146.0K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080553" y="914400"/>
            <a:ext cx="37883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JAN–JUN 2026</a:t>
            </a:r>
            <a:endParaRPr lang="en-US" sz="8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80553" y="1115568"/>
          <a:ext cx="3788359" cy="2560320"/>
        </p:xfrm>
        <a:graphic>
          <a:graphicData uri="http://schemas.openxmlformats.org/drawingml/2006/table">
            <a:tbl>
              <a:tblPr/>
              <a:tblGrid>
                <a:gridCol w="1262786"/>
                <a:gridCol w="1262786"/>
                <a:gridCol w="1262786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$27.90M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Won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$9.30M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$290.8K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320040" y="3813048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COVERAGE SUMMARY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429768" y="4105656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COVERAGE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429768" y="4288536"/>
            <a:ext cx="26407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3.0x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429768" y="4727448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FY ARR budget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3326587" y="4105656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PIPELINE CREATED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3326587" y="4288536"/>
            <a:ext cx="26407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$27.90M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3326587" y="4727448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+ Q2 combined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6222492" y="4105656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CLOSED WON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6222492" y="4288536"/>
            <a:ext cx="26407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$9.30M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222492" y="4727448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+ Q2 combined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9119311" y="4105656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SPEND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9119311" y="4288536"/>
            <a:ext cx="26407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$290.8K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9119311" y="4727448"/>
            <a:ext cx="26407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+ Q2 combined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320040" y="5065776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457200" y="5340096"/>
            <a:ext cx="113202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YTD MQLs 721 with 87 opportunities created; Q2 MQLs 359 slightly below Q1 362 (-0.8% MoM trend).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57200" y="5559552"/>
            <a:ext cx="113202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YTD closed won $9.30M from $27.90M pipeline; pipeline coverage 3.0x supports H2 ARR ramp.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57200" y="5779008"/>
            <a:ext cx="113202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YTD spend $290.8K generating $27.90M pipeline; blended efficiency 96x pipeline-to-spend ratio.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57200" y="5998464"/>
            <a:ext cx="113202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Q2 pipeline $15.75M exceeds Q1 $12.15M (+29.6%); forward implication: H2 conversion critical to FY plan.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ASSESSMENT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Opportunities — June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8/11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56372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231636" y="914400"/>
            <a:ext cx="56372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29768" y="1170432"/>
            <a:ext cx="54543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29768" y="1335024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Pipeline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536192"/>
            <a:ext cx="5454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Slipped pipeline $9.87M requires next-quarter coverage review and re-staging.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9768" y="1883664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Re-stage opportunities with validated next steps and owners.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29768" y="2103120"/>
            <a:ext cx="54543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$9.87M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29768" y="2468880"/>
            <a:ext cx="54543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9768" y="2633472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Budget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2834640"/>
            <a:ext cx="5454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trailed budget -4.8% CM; validate expansion timing and churn pockets.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9768" y="3182112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Review expansion timing and churn pockets before board distribution.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9768" y="3401568"/>
            <a:ext cx="54543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-$110.2K CM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29768" y="3767328"/>
            <a:ext cx="54543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29768" y="3931920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Validation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" y="4133088"/>
            <a:ext cx="5454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status: FAIL. Missing Forecast ARR waterfall rows for 2026-06.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9768" y="4480560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Finance to certify waterfall and GL reconciliations before distribution.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29768" y="4700016"/>
            <a:ext cx="54543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Data integrity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29768" y="5065776"/>
            <a:ext cx="54543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29768" y="5230368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YTD Gap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" y="5431536"/>
            <a:ext cx="5454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pipeline created $5.40M vs budget $26.91M (-79.9%); H2 coverage at risk.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9768" y="5779008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Accelerate demand gen and channel reallocation in H2 GTM plan.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29768" y="5998464"/>
            <a:ext cx="54543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-$21.51M YTD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341364" y="1170432"/>
            <a:ext cx="54543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OPP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341364" y="1335024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Outperformance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41364" y="1536192"/>
            <a:ext cx="5454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$48.43M exceeds budget by +$16.98M (+54.0%); FY outlook $49.92M.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41364" y="1883664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Confirm ending cash ties to balance sheet; deploy excess for strategic initiatives.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41364" y="2103120"/>
            <a:ext cx="54543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Upside: +$16.98M vs budget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341364" y="2468880"/>
            <a:ext cx="54543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OPP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341364" y="2633472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Leverage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41364" y="2834640"/>
            <a:ext cx="5454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EBITDA $3.87M ahead of budget; opex underspend -5.7% across S&amp;M, R&amp;D, G&amp;A.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41364" y="3182112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Maintain opex discipline through H2; reinvest savings into pipeline acceleration.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341364" y="3401568"/>
            <a:ext cx="54543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Upside: +$59.1K YTD EBITDA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341364" y="3767328"/>
            <a:ext cx="54543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OPP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341364" y="3931920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Efficiency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41364" y="4133088"/>
            <a:ext cx="5454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win rate 23.8% — highest of all channels; 81.2x pipeline/spend.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41364" y="4480560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Increase content investment to scale highest-efficiency channel in H2.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341364" y="4700016"/>
            <a:ext cx="54543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Upside: 23.8% win rate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341364" y="5065776"/>
            <a:ext cx="54543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OPP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41364" y="5230368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Retention Strength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41364" y="5431536"/>
            <a:ext cx="5454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G$R 99.4% indicates strong base retention; churn $520.2K below budget $546.2K.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41364" y="5779008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Leverage retention strength in expansion motion to close FY ARR gap vs budget.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341364" y="5998464"/>
            <a:ext cx="54543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Upside: G$R 99.4%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 — FY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9/11</a:t>
            </a:r>
            <a:endParaRPr lang="en-US" sz="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914400"/>
          <a:ext cx="6858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60920" y="914400"/>
            <a:ext cx="4507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PRIORITIES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70648" y="1188720"/>
            <a:ext cx="4343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&amp; GTM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70648" y="140817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ARR outlook $90.29M vs $96.10M budget; pipeline coverage 3.0x must convert in H2.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470648" y="2194560"/>
            <a:ext cx="4343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70648" y="241401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gross margin 70.8% on track; EBITDA $3.87M ahead of budget by +$59.1K.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470648" y="3200400"/>
            <a:ext cx="4343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Runway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70648" y="341985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$48.43M; FY cash outlook $49.92M vs budget $23.85M (+109.3%).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470648" y="4206240"/>
            <a:ext cx="4343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470648" y="442569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EOY headcount forecast 16; open reqs 0 currently; hiring plan approval required.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20040" y="361188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 OUTLOOK SUMMARY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13048"/>
          <a:ext cx="6858000" cy="1737360"/>
        </p:xfrm>
        <a:graphic>
          <a:graphicData uri="http://schemas.openxmlformats.org/drawingml/2006/table">
            <a:tbl>
              <a:tblPr/>
              <a:tblGrid>
                <a:gridCol w="1714500"/>
                <a:gridCol w="1714500"/>
                <a:gridCol w="1714500"/>
                <a:gridCol w="1714500"/>
              </a:tblGrid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Outlook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ARR (Dec EoY)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$90.29M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$96.10M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Point-in-time Dec — never sum monthly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Revenue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$25.88M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$26.54M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 = Actual closed + Forecast open months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Gross Margin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 and budget GM% computed independently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EBITDA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$7.46M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$7.79M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 (Dec EoY)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$49.92M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$23.85M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Point-in-time Dec ending cash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7360920" y="5230368"/>
            <a:ext cx="4507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7470648" y="5504688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FY ARR outlook $90.29M vs $96.10M budget (-6.0%); H2 net new ARR must accelerate.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470648" y="5760720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FY gross margin outlook 70.4% vs budget 70.9% — computed independently, not copied.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7470648" y="6016752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Cash outlook $49.92M vs budget $23.85M (+109.3%); strong liquidity supports H2 investment.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7470648" y="6272784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FY EBITDA outlook $7.46M vs $7.79M budget (-4.2%); revenue shortfall partially offset by opex.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Actions — Q2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10/11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1612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5454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June 2026 Financial Close Package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54543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approve the June 2026 financial close package including ARR waterfall, income statement, cash flow statement, and all supporting reconciliations. Validation status requires CFO certification prior to distribution.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953512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CFO  ·  Due: Board meeting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323076" y="109728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6323076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17436" y="11612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323076" y="1673352"/>
            <a:ext cx="5454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Updated FY ARR Outlook and GTM Plan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23076" y="2148840"/>
            <a:ext cx="54543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revised FY 2026 ARR outlook of $90.29M vs $96.10M budget (-6.0%). Align on H2 GTM acceleration plan including pipeline coverage targets, channel reallocation, and closed won ARR requirements.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23076" y="2953512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CEO / CRO  ·  Due: Next board cycle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6301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4142232"/>
            <a:ext cx="5454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Headcount and Hiring Plan Adjustments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54543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EOY headcount forecast of 16 FTEs. Current headcount data shows zero actuals — verify workforce tables and approve any open requisitions and hiring plan adjustments for H2 2026.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5422392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CFO / CHRO  ·  Due: Next board cycle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323076" y="356616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6323076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17436" y="36301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323076" y="4142232"/>
            <a:ext cx="5454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Coverage and Channel Efficiency Reallocation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3076" y="4617720"/>
            <a:ext cx="54543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YTD pipeline created $5.40M vs $26.91M budget (-79.9%). Review channel efficiency data: Outbound 96.1x, Organic Search 81.2x. Determine reallocation strategy to close H2 pipeline gap of $51.63M vs FY budget.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23076" y="5422392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CRO  ·  Due: Operating review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Cash Flow Statement — Jan–Jun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11/11</a:t>
            </a:r>
            <a:endParaRPr lang="en-US" sz="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11548872" cy="5120640"/>
        </p:xfrm>
        <a:graphic>
          <a:graphicData uri="http://schemas.openxmlformats.org/drawingml/2006/table">
            <a:tbl>
              <a:tblPr/>
              <a:tblGrid>
                <a:gridCol w="2887218"/>
                <a:gridCol w="2887218"/>
                <a:gridCol w="2887218"/>
                <a:gridCol w="2887218"/>
              </a:tblGrid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Variance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 Cash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$45.30M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$46.77M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-$1.47M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4480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2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ACTIVITIES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+$70.0K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&amp; Amortization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$591.8K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$621.3K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-$29.5K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Stock-Based Compensation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-$1.88M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+$4.07M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Deferred Revenue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$232.0K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$249.2K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-$17.2K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$373.5K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$917.7K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-$544.2K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Prepaids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Operations (CFO)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$5.90M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+$3.55M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4480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2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INVESTING ACTIVITIES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-$335.5K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-$352.3K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+$16.8K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Investing (CFI)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-$335.5K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-$352.3K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+$16.8K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4480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2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FINANCING ACTIVITIES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Financing (CFF)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Change in Cash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$4.96M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+$3.57M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$50.26M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$48.17M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+$2.09M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2026-06-28T21:19:49Z</dcterms:created>
  <dcterms:modified xsi:type="dcterms:W3CDTF">2026-06-28T21:19:49Z</dcterms:modified>
</cp:coreProperties>
</file>