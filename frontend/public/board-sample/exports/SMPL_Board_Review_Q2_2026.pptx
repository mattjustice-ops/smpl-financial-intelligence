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charts/chart3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80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B71CDF3-5DA8-4669-AE89-7D7FE3D54620}" v="4" dt="2026-06-08T19:41:38.71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920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 Justice" userId="c0ecbdc24dae9ab7" providerId="LiveId" clId="{1B71CDF3-5DA8-4669-AE89-7D7FE3D54620}"/>
    <pc:docChg chg="undo custSel modSld">
      <pc:chgData name="Matt Justice" userId="c0ecbdc24dae9ab7" providerId="LiveId" clId="{1B71CDF3-5DA8-4669-AE89-7D7FE3D54620}" dt="2026-06-08T19:43:27.857" v="387" actId="20577"/>
      <pc:docMkLst>
        <pc:docMk/>
      </pc:docMkLst>
      <pc:sldChg chg="modSp mod">
        <pc:chgData name="Matt Justice" userId="c0ecbdc24dae9ab7" providerId="LiveId" clId="{1B71CDF3-5DA8-4669-AE89-7D7FE3D54620}" dt="2026-06-08T19:42:50.057" v="375" actId="20577"/>
        <pc:sldMkLst>
          <pc:docMk/>
          <pc:sldMk cId="0" sldId="257"/>
        </pc:sldMkLst>
        <pc:spChg chg="mod">
          <ac:chgData name="Matt Justice" userId="c0ecbdc24dae9ab7" providerId="LiveId" clId="{1B71CDF3-5DA8-4669-AE89-7D7FE3D54620}" dt="2026-06-08T19:42:36.905" v="366" actId="20577"/>
          <ac:spMkLst>
            <pc:docMk/>
            <pc:sldMk cId="0" sldId="257"/>
            <ac:spMk id="57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42:41.999" v="369" actId="20577"/>
          <ac:spMkLst>
            <pc:docMk/>
            <pc:sldMk cId="0" sldId="257"/>
            <ac:spMk id="59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42:47.479" v="372" actId="20577"/>
          <ac:spMkLst>
            <pc:docMk/>
            <pc:sldMk cId="0" sldId="257"/>
            <ac:spMk id="81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42:50.057" v="375" actId="20577"/>
          <ac:spMkLst>
            <pc:docMk/>
            <pc:sldMk cId="0" sldId="257"/>
            <ac:spMk id="83" creationId="{00000000-0000-0000-0000-000000000000}"/>
          </ac:spMkLst>
        </pc:spChg>
      </pc:sldChg>
      <pc:sldChg chg="modSp mod">
        <pc:chgData name="Matt Justice" userId="c0ecbdc24dae9ab7" providerId="LiveId" clId="{1B71CDF3-5DA8-4669-AE89-7D7FE3D54620}" dt="2026-06-08T19:36:40.873" v="277" actId="20577"/>
        <pc:sldMkLst>
          <pc:docMk/>
          <pc:sldMk cId="0" sldId="258"/>
        </pc:sldMkLst>
        <pc:spChg chg="mod">
          <ac:chgData name="Matt Justice" userId="c0ecbdc24dae9ab7" providerId="LiveId" clId="{1B71CDF3-5DA8-4669-AE89-7D7FE3D54620}" dt="2026-06-08T19:26:58.425" v="108" actId="20577"/>
          <ac:spMkLst>
            <pc:docMk/>
            <pc:sldMk cId="0" sldId="258"/>
            <ac:spMk id="14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6:40.873" v="277" actId="20577"/>
          <ac:spMkLst>
            <pc:docMk/>
            <pc:sldMk cId="0" sldId="258"/>
            <ac:spMk id="24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6:18.265" v="265" actId="20577"/>
          <ac:spMkLst>
            <pc:docMk/>
            <pc:sldMk cId="0" sldId="258"/>
            <ac:spMk id="71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6:23.187" v="268" actId="20577"/>
          <ac:spMkLst>
            <pc:docMk/>
            <pc:sldMk cId="0" sldId="258"/>
            <ac:spMk id="73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6:27.841" v="271" actId="20577"/>
          <ac:spMkLst>
            <pc:docMk/>
            <pc:sldMk cId="0" sldId="258"/>
            <ac:spMk id="79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6:32.440" v="274" actId="20577"/>
          <ac:spMkLst>
            <pc:docMk/>
            <pc:sldMk cId="0" sldId="258"/>
            <ac:spMk id="81" creationId="{00000000-0000-0000-0000-000000000000}"/>
          </ac:spMkLst>
        </pc:spChg>
      </pc:sldChg>
      <pc:sldChg chg="modSp mod">
        <pc:chgData name="Matt Justice" userId="c0ecbdc24dae9ab7" providerId="LiveId" clId="{1B71CDF3-5DA8-4669-AE89-7D7FE3D54620}" dt="2026-06-08T19:42:14.840" v="363" actId="20577"/>
        <pc:sldMkLst>
          <pc:docMk/>
          <pc:sldMk cId="0" sldId="259"/>
        </pc:sldMkLst>
        <pc:spChg chg="mod">
          <ac:chgData name="Matt Justice" userId="c0ecbdc24dae9ab7" providerId="LiveId" clId="{1B71CDF3-5DA8-4669-AE89-7D7FE3D54620}" dt="2026-06-08T19:35:50.897" v="260" actId="20577"/>
          <ac:spMkLst>
            <pc:docMk/>
            <pc:sldMk cId="0" sldId="259"/>
            <ac:spMk id="24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5:47.274" v="257" actId="207"/>
          <ac:spMkLst>
            <pc:docMk/>
            <pc:sldMk cId="0" sldId="259"/>
            <ac:spMk id="25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42:14.840" v="363" actId="20577"/>
          <ac:spMkLst>
            <pc:docMk/>
            <pc:sldMk cId="0" sldId="259"/>
            <ac:spMk id="81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5:16.857" v="248" actId="20577"/>
          <ac:spMkLst>
            <pc:docMk/>
            <pc:sldMk cId="0" sldId="259"/>
            <ac:spMk id="85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5:25.193" v="252" actId="207"/>
          <ac:spMkLst>
            <pc:docMk/>
            <pc:sldMk cId="0" sldId="259"/>
            <ac:spMk id="87" creationId="{00000000-0000-0000-0000-000000000000}"/>
          </ac:spMkLst>
        </pc:spChg>
      </pc:sldChg>
      <pc:sldChg chg="modSp mod">
        <pc:chgData name="Matt Justice" userId="c0ecbdc24dae9ab7" providerId="LiveId" clId="{1B71CDF3-5DA8-4669-AE89-7D7FE3D54620}" dt="2026-06-08T19:43:27.857" v="387" actId="20577"/>
        <pc:sldMkLst>
          <pc:docMk/>
          <pc:sldMk cId="0" sldId="260"/>
        </pc:sldMkLst>
        <pc:spChg chg="mod">
          <ac:chgData name="Matt Justice" userId="c0ecbdc24dae9ab7" providerId="LiveId" clId="{1B71CDF3-5DA8-4669-AE89-7D7FE3D54620}" dt="2026-06-08T19:43:14.585" v="378" actId="20577"/>
          <ac:spMkLst>
            <pc:docMk/>
            <pc:sldMk cId="0" sldId="260"/>
            <ac:spMk id="39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43:19.137" v="381" actId="20577"/>
          <ac:spMkLst>
            <pc:docMk/>
            <pc:sldMk cId="0" sldId="260"/>
            <ac:spMk id="43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43:23.543" v="384" actId="20577"/>
          <ac:spMkLst>
            <pc:docMk/>
            <pc:sldMk cId="0" sldId="260"/>
            <ac:spMk id="47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43:27.857" v="387" actId="20577"/>
          <ac:spMkLst>
            <pc:docMk/>
            <pc:sldMk cId="0" sldId="260"/>
            <ac:spMk id="51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7:01.467" v="281" actId="20577"/>
          <ac:spMkLst>
            <pc:docMk/>
            <pc:sldMk cId="0" sldId="260"/>
            <ac:spMk id="59" creationId="{00000000-0000-0000-0000-000000000000}"/>
          </ac:spMkLst>
        </pc:spChg>
      </pc:sldChg>
      <pc:sldChg chg="modSp mod">
        <pc:chgData name="Matt Justice" userId="c0ecbdc24dae9ab7" providerId="LiveId" clId="{1B71CDF3-5DA8-4669-AE89-7D7FE3D54620}" dt="2026-06-08T19:37:27.711" v="294" actId="20577"/>
        <pc:sldMkLst>
          <pc:docMk/>
          <pc:sldMk cId="0" sldId="261"/>
        </pc:sldMkLst>
        <pc:spChg chg="mod">
          <ac:chgData name="Matt Justice" userId="c0ecbdc24dae9ab7" providerId="LiveId" clId="{1B71CDF3-5DA8-4669-AE89-7D7FE3D54620}" dt="2026-06-08T19:37:22.177" v="292" actId="20577"/>
          <ac:spMkLst>
            <pc:docMk/>
            <pc:sldMk cId="0" sldId="261"/>
            <ac:spMk id="179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7:12.505" v="282" actId="20577"/>
          <ac:spMkLst>
            <pc:docMk/>
            <pc:sldMk cId="0" sldId="261"/>
            <ac:spMk id="180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7:27.711" v="294" actId="20577"/>
          <ac:spMkLst>
            <pc:docMk/>
            <pc:sldMk cId="0" sldId="261"/>
            <ac:spMk id="181" creationId="{00000000-0000-0000-0000-000000000000}"/>
          </ac:spMkLst>
        </pc:spChg>
      </pc:sldChg>
      <pc:sldChg chg="addSp modSp mod">
        <pc:chgData name="Matt Justice" userId="c0ecbdc24dae9ab7" providerId="LiveId" clId="{1B71CDF3-5DA8-4669-AE89-7D7FE3D54620}" dt="2026-06-08T19:41:43.548" v="360" actId="207"/>
        <pc:sldMkLst>
          <pc:docMk/>
          <pc:sldMk cId="0" sldId="262"/>
        </pc:sldMkLst>
        <pc:spChg chg="mod">
          <ac:chgData name="Matt Justice" userId="c0ecbdc24dae9ab7" providerId="LiveId" clId="{1B71CDF3-5DA8-4669-AE89-7D7FE3D54620}" dt="2026-06-08T19:40:10.426" v="345" actId="207"/>
          <ac:spMkLst>
            <pc:docMk/>
            <pc:sldMk cId="0" sldId="262"/>
            <ac:spMk id="62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8:19.080" v="303" actId="20577"/>
          <ac:spMkLst>
            <pc:docMk/>
            <pc:sldMk cId="0" sldId="262"/>
            <ac:spMk id="74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40:06.424" v="344" actId="207"/>
          <ac:spMkLst>
            <pc:docMk/>
            <pc:sldMk cId="0" sldId="262"/>
            <ac:spMk id="82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8:29.073" v="309" actId="20577"/>
          <ac:spMkLst>
            <pc:docMk/>
            <pc:sldMk cId="0" sldId="262"/>
            <ac:spMk id="94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40:01.931" v="343" actId="207"/>
          <ac:spMkLst>
            <pc:docMk/>
            <pc:sldMk cId="0" sldId="262"/>
            <ac:spMk id="102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8:23.674" v="306" actId="20577"/>
          <ac:spMkLst>
            <pc:docMk/>
            <pc:sldMk cId="0" sldId="262"/>
            <ac:spMk id="114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9:12.008" v="330" actId="207"/>
          <ac:spMkLst>
            <pc:docMk/>
            <pc:sldMk cId="0" sldId="262"/>
            <ac:spMk id="120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41:14.759" v="354" actId="207"/>
          <ac:spMkLst>
            <pc:docMk/>
            <pc:sldMk cId="0" sldId="262"/>
            <ac:spMk id="122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41:32.395" v="357" actId="207"/>
          <ac:spMkLst>
            <pc:docMk/>
            <pc:sldMk cId="0" sldId="262"/>
            <ac:spMk id="124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8:34.450" v="312" actId="20577"/>
          <ac:spMkLst>
            <pc:docMk/>
            <pc:sldMk cId="0" sldId="262"/>
            <ac:spMk id="134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8:39.039" v="315" actId="20577"/>
          <ac:spMkLst>
            <pc:docMk/>
            <pc:sldMk cId="0" sldId="262"/>
            <ac:spMk id="154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9:03.960" v="326" actId="207"/>
          <ac:spMkLst>
            <pc:docMk/>
            <pc:sldMk cId="0" sldId="262"/>
            <ac:spMk id="160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41:14.759" v="354" actId="207"/>
          <ac:spMkLst>
            <pc:docMk/>
            <pc:sldMk cId="0" sldId="262"/>
            <ac:spMk id="162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8:44.040" v="318" actId="20577"/>
          <ac:spMkLst>
            <pc:docMk/>
            <pc:sldMk cId="0" sldId="262"/>
            <ac:spMk id="174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8:55.711" v="322" actId="207"/>
          <ac:spMkLst>
            <pc:docMk/>
            <pc:sldMk cId="0" sldId="262"/>
            <ac:spMk id="180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41:14.759" v="354" actId="207"/>
          <ac:spMkLst>
            <pc:docMk/>
            <pc:sldMk cId="0" sldId="262"/>
            <ac:spMk id="182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41:32.395" v="357" actId="207"/>
          <ac:spMkLst>
            <pc:docMk/>
            <pc:sldMk cId="0" sldId="262"/>
            <ac:spMk id="184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9:20.883" v="334" actId="207"/>
          <ac:spMkLst>
            <pc:docMk/>
            <pc:sldMk cId="0" sldId="262"/>
            <ac:spMk id="200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41:14.759" v="354" actId="207"/>
          <ac:spMkLst>
            <pc:docMk/>
            <pc:sldMk cId="0" sldId="262"/>
            <ac:spMk id="202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9:27.920" v="338" actId="207"/>
          <ac:spMkLst>
            <pc:docMk/>
            <pc:sldMk cId="0" sldId="262"/>
            <ac:spMk id="220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41:14.759" v="354" actId="207"/>
          <ac:spMkLst>
            <pc:docMk/>
            <pc:sldMk cId="0" sldId="262"/>
            <ac:spMk id="222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40:45.100" v="350" actId="207"/>
          <ac:spMkLst>
            <pc:docMk/>
            <pc:sldMk cId="0" sldId="262"/>
            <ac:spMk id="242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41:43.548" v="360" actId="207"/>
          <ac:spMkLst>
            <pc:docMk/>
            <pc:sldMk cId="0" sldId="262"/>
            <ac:spMk id="244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9:35.128" v="342" actId="207"/>
          <ac:spMkLst>
            <pc:docMk/>
            <pc:sldMk cId="0" sldId="262"/>
            <ac:spMk id="260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40:48.458" v="352" actId="1076"/>
          <ac:spMkLst>
            <pc:docMk/>
            <pc:sldMk cId="0" sldId="262"/>
            <ac:spMk id="261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41:14.759" v="354" actId="207"/>
          <ac:spMkLst>
            <pc:docMk/>
            <pc:sldMk cId="0" sldId="262"/>
            <ac:spMk id="262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41:32.395" v="357" actId="207"/>
          <ac:spMkLst>
            <pc:docMk/>
            <pc:sldMk cId="0" sldId="262"/>
            <ac:spMk id="264" creationId="{00000000-0000-0000-0000-000000000000}"/>
          </ac:spMkLst>
        </pc:spChg>
        <pc:spChg chg="add mod">
          <ac:chgData name="Matt Justice" userId="c0ecbdc24dae9ab7" providerId="LiveId" clId="{1B71CDF3-5DA8-4669-AE89-7D7FE3D54620}" dt="2026-06-08T19:41:19.683" v="356" actId="571"/>
          <ac:spMkLst>
            <pc:docMk/>
            <pc:sldMk cId="0" sldId="262"/>
            <ac:spMk id="270" creationId="{3909CAA8-8690-C15B-90F7-9DDC3DDDBCC8}"/>
          </ac:spMkLst>
        </pc:spChg>
        <pc:spChg chg="add mod">
          <ac:chgData name="Matt Justice" userId="c0ecbdc24dae9ab7" providerId="LiveId" clId="{1B71CDF3-5DA8-4669-AE89-7D7FE3D54620}" dt="2026-06-08T19:41:38.714" v="359" actId="571"/>
          <ac:spMkLst>
            <pc:docMk/>
            <pc:sldMk cId="0" sldId="262"/>
            <ac:spMk id="271" creationId="{5558C97C-49A3-D34D-0337-9C3B98F89D67}"/>
          </ac:spMkLst>
        </pc:spChg>
        <pc:spChg chg="add mod">
          <ac:chgData name="Matt Justice" userId="c0ecbdc24dae9ab7" providerId="LiveId" clId="{1B71CDF3-5DA8-4669-AE89-7D7FE3D54620}" dt="2026-06-08T19:41:38.714" v="359" actId="571"/>
          <ac:spMkLst>
            <pc:docMk/>
            <pc:sldMk cId="0" sldId="262"/>
            <ac:spMk id="272" creationId="{3496E7F0-705B-BC70-5782-EE96BBEE309C}"/>
          </ac:spMkLst>
        </pc:spChg>
      </pc:sldChg>
      <pc:sldChg chg="modSp mod">
        <pc:chgData name="Matt Justice" userId="c0ecbdc24dae9ab7" providerId="LiveId" clId="{1B71CDF3-5DA8-4669-AE89-7D7FE3D54620}" dt="2026-06-08T19:34:12.192" v="244" actId="20577"/>
        <pc:sldMkLst>
          <pc:docMk/>
          <pc:sldMk cId="0" sldId="263"/>
        </pc:sldMkLst>
        <pc:spChg chg="mod">
          <ac:chgData name="Matt Justice" userId="c0ecbdc24dae9ab7" providerId="LiveId" clId="{1B71CDF3-5DA8-4669-AE89-7D7FE3D54620}" dt="2026-06-08T19:24:23.952" v="105" actId="20577"/>
          <ac:spMkLst>
            <pc:docMk/>
            <pc:sldMk cId="0" sldId="263"/>
            <ac:spMk id="19" creationId="{00000000-0000-0000-0000-000000000000}"/>
          </ac:spMkLst>
        </pc:spChg>
        <pc:spChg chg="mod">
          <ac:chgData name="Matt Justice" userId="c0ecbdc24dae9ab7" providerId="LiveId" clId="{1B71CDF3-5DA8-4669-AE89-7D7FE3D54620}" dt="2026-06-08T17:58:44.535" v="30" actId="20577"/>
          <ac:spMkLst>
            <pc:docMk/>
            <pc:sldMk cId="0" sldId="263"/>
            <ac:spMk id="21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3:35.719" v="226" actId="20577"/>
          <ac:spMkLst>
            <pc:docMk/>
            <pc:sldMk cId="0" sldId="263"/>
            <ac:spMk id="31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3:46.727" v="234" actId="20577"/>
          <ac:spMkLst>
            <pc:docMk/>
            <pc:sldMk cId="0" sldId="263"/>
            <ac:spMk id="33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1:23.599" v="184" actId="20577"/>
          <ac:spMkLst>
            <pc:docMk/>
            <pc:sldMk cId="0" sldId="263"/>
            <ac:spMk id="39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1:18.096" v="174" actId="20577"/>
          <ac:spMkLst>
            <pc:docMk/>
            <pc:sldMk cId="0" sldId="263"/>
            <ac:spMk id="41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2:52.146" v="208" actId="20577"/>
          <ac:spMkLst>
            <pc:docMk/>
            <pc:sldMk cId="0" sldId="263"/>
            <ac:spMk id="43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4:12.192" v="244" actId="20577"/>
          <ac:spMkLst>
            <pc:docMk/>
            <pc:sldMk cId="0" sldId="263"/>
            <ac:spMk id="51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3:59.496" v="238" actId="20577"/>
          <ac:spMkLst>
            <pc:docMk/>
            <pc:sldMk cId="0" sldId="263"/>
            <ac:spMk id="53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29:28.482" v="150" actId="20577"/>
          <ac:spMkLst>
            <pc:docMk/>
            <pc:sldMk cId="0" sldId="263"/>
            <ac:spMk id="59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1:11.871" v="168" actId="20577"/>
          <ac:spMkLst>
            <pc:docMk/>
            <pc:sldMk cId="0" sldId="263"/>
            <ac:spMk id="61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2:08.761" v="196" actId="20577"/>
          <ac:spMkLst>
            <pc:docMk/>
            <pc:sldMk cId="0" sldId="263"/>
            <ac:spMk id="63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28:18.393" v="126" actId="20577"/>
          <ac:spMkLst>
            <pc:docMk/>
            <pc:sldMk cId="0" sldId="263"/>
            <ac:spMk id="69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27:53.224" v="116" actId="20577"/>
          <ac:spMkLst>
            <pc:docMk/>
            <pc:sldMk cId="0" sldId="263"/>
            <ac:spMk id="71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1:34.561" v="186" actId="20577"/>
          <ac:spMkLst>
            <pc:docMk/>
            <pc:sldMk cId="0" sldId="263"/>
            <ac:spMk id="79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0:01.856" v="156" actId="20577"/>
          <ac:spMkLst>
            <pc:docMk/>
            <pc:sldMk cId="0" sldId="263"/>
            <ac:spMk id="81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3:07.023" v="212" actId="20577"/>
          <ac:spMkLst>
            <pc:docMk/>
            <pc:sldMk cId="0" sldId="263"/>
            <ac:spMk id="83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0:37.296" v="164" actId="20577"/>
          <ac:spMkLst>
            <pc:docMk/>
            <pc:sldMk cId="0" sldId="263"/>
            <ac:spMk id="89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1:58.024" v="190" actId="20577"/>
          <ac:spMkLst>
            <pc:docMk/>
            <pc:sldMk cId="0" sldId="263"/>
            <ac:spMk id="91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2:36.737" v="202" actId="20577"/>
          <ac:spMkLst>
            <pc:docMk/>
            <pc:sldMk cId="0" sldId="263"/>
            <ac:spMk id="93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29:16.857" v="149" actId="20577"/>
          <ac:spMkLst>
            <pc:docMk/>
            <pc:sldMk cId="0" sldId="263"/>
            <ac:spMk id="95" creationId="{00000000-0000-0000-0000-000000000000}"/>
          </ac:spMkLst>
        </pc:spChg>
        <pc:spChg chg="mod">
          <ac:chgData name="Matt Justice" userId="c0ecbdc24dae9ab7" providerId="LiveId" clId="{1B71CDF3-5DA8-4669-AE89-7D7FE3D54620}" dt="2026-06-08T17:59:23.117" v="38" actId="20577"/>
          <ac:spMkLst>
            <pc:docMk/>
            <pc:sldMk cId="0" sldId="263"/>
            <ac:spMk id="151" creationId="{00000000-0000-0000-0000-000000000000}"/>
          </ac:spMkLst>
        </pc:spChg>
        <pc:spChg chg="mod">
          <ac:chgData name="Matt Justice" userId="c0ecbdc24dae9ab7" providerId="LiveId" clId="{1B71CDF3-5DA8-4669-AE89-7D7FE3D54620}" dt="2026-06-08T17:57:55.310" v="15" actId="20577"/>
          <ac:spMkLst>
            <pc:docMk/>
            <pc:sldMk cId="0" sldId="263"/>
            <ac:spMk id="161" creationId="{00000000-0000-0000-0000-000000000000}"/>
          </ac:spMkLst>
        </pc:spChg>
        <pc:spChg chg="mod">
          <ac:chgData name="Matt Justice" userId="c0ecbdc24dae9ab7" providerId="LiveId" clId="{1B71CDF3-5DA8-4669-AE89-7D7FE3D54620}" dt="2026-06-08T18:03:08.597" v="74" actId="20577"/>
          <ac:spMkLst>
            <pc:docMk/>
            <pc:sldMk cId="0" sldId="263"/>
            <ac:spMk id="188" creationId="{00000000-0000-0000-0000-000000000000}"/>
          </ac:spMkLst>
        </pc:spChg>
        <pc:spChg chg="mod">
          <ac:chgData name="Matt Justice" userId="c0ecbdc24dae9ab7" providerId="LiveId" clId="{1B71CDF3-5DA8-4669-AE89-7D7FE3D54620}" dt="2026-06-08T18:23:06.985" v="94" actId="20577"/>
          <ac:spMkLst>
            <pc:docMk/>
            <pc:sldMk cId="0" sldId="263"/>
            <ac:spMk id="189" creationId="{00000000-0000-0000-0000-000000000000}"/>
          </ac:spMkLst>
        </pc:spChg>
        <pc:spChg chg="mod">
          <ac:chgData name="Matt Justice" userId="c0ecbdc24dae9ab7" providerId="LiveId" clId="{1B71CDF3-5DA8-4669-AE89-7D7FE3D54620}" dt="2026-06-08T18:03:18.071" v="80" actId="20577"/>
          <ac:spMkLst>
            <pc:docMk/>
            <pc:sldMk cId="0" sldId="263"/>
            <ac:spMk id="192" creationId="{00000000-0000-0000-0000-000000000000}"/>
          </ac:spMkLst>
        </pc:spChg>
        <pc:spChg chg="mod">
          <ac:chgData name="Matt Justice" userId="c0ecbdc24dae9ab7" providerId="LiveId" clId="{1B71CDF3-5DA8-4669-AE89-7D7FE3D54620}" dt="2026-06-08T18:00:11.809" v="53" actId="20577"/>
          <ac:spMkLst>
            <pc:docMk/>
            <pc:sldMk cId="0" sldId="263"/>
            <ac:spMk id="193" creationId="{00000000-0000-0000-0000-000000000000}"/>
          </ac:spMkLst>
        </pc:spChg>
      </pc:sldChg>
      <pc:sldChg chg="modSp mod">
        <pc:chgData name="Matt Justice" userId="c0ecbdc24dae9ab7" providerId="LiveId" clId="{1B71CDF3-5DA8-4669-AE89-7D7FE3D54620}" dt="2026-06-08T19:38:00.144" v="300" actId="20577"/>
        <pc:sldMkLst>
          <pc:docMk/>
          <pc:sldMk cId="0" sldId="265"/>
        </pc:sldMkLst>
        <pc:spChg chg="mod">
          <ac:chgData name="Matt Justice" userId="c0ecbdc24dae9ab7" providerId="LiveId" clId="{1B71CDF3-5DA8-4669-AE89-7D7FE3D54620}" dt="2026-06-08T19:37:55.727" v="297" actId="20577"/>
          <ac:spMkLst>
            <pc:docMk/>
            <pc:sldMk cId="0" sldId="265"/>
            <ac:spMk id="54" creationId="{00000000-0000-0000-0000-000000000000}"/>
          </ac:spMkLst>
        </pc:spChg>
        <pc:spChg chg="mod">
          <ac:chgData name="Matt Justice" userId="c0ecbdc24dae9ab7" providerId="LiveId" clId="{1B71CDF3-5DA8-4669-AE89-7D7FE3D54620}" dt="2026-06-08T19:38:00.144" v="300" actId="20577"/>
          <ac:spMkLst>
            <pc:docMk/>
            <pc:sldMk cId="0" sldId="265"/>
            <ac:spMk id="56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New ARR (Act)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1.31</c:v>
                </c:pt>
                <c:pt idx="1">
                  <c:v>1.5049999999999999</c:v>
                </c:pt>
                <c:pt idx="2">
                  <c:v>1.69</c:v>
                </c:pt>
                <c:pt idx="3">
                  <c:v>1.88</c:v>
                </c:pt>
                <c:pt idx="4">
                  <c:v>2.06</c:v>
                </c:pt>
                <c:pt idx="5">
                  <c:v>2.6549999999999998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5BE-406A-82F3-CB6EE7358CB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Net New ARR (Bud)</c:v>
                </c:pt>
              </c:strCache>
            </c:strRef>
          </c:tx>
          <c:spPr>
            <a:solidFill>
              <a:srgbClr val="D1D5DB"/>
            </a:solidFill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1.226</c:v>
                </c:pt>
                <c:pt idx="1">
                  <c:v>1.4119999999999999</c:v>
                </c:pt>
                <c:pt idx="2">
                  <c:v>1.589</c:v>
                </c:pt>
                <c:pt idx="3">
                  <c:v>1.77</c:v>
                </c:pt>
                <c:pt idx="4">
                  <c:v>1.9410000000000001</c:v>
                </c:pt>
                <c:pt idx="5">
                  <c:v>2.1850000000000001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5BE-406A-82F3-CB6EE7358CB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Profit</c:v>
                </c:pt>
              </c:strCache>
            </c:strRef>
          </c:tx>
          <c:spPr>
            <a:solidFill>
              <a:srgbClr val="D1FAE5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5.07</c:v>
                </c:pt>
                <c:pt idx="1">
                  <c:v>5.17</c:v>
                </c:pt>
                <c:pt idx="2">
                  <c:v>5.27</c:v>
                </c:pt>
                <c:pt idx="3">
                  <c:v>5.39</c:v>
                </c:pt>
                <c:pt idx="4">
                  <c:v>5.53</c:v>
                </c:pt>
                <c:pt idx="5">
                  <c:v>5.87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603-4631-97BF-5B0E2CD279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Revenue Actual</c:v>
                </c:pt>
              </c:strCache>
            </c:strRef>
          </c:tx>
          <c:spPr>
            <a:ln w="31750" cap="flat">
              <a:solidFill>
                <a:srgbClr val="1A2E4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CA3AF"/>
              </a:solidFill>
              <a:ln w="9525" cap="flat">
                <a:solidFill>
                  <a:srgbClr val="1A2E44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6.59</c:v>
                </c:pt>
                <c:pt idx="1">
                  <c:v>6.71</c:v>
                </c:pt>
                <c:pt idx="2">
                  <c:v>6.85</c:v>
                </c:pt>
                <c:pt idx="3">
                  <c:v>7.01</c:v>
                </c:pt>
                <c:pt idx="4">
                  <c:v>7.18</c:v>
                </c:pt>
                <c:pt idx="5">
                  <c:v>7.41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603-4631-97BF-5B0E2CD279F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Revenue Budget</c:v>
                </c:pt>
              </c:strCache>
            </c:strRef>
          </c:tx>
          <c:spPr>
            <a:ln w="31750" cap="flat">
              <a:solidFill>
                <a:srgbClr val="9CA3A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2E44"/>
              </a:solidFill>
              <a:ln w="9525" cap="flat">
                <a:solidFill>
                  <a:srgbClr val="9CA3AF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6.58</c:v>
                </c:pt>
                <c:pt idx="1">
                  <c:v>6.71</c:v>
                </c:pt>
                <c:pt idx="2">
                  <c:v>6.85</c:v>
                </c:pt>
                <c:pt idx="3">
                  <c:v>7</c:v>
                </c:pt>
                <c:pt idx="4">
                  <c:v>7.17</c:v>
                </c:pt>
                <c:pt idx="5">
                  <c:v>7.35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603-4631-97BF-5B0E2CD279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Ending Cash (Actual)</c:v>
                </c:pt>
              </c:strCache>
            </c:strRef>
          </c:tx>
          <c:spPr>
            <a:ln w="31750" cap="flat">
              <a:solidFill>
                <a:srgbClr val="0D948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48.71</c:v>
                </c:pt>
                <c:pt idx="1">
                  <c:v>51.01</c:v>
                </c:pt>
                <c:pt idx="2">
                  <c:v>58.09</c:v>
                </c:pt>
                <c:pt idx="3">
                  <c:v>62.57</c:v>
                </c:pt>
                <c:pt idx="4">
                  <c:v>66.040000000000006</c:v>
                </c:pt>
                <c:pt idx="5">
                  <c:v>70.61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CFB-44E7-BDA1-6CD196295B9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Ending Cash (Budget)</c:v>
                </c:pt>
              </c:strCache>
            </c:strRef>
          </c:tx>
          <c:spPr>
            <a:ln w="31750" cap="flat">
              <a:solidFill>
                <a:srgbClr val="9CA3A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CA3AF"/>
              </a:solidFill>
              <a:ln w="9525" cap="flat">
                <a:solidFill>
                  <a:srgbClr val="9CA3AF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12.75</c:v>
                </c:pt>
                <c:pt idx="1">
                  <c:v>14.95</c:v>
                </c:pt>
                <c:pt idx="2">
                  <c:v>21.92</c:v>
                </c:pt>
                <c:pt idx="3">
                  <c:v>26.27</c:v>
                </c:pt>
                <c:pt idx="4">
                  <c:v>29.6</c:v>
                </c:pt>
                <c:pt idx="5">
                  <c:v>48.36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CFB-44E7-BDA1-6CD196295B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900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14400" y="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371600" y="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828800" y="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286000" y="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0" y="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200400" y="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0" y="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114800" y="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0" y="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029200" y="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486400" y="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943600" y="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400800" y="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858000" y="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315200" y="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772400" y="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29600" y="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686800" y="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0" y="42976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57200" y="42976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914400" y="42976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371600" y="42976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828800" y="42976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286000" y="42976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0" y="42976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200400" y="42976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657600" y="42976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114800" y="42976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572000" y="42976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5029200" y="42976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5486400" y="42976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5943600" y="42976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400800" y="42976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858000" y="42976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7315200" y="42976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7772400" y="42976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8229600" y="42976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8686800" y="42976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0" y="85953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457200" y="85953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914400" y="85953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1371600" y="85953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1828800" y="85953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2286000" y="85953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2743200" y="85953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3200400" y="85953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3657600" y="85953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4114800" y="85953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4572000" y="85953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5029200" y="85953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5486400" y="85953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5943600" y="85953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6400800" y="85953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6858000" y="85953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7315200" y="85953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7772400" y="85953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8229600" y="85953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8686800" y="85953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0" y="128930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457200" y="128930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914400" y="128930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1371600" y="128930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1828800" y="128930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2286000" y="128930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2743200" y="128930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3200400" y="128930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3657600" y="128930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4114800" y="128930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4572000" y="128930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5029200" y="128930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5486400" y="128930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5943600" y="128930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6400800" y="128930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6858000" y="128930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7315200" y="128930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7772400" y="128930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8229600" y="128930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8686800" y="128930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0" y="171907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457200" y="171907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914400" y="171907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1371600" y="171907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1828800" y="171907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2286000" y="171907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2743200" y="171907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3200400" y="171907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3657600" y="171907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4114800" y="171907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4572000" y="171907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5029200" y="171907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5486400" y="171907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5943600" y="171907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6400800" y="171907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6858000" y="171907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7315200" y="171907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7772400" y="171907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8229600" y="171907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8686800" y="171907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0" y="214884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457200" y="214884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914400" y="214884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1371600" y="214884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1828800" y="214884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2286000" y="214884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2743200" y="214884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3200400" y="214884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3657600" y="214884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4114800" y="214884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4572000" y="214884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5029200" y="214884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5486400" y="214884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5943600" y="214884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6400800" y="214884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>
            <a:off x="6858000" y="214884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>
            <a:off x="7315200" y="214884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>
            <a:off x="7772400" y="214884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8229600" y="214884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>
            <a:off x="8686800" y="214884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>
            <a:off x="0" y="257860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>
            <a:off x="457200" y="257860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>
            <a:off x="914400" y="257860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Shape 123"/>
          <p:cNvSpPr/>
          <p:nvPr/>
        </p:nvSpPr>
        <p:spPr>
          <a:xfrm>
            <a:off x="1371600" y="257860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>
            <a:off x="1828800" y="257860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>
            <a:off x="2286000" y="257860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2743200" y="257860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>
            <a:off x="3200400" y="257860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>
            <a:off x="3657600" y="257860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>
            <a:off x="4114800" y="257860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>
            <a:off x="4572000" y="257860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>
            <a:off x="5029200" y="257860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>
            <a:off x="5486400" y="257860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3"/>
          <p:cNvSpPr/>
          <p:nvPr/>
        </p:nvSpPr>
        <p:spPr>
          <a:xfrm>
            <a:off x="5943600" y="257860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134"/>
          <p:cNvSpPr/>
          <p:nvPr/>
        </p:nvSpPr>
        <p:spPr>
          <a:xfrm>
            <a:off x="6400800" y="257860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>
            <a:off x="6858000" y="257860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>
            <a:off x="7315200" y="257860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>
            <a:off x="7772400" y="257860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>
            <a:off x="8229600" y="257860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>
            <a:off x="8686800" y="257860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>
            <a:off x="0" y="300837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>
            <a:off x="457200" y="300837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42"/>
          <p:cNvSpPr/>
          <p:nvPr/>
        </p:nvSpPr>
        <p:spPr>
          <a:xfrm>
            <a:off x="914400" y="300837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43"/>
          <p:cNvSpPr/>
          <p:nvPr/>
        </p:nvSpPr>
        <p:spPr>
          <a:xfrm>
            <a:off x="1371600" y="300837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Shape 144"/>
          <p:cNvSpPr/>
          <p:nvPr/>
        </p:nvSpPr>
        <p:spPr>
          <a:xfrm>
            <a:off x="1828800" y="300837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Shape 145"/>
          <p:cNvSpPr/>
          <p:nvPr/>
        </p:nvSpPr>
        <p:spPr>
          <a:xfrm>
            <a:off x="2286000" y="300837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Shape 146"/>
          <p:cNvSpPr/>
          <p:nvPr/>
        </p:nvSpPr>
        <p:spPr>
          <a:xfrm>
            <a:off x="2743200" y="300837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Shape 147"/>
          <p:cNvSpPr/>
          <p:nvPr/>
        </p:nvSpPr>
        <p:spPr>
          <a:xfrm>
            <a:off x="3200400" y="300837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Shape 148"/>
          <p:cNvSpPr/>
          <p:nvPr/>
        </p:nvSpPr>
        <p:spPr>
          <a:xfrm>
            <a:off x="3657600" y="300837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Shape 149"/>
          <p:cNvSpPr/>
          <p:nvPr/>
        </p:nvSpPr>
        <p:spPr>
          <a:xfrm>
            <a:off x="4114800" y="300837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Shape 150"/>
          <p:cNvSpPr/>
          <p:nvPr/>
        </p:nvSpPr>
        <p:spPr>
          <a:xfrm>
            <a:off x="4572000" y="300837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3" name="Shape 151"/>
          <p:cNvSpPr/>
          <p:nvPr/>
        </p:nvSpPr>
        <p:spPr>
          <a:xfrm>
            <a:off x="5029200" y="300837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4" name="Shape 152"/>
          <p:cNvSpPr/>
          <p:nvPr/>
        </p:nvSpPr>
        <p:spPr>
          <a:xfrm>
            <a:off x="5486400" y="300837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Shape 153"/>
          <p:cNvSpPr/>
          <p:nvPr/>
        </p:nvSpPr>
        <p:spPr>
          <a:xfrm>
            <a:off x="5943600" y="300837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Shape 154"/>
          <p:cNvSpPr/>
          <p:nvPr/>
        </p:nvSpPr>
        <p:spPr>
          <a:xfrm>
            <a:off x="6400800" y="300837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7" name="Shape 155"/>
          <p:cNvSpPr/>
          <p:nvPr/>
        </p:nvSpPr>
        <p:spPr>
          <a:xfrm>
            <a:off x="6858000" y="300837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8" name="Shape 156"/>
          <p:cNvSpPr/>
          <p:nvPr/>
        </p:nvSpPr>
        <p:spPr>
          <a:xfrm>
            <a:off x="7315200" y="300837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9" name="Shape 157"/>
          <p:cNvSpPr/>
          <p:nvPr/>
        </p:nvSpPr>
        <p:spPr>
          <a:xfrm>
            <a:off x="7772400" y="300837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0" name="Shape 158"/>
          <p:cNvSpPr/>
          <p:nvPr/>
        </p:nvSpPr>
        <p:spPr>
          <a:xfrm>
            <a:off x="8229600" y="300837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Shape 159"/>
          <p:cNvSpPr/>
          <p:nvPr/>
        </p:nvSpPr>
        <p:spPr>
          <a:xfrm>
            <a:off x="8686800" y="3008376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Shape 160"/>
          <p:cNvSpPr/>
          <p:nvPr/>
        </p:nvSpPr>
        <p:spPr>
          <a:xfrm>
            <a:off x="0" y="343814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Shape 161"/>
          <p:cNvSpPr/>
          <p:nvPr/>
        </p:nvSpPr>
        <p:spPr>
          <a:xfrm>
            <a:off x="457200" y="343814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4" name="Shape 162"/>
          <p:cNvSpPr/>
          <p:nvPr/>
        </p:nvSpPr>
        <p:spPr>
          <a:xfrm>
            <a:off x="914400" y="343814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Shape 163"/>
          <p:cNvSpPr/>
          <p:nvPr/>
        </p:nvSpPr>
        <p:spPr>
          <a:xfrm>
            <a:off x="1371600" y="343814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6" name="Shape 164"/>
          <p:cNvSpPr/>
          <p:nvPr/>
        </p:nvSpPr>
        <p:spPr>
          <a:xfrm>
            <a:off x="1828800" y="343814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Shape 165"/>
          <p:cNvSpPr/>
          <p:nvPr/>
        </p:nvSpPr>
        <p:spPr>
          <a:xfrm>
            <a:off x="2286000" y="343814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Shape 166"/>
          <p:cNvSpPr/>
          <p:nvPr/>
        </p:nvSpPr>
        <p:spPr>
          <a:xfrm>
            <a:off x="2743200" y="343814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67"/>
          <p:cNvSpPr/>
          <p:nvPr/>
        </p:nvSpPr>
        <p:spPr>
          <a:xfrm>
            <a:off x="3200400" y="343814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Shape 168"/>
          <p:cNvSpPr/>
          <p:nvPr/>
        </p:nvSpPr>
        <p:spPr>
          <a:xfrm>
            <a:off x="3657600" y="343814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Shape 169"/>
          <p:cNvSpPr/>
          <p:nvPr/>
        </p:nvSpPr>
        <p:spPr>
          <a:xfrm>
            <a:off x="4114800" y="343814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Shape 170"/>
          <p:cNvSpPr/>
          <p:nvPr/>
        </p:nvSpPr>
        <p:spPr>
          <a:xfrm>
            <a:off x="4572000" y="343814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Shape 171"/>
          <p:cNvSpPr/>
          <p:nvPr/>
        </p:nvSpPr>
        <p:spPr>
          <a:xfrm>
            <a:off x="5029200" y="343814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Shape 172"/>
          <p:cNvSpPr/>
          <p:nvPr/>
        </p:nvSpPr>
        <p:spPr>
          <a:xfrm>
            <a:off x="5486400" y="343814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hape 173"/>
          <p:cNvSpPr/>
          <p:nvPr/>
        </p:nvSpPr>
        <p:spPr>
          <a:xfrm>
            <a:off x="5943600" y="343814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Shape 174"/>
          <p:cNvSpPr/>
          <p:nvPr/>
        </p:nvSpPr>
        <p:spPr>
          <a:xfrm>
            <a:off x="6400800" y="343814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Shape 175"/>
          <p:cNvSpPr/>
          <p:nvPr/>
        </p:nvSpPr>
        <p:spPr>
          <a:xfrm>
            <a:off x="6858000" y="343814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8" name="Shape 176"/>
          <p:cNvSpPr/>
          <p:nvPr/>
        </p:nvSpPr>
        <p:spPr>
          <a:xfrm>
            <a:off x="7315200" y="343814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Shape 177"/>
          <p:cNvSpPr/>
          <p:nvPr/>
        </p:nvSpPr>
        <p:spPr>
          <a:xfrm>
            <a:off x="7772400" y="343814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0" name="Shape 178"/>
          <p:cNvSpPr/>
          <p:nvPr/>
        </p:nvSpPr>
        <p:spPr>
          <a:xfrm>
            <a:off x="8229600" y="343814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1" name="Shape 179"/>
          <p:cNvSpPr/>
          <p:nvPr/>
        </p:nvSpPr>
        <p:spPr>
          <a:xfrm>
            <a:off x="8686800" y="3438144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2" name="Shape 180"/>
          <p:cNvSpPr/>
          <p:nvPr/>
        </p:nvSpPr>
        <p:spPr>
          <a:xfrm>
            <a:off x="0" y="386791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3" name="Shape 181"/>
          <p:cNvSpPr/>
          <p:nvPr/>
        </p:nvSpPr>
        <p:spPr>
          <a:xfrm>
            <a:off x="457200" y="386791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Shape 182"/>
          <p:cNvSpPr/>
          <p:nvPr/>
        </p:nvSpPr>
        <p:spPr>
          <a:xfrm>
            <a:off x="914400" y="386791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5" name="Shape 183"/>
          <p:cNvSpPr/>
          <p:nvPr/>
        </p:nvSpPr>
        <p:spPr>
          <a:xfrm>
            <a:off x="1371600" y="386791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6" name="Shape 184"/>
          <p:cNvSpPr/>
          <p:nvPr/>
        </p:nvSpPr>
        <p:spPr>
          <a:xfrm>
            <a:off x="1828800" y="386791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Shape 185"/>
          <p:cNvSpPr/>
          <p:nvPr/>
        </p:nvSpPr>
        <p:spPr>
          <a:xfrm>
            <a:off x="2286000" y="386791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Shape 186"/>
          <p:cNvSpPr/>
          <p:nvPr/>
        </p:nvSpPr>
        <p:spPr>
          <a:xfrm>
            <a:off x="2743200" y="386791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9" name="Shape 187"/>
          <p:cNvSpPr/>
          <p:nvPr/>
        </p:nvSpPr>
        <p:spPr>
          <a:xfrm>
            <a:off x="3200400" y="386791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Shape 188"/>
          <p:cNvSpPr/>
          <p:nvPr/>
        </p:nvSpPr>
        <p:spPr>
          <a:xfrm>
            <a:off x="3657600" y="386791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89"/>
          <p:cNvSpPr/>
          <p:nvPr/>
        </p:nvSpPr>
        <p:spPr>
          <a:xfrm>
            <a:off x="4114800" y="386791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Shape 190"/>
          <p:cNvSpPr/>
          <p:nvPr/>
        </p:nvSpPr>
        <p:spPr>
          <a:xfrm>
            <a:off x="4572000" y="386791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3" name="Shape 191"/>
          <p:cNvSpPr/>
          <p:nvPr/>
        </p:nvSpPr>
        <p:spPr>
          <a:xfrm>
            <a:off x="5029200" y="386791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4" name="Shape 192"/>
          <p:cNvSpPr/>
          <p:nvPr/>
        </p:nvSpPr>
        <p:spPr>
          <a:xfrm>
            <a:off x="5486400" y="386791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Shape 193"/>
          <p:cNvSpPr/>
          <p:nvPr/>
        </p:nvSpPr>
        <p:spPr>
          <a:xfrm>
            <a:off x="5943600" y="386791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Shape 194"/>
          <p:cNvSpPr/>
          <p:nvPr/>
        </p:nvSpPr>
        <p:spPr>
          <a:xfrm>
            <a:off x="6400800" y="386791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7" name="Shape 195"/>
          <p:cNvSpPr/>
          <p:nvPr/>
        </p:nvSpPr>
        <p:spPr>
          <a:xfrm>
            <a:off x="6858000" y="386791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8" name="Shape 196"/>
          <p:cNvSpPr/>
          <p:nvPr/>
        </p:nvSpPr>
        <p:spPr>
          <a:xfrm>
            <a:off x="7315200" y="386791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9" name="Shape 197"/>
          <p:cNvSpPr/>
          <p:nvPr/>
        </p:nvSpPr>
        <p:spPr>
          <a:xfrm>
            <a:off x="7772400" y="386791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0" name="Shape 198"/>
          <p:cNvSpPr/>
          <p:nvPr/>
        </p:nvSpPr>
        <p:spPr>
          <a:xfrm>
            <a:off x="8229600" y="386791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1" name="Shape 199"/>
          <p:cNvSpPr/>
          <p:nvPr/>
        </p:nvSpPr>
        <p:spPr>
          <a:xfrm>
            <a:off x="8686800" y="3867912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2" name="Shape 200"/>
          <p:cNvSpPr/>
          <p:nvPr/>
        </p:nvSpPr>
        <p:spPr>
          <a:xfrm>
            <a:off x="0" y="429768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Shape 201"/>
          <p:cNvSpPr/>
          <p:nvPr/>
        </p:nvSpPr>
        <p:spPr>
          <a:xfrm>
            <a:off x="457200" y="429768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4" name="Shape 202"/>
          <p:cNvSpPr/>
          <p:nvPr/>
        </p:nvSpPr>
        <p:spPr>
          <a:xfrm>
            <a:off x="914400" y="429768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Shape 203"/>
          <p:cNvSpPr/>
          <p:nvPr/>
        </p:nvSpPr>
        <p:spPr>
          <a:xfrm>
            <a:off x="1371600" y="429768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6" name="Shape 204"/>
          <p:cNvSpPr/>
          <p:nvPr/>
        </p:nvSpPr>
        <p:spPr>
          <a:xfrm>
            <a:off x="1828800" y="429768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7" name="Shape 205"/>
          <p:cNvSpPr/>
          <p:nvPr/>
        </p:nvSpPr>
        <p:spPr>
          <a:xfrm>
            <a:off x="2286000" y="429768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8" name="Shape 206"/>
          <p:cNvSpPr/>
          <p:nvPr/>
        </p:nvSpPr>
        <p:spPr>
          <a:xfrm>
            <a:off x="2743200" y="429768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" name="Shape 207"/>
          <p:cNvSpPr/>
          <p:nvPr/>
        </p:nvSpPr>
        <p:spPr>
          <a:xfrm>
            <a:off x="3200400" y="429768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0" name="Shape 208"/>
          <p:cNvSpPr/>
          <p:nvPr/>
        </p:nvSpPr>
        <p:spPr>
          <a:xfrm>
            <a:off x="3657600" y="429768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1" name="Shape 209"/>
          <p:cNvSpPr/>
          <p:nvPr/>
        </p:nvSpPr>
        <p:spPr>
          <a:xfrm>
            <a:off x="4114800" y="429768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2" name="Shape 210"/>
          <p:cNvSpPr/>
          <p:nvPr/>
        </p:nvSpPr>
        <p:spPr>
          <a:xfrm>
            <a:off x="4572000" y="429768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3" name="Shape 211"/>
          <p:cNvSpPr/>
          <p:nvPr/>
        </p:nvSpPr>
        <p:spPr>
          <a:xfrm>
            <a:off x="5029200" y="429768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4" name="Shape 212"/>
          <p:cNvSpPr/>
          <p:nvPr/>
        </p:nvSpPr>
        <p:spPr>
          <a:xfrm>
            <a:off x="5486400" y="429768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5" name="Shape 213"/>
          <p:cNvSpPr/>
          <p:nvPr/>
        </p:nvSpPr>
        <p:spPr>
          <a:xfrm>
            <a:off x="5943600" y="429768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6" name="Shape 214"/>
          <p:cNvSpPr/>
          <p:nvPr/>
        </p:nvSpPr>
        <p:spPr>
          <a:xfrm>
            <a:off x="6400800" y="429768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7" name="Shape 215"/>
          <p:cNvSpPr/>
          <p:nvPr/>
        </p:nvSpPr>
        <p:spPr>
          <a:xfrm>
            <a:off x="6858000" y="429768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8" name="Shape 216"/>
          <p:cNvSpPr/>
          <p:nvPr/>
        </p:nvSpPr>
        <p:spPr>
          <a:xfrm>
            <a:off x="7315200" y="429768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9" name="Shape 217"/>
          <p:cNvSpPr/>
          <p:nvPr/>
        </p:nvSpPr>
        <p:spPr>
          <a:xfrm>
            <a:off x="7772400" y="429768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0" name="Shape 218"/>
          <p:cNvSpPr/>
          <p:nvPr/>
        </p:nvSpPr>
        <p:spPr>
          <a:xfrm>
            <a:off x="8229600" y="429768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1" name="Shape 219"/>
          <p:cNvSpPr/>
          <p:nvPr/>
        </p:nvSpPr>
        <p:spPr>
          <a:xfrm>
            <a:off x="8686800" y="4297680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2" name="Shape 220"/>
          <p:cNvSpPr/>
          <p:nvPr/>
        </p:nvSpPr>
        <p:spPr>
          <a:xfrm>
            <a:off x="0" y="472744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3" name="Shape 221"/>
          <p:cNvSpPr/>
          <p:nvPr/>
        </p:nvSpPr>
        <p:spPr>
          <a:xfrm>
            <a:off x="457200" y="472744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4" name="Shape 222"/>
          <p:cNvSpPr/>
          <p:nvPr/>
        </p:nvSpPr>
        <p:spPr>
          <a:xfrm>
            <a:off x="914400" y="472744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5" name="Shape 223"/>
          <p:cNvSpPr/>
          <p:nvPr/>
        </p:nvSpPr>
        <p:spPr>
          <a:xfrm>
            <a:off x="1371600" y="472744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6" name="Shape 224"/>
          <p:cNvSpPr/>
          <p:nvPr/>
        </p:nvSpPr>
        <p:spPr>
          <a:xfrm>
            <a:off x="1828800" y="472744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7" name="Shape 225"/>
          <p:cNvSpPr/>
          <p:nvPr/>
        </p:nvSpPr>
        <p:spPr>
          <a:xfrm>
            <a:off x="2286000" y="472744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8" name="Shape 226"/>
          <p:cNvSpPr/>
          <p:nvPr/>
        </p:nvSpPr>
        <p:spPr>
          <a:xfrm>
            <a:off x="2743200" y="472744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9" name="Shape 227"/>
          <p:cNvSpPr/>
          <p:nvPr/>
        </p:nvSpPr>
        <p:spPr>
          <a:xfrm>
            <a:off x="3200400" y="472744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0" name="Shape 228"/>
          <p:cNvSpPr/>
          <p:nvPr/>
        </p:nvSpPr>
        <p:spPr>
          <a:xfrm>
            <a:off x="3657600" y="472744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1" name="Shape 229"/>
          <p:cNvSpPr/>
          <p:nvPr/>
        </p:nvSpPr>
        <p:spPr>
          <a:xfrm>
            <a:off x="4114800" y="472744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2" name="Shape 230"/>
          <p:cNvSpPr/>
          <p:nvPr/>
        </p:nvSpPr>
        <p:spPr>
          <a:xfrm>
            <a:off x="4572000" y="472744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3" name="Shape 231"/>
          <p:cNvSpPr/>
          <p:nvPr/>
        </p:nvSpPr>
        <p:spPr>
          <a:xfrm>
            <a:off x="5029200" y="472744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4" name="Shape 232"/>
          <p:cNvSpPr/>
          <p:nvPr/>
        </p:nvSpPr>
        <p:spPr>
          <a:xfrm>
            <a:off x="5486400" y="472744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5" name="Shape 233"/>
          <p:cNvSpPr/>
          <p:nvPr/>
        </p:nvSpPr>
        <p:spPr>
          <a:xfrm>
            <a:off x="5943600" y="472744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6" name="Shape 234"/>
          <p:cNvSpPr/>
          <p:nvPr/>
        </p:nvSpPr>
        <p:spPr>
          <a:xfrm>
            <a:off x="6400800" y="472744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7" name="Shape 235"/>
          <p:cNvSpPr/>
          <p:nvPr/>
        </p:nvSpPr>
        <p:spPr>
          <a:xfrm>
            <a:off x="6858000" y="472744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8" name="Shape 236"/>
          <p:cNvSpPr/>
          <p:nvPr/>
        </p:nvSpPr>
        <p:spPr>
          <a:xfrm>
            <a:off x="7315200" y="472744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9" name="Shape 237"/>
          <p:cNvSpPr/>
          <p:nvPr/>
        </p:nvSpPr>
        <p:spPr>
          <a:xfrm>
            <a:off x="7772400" y="472744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0" name="Shape 238"/>
          <p:cNvSpPr/>
          <p:nvPr/>
        </p:nvSpPr>
        <p:spPr>
          <a:xfrm>
            <a:off x="8229600" y="472744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1" name="Shape 239"/>
          <p:cNvSpPr/>
          <p:nvPr/>
        </p:nvSpPr>
        <p:spPr>
          <a:xfrm>
            <a:off x="8686800" y="4727448"/>
            <a:ext cx="448056" cy="420624"/>
          </a:xfrm>
          <a:prstGeom prst="rect">
            <a:avLst/>
          </a:prstGeom>
          <a:solidFill>
            <a:srgbClr val="1E3554"/>
          </a:solidFill>
          <a:ln w="12700">
            <a:solidFill>
              <a:srgbClr val="25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2" name="Shape 240"/>
          <p:cNvSpPr/>
          <p:nvPr/>
        </p:nvSpPr>
        <p:spPr>
          <a:xfrm>
            <a:off x="1097280" y="914400"/>
            <a:ext cx="694944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3" name="Text 241"/>
          <p:cNvSpPr/>
          <p:nvPr/>
        </p:nvSpPr>
        <p:spPr>
          <a:xfrm>
            <a:off x="1371600" y="1115568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OPERATING REVIEW</a:t>
            </a:r>
            <a:endParaRPr lang="en-US" sz="1050" dirty="0"/>
          </a:p>
        </p:txBody>
      </p:sp>
      <p:sp>
        <p:nvSpPr>
          <p:cNvPr id="244" name="Text 242"/>
          <p:cNvSpPr/>
          <p:nvPr/>
        </p:nvSpPr>
        <p:spPr>
          <a:xfrm>
            <a:off x="1371600" y="1417320"/>
            <a:ext cx="6400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 Financial Results</a:t>
            </a:r>
            <a:endParaRPr lang="en-US" sz="4000" dirty="0"/>
          </a:p>
        </p:txBody>
      </p:sp>
      <p:sp>
        <p:nvSpPr>
          <p:cNvPr id="245" name="Shape 243"/>
          <p:cNvSpPr/>
          <p:nvPr/>
        </p:nvSpPr>
        <p:spPr>
          <a:xfrm>
            <a:off x="1371599" y="2212848"/>
            <a:ext cx="5885121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6" name="Text 244"/>
          <p:cNvSpPr/>
          <p:nvPr/>
        </p:nvSpPr>
        <p:spPr>
          <a:xfrm>
            <a:off x="1362456" y="3632720"/>
            <a:ext cx="6400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Leadership Package</a:t>
            </a:r>
            <a:endParaRPr lang="en-US" sz="1300" dirty="0"/>
          </a:p>
        </p:txBody>
      </p:sp>
      <p:sp>
        <p:nvSpPr>
          <p:cNvPr id="247" name="Text 245"/>
          <p:cNvSpPr/>
          <p:nvPr/>
        </p:nvSpPr>
        <p:spPr>
          <a:xfrm>
            <a:off x="1362456" y="3907040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– Jun 2026 Actuals (Q2 Close)  ·  Full-Year 2026 Forecast  ·  Budget Comparison</a:t>
            </a:r>
            <a:endParaRPr lang="en-US" sz="950" dirty="0"/>
          </a:p>
        </p:txBody>
      </p:sp>
      <p:sp>
        <p:nvSpPr>
          <p:cNvPr id="263" name="Text 261"/>
          <p:cNvSpPr/>
          <p:nvPr/>
        </p:nvSpPr>
        <p:spPr>
          <a:xfrm>
            <a:off x="365760" y="4882896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SMPL  ·  CONFIDENTIAL — NOT FOR DISTRIBUTION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8412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 | SMPL Consolidated Dashboard — June Close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2026 Actuals (Q2 Close) vs Budget · Full-Year 2026 Forecast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645920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02336" y="1097280"/>
            <a:ext cx="15727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2011680" y="1060704"/>
            <a:ext cx="822960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048256" y="1097280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Period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834640" y="1060704"/>
            <a:ext cx="822960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871216" y="1097280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657600" y="1060704"/>
            <a:ext cx="640080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94176" y="1097280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Var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297680" y="1060704"/>
            <a:ext cx="822960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334256" y="1097280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Period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5120640" y="1060704"/>
            <a:ext cx="640080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157216" y="1097280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Var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65760" y="1307592"/>
            <a:ext cx="164592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02336" y="1344168"/>
            <a:ext cx="15727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(MRR)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011680" y="1307592"/>
            <a:ext cx="82296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048256" y="1344168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$7.41M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834640" y="1307592"/>
            <a:ext cx="82296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871216" y="1344168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$7.35M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0" y="1307592"/>
            <a:ext cx="640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694176" y="1344168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+0.8%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297680" y="1307592"/>
            <a:ext cx="82296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334256" y="1344168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$7.18M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120640" y="1307592"/>
            <a:ext cx="640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157216" y="1344168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+3.2%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65760" y="1636776"/>
            <a:ext cx="16459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02336" y="1673352"/>
            <a:ext cx="15727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Rev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011680" y="1636776"/>
            <a:ext cx="8229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2048256" y="1673352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$7.08M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834640" y="1636776"/>
            <a:ext cx="8229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871216" y="1673352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$7.02M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0" y="1636776"/>
            <a:ext cx="6400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694176" y="1673352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+0.9%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297680" y="1636776"/>
            <a:ext cx="8229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334256" y="1673352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$6.85M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120640" y="1636776"/>
            <a:ext cx="6400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157216" y="1673352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+3.2%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65760" y="1965960"/>
            <a:ext cx="164592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02336" y="2002536"/>
            <a:ext cx="15727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2011680" y="1965960"/>
            <a:ext cx="82296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048256" y="2002536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77.0%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2834640" y="1965960"/>
            <a:ext cx="82296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2871216" y="2002536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77.0%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3657600" y="1965960"/>
            <a:ext cx="640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3694176" y="2002536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297680" y="1965960"/>
            <a:ext cx="82296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334256" y="2002536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77.0%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5120640" y="1965960"/>
            <a:ext cx="640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5157216" y="2002536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65760" y="2295144"/>
            <a:ext cx="16459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402336" y="2331720"/>
            <a:ext cx="15727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Adj. EBITDA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2011680" y="2295144"/>
            <a:ext cx="8229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2048256" y="2331720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($1.30M)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2834640" y="2295144"/>
            <a:ext cx="8229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2871216" y="2331720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($1.30M)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3657600" y="2295144"/>
            <a:ext cx="6400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3694176" y="2331720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4297680" y="2295144"/>
            <a:ext cx="8229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4334256" y="2331720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($0.21M)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64" name="Shape 62"/>
          <p:cNvSpPr/>
          <p:nvPr/>
        </p:nvSpPr>
        <p:spPr>
          <a:xfrm>
            <a:off x="5120640" y="2295144"/>
            <a:ext cx="6400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5157216" y="2331720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(4.8%)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66" name="Shape 64"/>
          <p:cNvSpPr/>
          <p:nvPr/>
        </p:nvSpPr>
        <p:spPr>
          <a:xfrm>
            <a:off x="365760" y="2624328"/>
            <a:ext cx="164592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402336" y="2660904"/>
            <a:ext cx="15727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(Ending)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2011680" y="2624328"/>
            <a:ext cx="82296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2048256" y="2660904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$86.10M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2834640" y="2624328"/>
            <a:ext cx="82296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2871216" y="2660904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$84.89M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3657600" y="2624328"/>
            <a:ext cx="640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3694176" y="2660904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+0.8%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4297680" y="2624328"/>
            <a:ext cx="82296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4334256" y="2660904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$83.45M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5120640" y="2624328"/>
            <a:ext cx="640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5157216" y="2660904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+3.2%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365760" y="2953512"/>
            <a:ext cx="16459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402336" y="2990088"/>
            <a:ext cx="15727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New ARR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011680" y="2953512"/>
            <a:ext cx="8229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2048256" y="2990088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$2.66M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2834640" y="2953512"/>
            <a:ext cx="8229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2871216" y="2990088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$2.19M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3657600" y="2953512"/>
            <a:ext cx="6400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3694176" y="2990088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+21.5%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4297680" y="2953512"/>
            <a:ext cx="8229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4334256" y="2990088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$2.06M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5120640" y="2953512"/>
            <a:ext cx="6400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5157216" y="2990088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+29.4%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365760" y="3282696"/>
            <a:ext cx="164592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402336" y="3319272"/>
            <a:ext cx="15727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(EOP)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2011680" y="3282696"/>
            <a:ext cx="82296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/>
          <p:nvPr/>
        </p:nvSpPr>
        <p:spPr>
          <a:xfrm>
            <a:off x="2048256" y="3319272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$70.61M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2834640" y="3282696"/>
            <a:ext cx="82296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93"/>
          <p:cNvSpPr/>
          <p:nvPr/>
        </p:nvSpPr>
        <p:spPr>
          <a:xfrm>
            <a:off x="2871216" y="3319272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$48.36M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3657600" y="3282696"/>
            <a:ext cx="640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Text 95"/>
          <p:cNvSpPr/>
          <p:nvPr/>
        </p:nvSpPr>
        <p:spPr>
          <a:xfrm>
            <a:off x="3694176" y="3319272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+46%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4297680" y="3282696"/>
            <a:ext cx="82296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97"/>
          <p:cNvSpPr/>
          <p:nvPr/>
        </p:nvSpPr>
        <p:spPr>
          <a:xfrm>
            <a:off x="4334256" y="3319272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$66.04M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5120640" y="3282696"/>
            <a:ext cx="640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5157216" y="3319272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+6.9%</a:t>
            </a:r>
            <a:endParaRPr lang="en-US" sz="800" dirty="0"/>
          </a:p>
        </p:txBody>
      </p:sp>
      <p:sp>
        <p:nvSpPr>
          <p:cNvPr id="102" name="Shape 100"/>
          <p:cNvSpPr/>
          <p:nvPr/>
        </p:nvSpPr>
        <p:spPr>
          <a:xfrm>
            <a:off x="365760" y="3611880"/>
            <a:ext cx="16459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Text 101"/>
          <p:cNvSpPr/>
          <p:nvPr/>
        </p:nvSpPr>
        <p:spPr>
          <a:xfrm>
            <a:off x="402336" y="3648456"/>
            <a:ext cx="15727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NRR (Trailing)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2011680" y="3611880"/>
            <a:ext cx="8229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 103"/>
          <p:cNvSpPr/>
          <p:nvPr/>
        </p:nvSpPr>
        <p:spPr>
          <a:xfrm>
            <a:off x="2048256" y="3648456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100.8%</a:t>
            </a:r>
            <a:endParaRPr lang="en-US" sz="800" dirty="0"/>
          </a:p>
        </p:txBody>
      </p:sp>
      <p:sp>
        <p:nvSpPr>
          <p:cNvPr id="106" name="Shape 104"/>
          <p:cNvSpPr/>
          <p:nvPr/>
        </p:nvSpPr>
        <p:spPr>
          <a:xfrm>
            <a:off x="2834640" y="3611880"/>
            <a:ext cx="8229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Text 105"/>
          <p:cNvSpPr/>
          <p:nvPr/>
        </p:nvSpPr>
        <p:spPr>
          <a:xfrm>
            <a:off x="2871216" y="3648456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3657600" y="3611880"/>
            <a:ext cx="6400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Text 107"/>
          <p:cNvSpPr/>
          <p:nvPr/>
        </p:nvSpPr>
        <p:spPr>
          <a:xfrm>
            <a:off x="3694176" y="3648456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+80bps</a:t>
            </a:r>
            <a:endParaRPr lang="en-US" sz="800" dirty="0"/>
          </a:p>
        </p:txBody>
      </p:sp>
      <p:sp>
        <p:nvSpPr>
          <p:cNvPr id="110" name="Shape 108"/>
          <p:cNvSpPr/>
          <p:nvPr/>
        </p:nvSpPr>
        <p:spPr>
          <a:xfrm>
            <a:off x="4297680" y="3611880"/>
            <a:ext cx="8229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109"/>
          <p:cNvSpPr/>
          <p:nvPr/>
        </p:nvSpPr>
        <p:spPr>
          <a:xfrm>
            <a:off x="4334256" y="3648456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100.2%</a:t>
            </a:r>
            <a:endParaRPr lang="en-US" sz="800" dirty="0"/>
          </a:p>
        </p:txBody>
      </p:sp>
      <p:sp>
        <p:nvSpPr>
          <p:cNvPr id="112" name="Shape 110"/>
          <p:cNvSpPr/>
          <p:nvPr/>
        </p:nvSpPr>
        <p:spPr>
          <a:xfrm>
            <a:off x="5120640" y="3611880"/>
            <a:ext cx="6400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Text 111"/>
          <p:cNvSpPr/>
          <p:nvPr/>
        </p:nvSpPr>
        <p:spPr>
          <a:xfrm>
            <a:off x="5157216" y="3648456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+60bps</a:t>
            </a:r>
            <a:endParaRPr lang="en-US" sz="800" dirty="0"/>
          </a:p>
        </p:txBody>
      </p:sp>
      <p:sp>
        <p:nvSpPr>
          <p:cNvPr id="114" name="Shape 112"/>
          <p:cNvSpPr/>
          <p:nvPr/>
        </p:nvSpPr>
        <p:spPr>
          <a:xfrm>
            <a:off x="5830506" y="1067923"/>
            <a:ext cx="3031958" cy="2781701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113"/>
          <p:cNvSpPr/>
          <p:nvPr/>
        </p:nvSpPr>
        <p:spPr>
          <a:xfrm>
            <a:off x="5804515" y="1124712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dirty="0">
                <a:solidFill>
                  <a:srgbClr val="1A2E44"/>
                </a:solidFill>
              </a:rPr>
              <a:t>Key Takeaways</a:t>
            </a:r>
          </a:p>
        </p:txBody>
      </p:sp>
      <p:sp>
        <p:nvSpPr>
          <p:cNvPr id="116" name="Shape 114"/>
          <p:cNvSpPr/>
          <p:nvPr/>
        </p:nvSpPr>
        <p:spPr>
          <a:xfrm>
            <a:off x="5844944" y="1389888"/>
            <a:ext cx="30175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Text 115"/>
          <p:cNvSpPr/>
          <p:nvPr/>
        </p:nvSpPr>
        <p:spPr>
          <a:xfrm>
            <a:off x="5792004" y="1399032"/>
            <a:ext cx="3017520" cy="480059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/>
            <a:r>
              <a:rPr lang="en-US" sz="950" b="0" dirty="0">
                <a:solidFill>
                  <a:srgbClr val="000000"/>
                </a:solidFill>
              </a:rPr>
              <a:t>• Revenue $7.41M (+0.8% vs budget) — Q2 subscription growth tracking ahead of plan; YTD $41.7M +$0.3M vs budget</a:t>
            </a:r>
          </a:p>
        </p:txBody>
      </p:sp>
      <p:sp>
        <p:nvSpPr>
          <p:cNvPr id="118" name="Text 116"/>
          <p:cNvSpPr/>
          <p:nvPr/>
        </p:nvSpPr>
        <p:spPr>
          <a:xfrm>
            <a:off x="5787191" y="1873555"/>
            <a:ext cx="3017520" cy="480059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/>
            <a:r>
              <a:rPr lang="en-US" sz="950" b="0" dirty="0">
                <a:solidFill>
                  <a:srgbClr val="000000"/>
                </a:solidFill>
              </a:rPr>
              <a:t>• ARR $86.10M exceeds $84.89M budget by +$1.21M; net new ARR +103% Jan→Jun ($1.31M to $2.655M); NRR 100.8%</a:t>
            </a:r>
          </a:p>
        </p:txBody>
      </p:sp>
      <p:sp>
        <p:nvSpPr>
          <p:cNvPr id="119" name="Text 117"/>
          <p:cNvSpPr/>
          <p:nvPr/>
        </p:nvSpPr>
        <p:spPr>
          <a:xfrm>
            <a:off x="5784785" y="2295863"/>
            <a:ext cx="3017520" cy="480059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/>
            <a:r>
              <a:rPr lang="en-US" sz="950" b="0" dirty="0">
                <a:solidFill>
                  <a:srgbClr val="000000"/>
                </a:solidFill>
              </a:rPr>
              <a:t>• Cash $70.61M exceeds $48.36M budget by $22.25M — Q1 annual billing collections + June $11.18M close</a:t>
            </a:r>
          </a:p>
        </p:txBody>
      </p:sp>
      <p:sp>
        <p:nvSpPr>
          <p:cNvPr id="120" name="Text 118"/>
          <p:cNvSpPr/>
          <p:nvPr/>
        </p:nvSpPr>
        <p:spPr>
          <a:xfrm>
            <a:off x="5784785" y="2660904"/>
            <a:ext cx="3017520" cy="480059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/>
            <a:r>
              <a:rPr lang="en-US" sz="950" b="0" dirty="0">
                <a:solidFill>
                  <a:srgbClr val="000000"/>
                </a:solidFill>
              </a:rPr>
              <a:t>• NRR 100.8% — best reading of H1; June churn $0.115M favorable vs $0.50M budget; expansion outperforming</a:t>
            </a:r>
          </a:p>
        </p:txBody>
      </p:sp>
      <p:sp>
        <p:nvSpPr>
          <p:cNvPr id="121" name="Text 119"/>
          <p:cNvSpPr/>
          <p:nvPr/>
        </p:nvSpPr>
        <p:spPr>
          <a:xfrm>
            <a:off x="5787191" y="3079242"/>
            <a:ext cx="3017520" cy="480059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/>
            <a:r>
              <a:rPr lang="en-US" sz="950" b="0" dirty="0">
                <a:solidFill>
                  <a:srgbClr val="000000"/>
                </a:solidFill>
              </a:rPr>
              <a:t>• EBITDA -$1.30M vs $0.65M budget (-$1.95M); Q2 variable comp timing reverses in Q3; GM +220bps above plan</a:t>
            </a:r>
          </a:p>
        </p:txBody>
      </p:sp>
      <p:sp>
        <p:nvSpPr>
          <p:cNvPr id="122" name="Shape 120"/>
          <p:cNvSpPr/>
          <p:nvPr/>
        </p:nvSpPr>
        <p:spPr>
          <a:xfrm>
            <a:off x="0" y="4974336"/>
            <a:ext cx="9144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Text 121"/>
          <p:cNvSpPr/>
          <p:nvPr/>
        </p:nvSpPr>
        <p:spPr>
          <a:xfrm>
            <a:off x="365760" y="4992624"/>
            <a:ext cx="7315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SMPL · Board Operating Review · Q2 2026 · CONFIDENTIAL</a:t>
            </a:r>
            <a:endParaRPr lang="en-US" sz="700" dirty="0"/>
          </a:p>
        </p:txBody>
      </p:sp>
      <p:sp>
        <p:nvSpPr>
          <p:cNvPr id="124" name="Text 122"/>
          <p:cNvSpPr/>
          <p:nvPr/>
        </p:nvSpPr>
        <p:spPr>
          <a:xfrm>
            <a:off x="8412480" y="4992624"/>
            <a:ext cx="7315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2/11</a:t>
            </a:r>
            <a:endParaRPr lang="en-US" sz="700" dirty="0"/>
          </a:p>
        </p:txBody>
      </p:sp>
      <p:sp>
        <p:nvSpPr>
          <p:cNvPr id="131" name="Shape 246">
            <a:extLst>
              <a:ext uri="{FF2B5EF4-FFF2-40B4-BE49-F238E27FC236}">
                <a16:creationId xmlns:a16="http://schemas.microsoft.com/office/drawing/2014/main" id="{47C7DE93-C789-6BEF-7062-C8F95341834B}"/>
              </a:ext>
            </a:extLst>
          </p:cNvPr>
          <p:cNvSpPr/>
          <p:nvPr/>
        </p:nvSpPr>
        <p:spPr>
          <a:xfrm>
            <a:off x="365760" y="4036863"/>
            <a:ext cx="1261872" cy="822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Text 247">
            <a:extLst>
              <a:ext uri="{FF2B5EF4-FFF2-40B4-BE49-F238E27FC236}">
                <a16:creationId xmlns:a16="http://schemas.microsoft.com/office/drawing/2014/main" id="{B1FFA3B0-1B7C-C367-6D06-CC7B3730B8DB}"/>
              </a:ext>
            </a:extLst>
          </p:cNvPr>
          <p:cNvSpPr/>
          <p:nvPr/>
        </p:nvSpPr>
        <p:spPr>
          <a:xfrm>
            <a:off x="438912" y="4091727"/>
            <a:ext cx="11155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</a:t>
            </a:r>
            <a:endParaRPr lang="en-US" sz="800" dirty="0"/>
          </a:p>
        </p:txBody>
      </p:sp>
      <p:sp>
        <p:nvSpPr>
          <p:cNvPr id="133" name="Text 248">
            <a:extLst>
              <a:ext uri="{FF2B5EF4-FFF2-40B4-BE49-F238E27FC236}">
                <a16:creationId xmlns:a16="http://schemas.microsoft.com/office/drawing/2014/main" id="{6C57A21E-0CBD-F0BD-563A-BC47E7E31FE3}"/>
              </a:ext>
            </a:extLst>
          </p:cNvPr>
          <p:cNvSpPr/>
          <p:nvPr/>
        </p:nvSpPr>
        <p:spPr>
          <a:xfrm>
            <a:off x="438912" y="4274607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$83.5M</a:t>
            </a:r>
            <a:endParaRPr lang="en-US" sz="1500" dirty="0"/>
          </a:p>
        </p:txBody>
      </p:sp>
      <p:sp>
        <p:nvSpPr>
          <p:cNvPr id="134" name="Shape 249">
            <a:extLst>
              <a:ext uri="{FF2B5EF4-FFF2-40B4-BE49-F238E27FC236}">
                <a16:creationId xmlns:a16="http://schemas.microsoft.com/office/drawing/2014/main" id="{1203CB01-3BF9-3D2A-A054-016A6F735E07}"/>
              </a:ext>
            </a:extLst>
          </p:cNvPr>
          <p:cNvSpPr/>
          <p:nvPr/>
        </p:nvSpPr>
        <p:spPr>
          <a:xfrm>
            <a:off x="2203068" y="4038139"/>
            <a:ext cx="1261872" cy="822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Text 250">
            <a:extLst>
              <a:ext uri="{FF2B5EF4-FFF2-40B4-BE49-F238E27FC236}">
                <a16:creationId xmlns:a16="http://schemas.microsoft.com/office/drawing/2014/main" id="{3F79233D-7809-A260-CC66-8A66C018E553}"/>
              </a:ext>
            </a:extLst>
          </p:cNvPr>
          <p:cNvSpPr/>
          <p:nvPr/>
        </p:nvSpPr>
        <p:spPr>
          <a:xfrm>
            <a:off x="2276220" y="4093003"/>
            <a:ext cx="11155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800" dirty="0"/>
          </a:p>
        </p:txBody>
      </p:sp>
      <p:sp>
        <p:nvSpPr>
          <p:cNvPr id="136" name="Text 251">
            <a:extLst>
              <a:ext uri="{FF2B5EF4-FFF2-40B4-BE49-F238E27FC236}">
                <a16:creationId xmlns:a16="http://schemas.microsoft.com/office/drawing/2014/main" id="{6A571A62-1F63-0770-44DC-74F3C4ECF047}"/>
              </a:ext>
            </a:extLst>
          </p:cNvPr>
          <p:cNvSpPr/>
          <p:nvPr/>
        </p:nvSpPr>
        <p:spPr>
          <a:xfrm>
            <a:off x="2276220" y="4275883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$7.41M/mo</a:t>
            </a:r>
            <a:endParaRPr lang="en-US" sz="1500" dirty="0"/>
          </a:p>
        </p:txBody>
      </p:sp>
      <p:sp>
        <p:nvSpPr>
          <p:cNvPr id="137" name="Shape 252">
            <a:extLst>
              <a:ext uri="{FF2B5EF4-FFF2-40B4-BE49-F238E27FC236}">
                <a16:creationId xmlns:a16="http://schemas.microsoft.com/office/drawing/2014/main" id="{4084B9BB-91B1-A761-019C-C58A4C08A1AE}"/>
              </a:ext>
            </a:extLst>
          </p:cNvPr>
          <p:cNvSpPr/>
          <p:nvPr/>
        </p:nvSpPr>
        <p:spPr>
          <a:xfrm>
            <a:off x="4005073" y="4023466"/>
            <a:ext cx="1261872" cy="822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Text 253">
            <a:extLst>
              <a:ext uri="{FF2B5EF4-FFF2-40B4-BE49-F238E27FC236}">
                <a16:creationId xmlns:a16="http://schemas.microsoft.com/office/drawing/2014/main" id="{95800E19-E3EA-0A36-0482-7AA8907DB36E}"/>
              </a:ext>
            </a:extLst>
          </p:cNvPr>
          <p:cNvSpPr/>
          <p:nvPr/>
        </p:nvSpPr>
        <p:spPr>
          <a:xfrm>
            <a:off x="4078225" y="4078330"/>
            <a:ext cx="11155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</a:t>
            </a:r>
            <a:endParaRPr lang="en-US" sz="800" dirty="0"/>
          </a:p>
        </p:txBody>
      </p:sp>
      <p:sp>
        <p:nvSpPr>
          <p:cNvPr id="139" name="Text 254">
            <a:extLst>
              <a:ext uri="{FF2B5EF4-FFF2-40B4-BE49-F238E27FC236}">
                <a16:creationId xmlns:a16="http://schemas.microsoft.com/office/drawing/2014/main" id="{0F57CB75-7429-6FD6-3716-7F887B860004}"/>
              </a:ext>
            </a:extLst>
          </p:cNvPr>
          <p:cNvSpPr/>
          <p:nvPr/>
        </p:nvSpPr>
        <p:spPr>
          <a:xfrm>
            <a:off x="4078225" y="4261210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$66.0M</a:t>
            </a:r>
            <a:endParaRPr lang="en-US" sz="1500" dirty="0"/>
          </a:p>
        </p:txBody>
      </p:sp>
      <p:sp>
        <p:nvSpPr>
          <p:cNvPr id="140" name="Shape 255">
            <a:extLst>
              <a:ext uri="{FF2B5EF4-FFF2-40B4-BE49-F238E27FC236}">
                <a16:creationId xmlns:a16="http://schemas.microsoft.com/office/drawing/2014/main" id="{CD7A1F90-A695-26EF-5C61-C8099FA1E841}"/>
              </a:ext>
            </a:extLst>
          </p:cNvPr>
          <p:cNvSpPr/>
          <p:nvPr/>
        </p:nvSpPr>
        <p:spPr>
          <a:xfrm>
            <a:off x="5815147" y="4023466"/>
            <a:ext cx="1261872" cy="822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Text 256">
            <a:extLst>
              <a:ext uri="{FF2B5EF4-FFF2-40B4-BE49-F238E27FC236}">
                <a16:creationId xmlns:a16="http://schemas.microsoft.com/office/drawing/2014/main" id="{9E8A4507-845B-CE42-FA66-9760D7ED4547}"/>
              </a:ext>
            </a:extLst>
          </p:cNvPr>
          <p:cNvSpPr/>
          <p:nvPr/>
        </p:nvSpPr>
        <p:spPr>
          <a:xfrm>
            <a:off x="5888299" y="4078330"/>
            <a:ext cx="11155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NRR</a:t>
            </a:r>
            <a:endParaRPr lang="en-US" sz="800" dirty="0"/>
          </a:p>
        </p:txBody>
      </p:sp>
      <p:sp>
        <p:nvSpPr>
          <p:cNvPr id="142" name="Text 257">
            <a:extLst>
              <a:ext uri="{FF2B5EF4-FFF2-40B4-BE49-F238E27FC236}">
                <a16:creationId xmlns:a16="http://schemas.microsoft.com/office/drawing/2014/main" id="{B272CB81-B13C-8859-C69D-570541E75ED8}"/>
              </a:ext>
            </a:extLst>
          </p:cNvPr>
          <p:cNvSpPr/>
          <p:nvPr/>
        </p:nvSpPr>
        <p:spPr>
          <a:xfrm>
            <a:off x="5888299" y="4261210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100.8%</a:t>
            </a:r>
            <a:endParaRPr lang="en-US" sz="1500" dirty="0"/>
          </a:p>
        </p:txBody>
      </p:sp>
      <p:sp>
        <p:nvSpPr>
          <p:cNvPr id="143" name="Shape 258">
            <a:extLst>
              <a:ext uri="{FF2B5EF4-FFF2-40B4-BE49-F238E27FC236}">
                <a16:creationId xmlns:a16="http://schemas.microsoft.com/office/drawing/2014/main" id="{EB80DFE7-C6DF-A2CD-1161-CAF1BE8DD670}"/>
              </a:ext>
            </a:extLst>
          </p:cNvPr>
          <p:cNvSpPr/>
          <p:nvPr/>
        </p:nvSpPr>
        <p:spPr>
          <a:xfrm>
            <a:off x="7600592" y="4023466"/>
            <a:ext cx="1261872" cy="822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Text 259">
            <a:extLst>
              <a:ext uri="{FF2B5EF4-FFF2-40B4-BE49-F238E27FC236}">
                <a16:creationId xmlns:a16="http://schemas.microsoft.com/office/drawing/2014/main" id="{3342D31D-10DC-4190-1E92-2144849D15D4}"/>
              </a:ext>
            </a:extLst>
          </p:cNvPr>
          <p:cNvSpPr/>
          <p:nvPr/>
        </p:nvSpPr>
        <p:spPr>
          <a:xfrm>
            <a:off x="7673744" y="4078330"/>
            <a:ext cx="11155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 Fcst</a:t>
            </a:r>
            <a:endParaRPr lang="en-US" sz="800" dirty="0"/>
          </a:p>
        </p:txBody>
      </p:sp>
      <p:sp>
        <p:nvSpPr>
          <p:cNvPr id="145" name="Text 260">
            <a:extLst>
              <a:ext uri="{FF2B5EF4-FFF2-40B4-BE49-F238E27FC236}">
                <a16:creationId xmlns:a16="http://schemas.microsoft.com/office/drawing/2014/main" id="{A9AAB581-D214-6A7B-A7E8-63055E425B3B}"/>
              </a:ext>
            </a:extLst>
          </p:cNvPr>
          <p:cNvSpPr/>
          <p:nvPr/>
        </p:nvSpPr>
        <p:spPr>
          <a:xfrm>
            <a:off x="7673744" y="4261210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$97.5M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8412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Analysis — Q2 Close · Jun 2026 Actual vs Budget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waterfall · Q2 summary · YTD vs Budget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210312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042416"/>
            <a:ext cx="2103120" cy="36576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115568"/>
            <a:ext cx="1938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 ARR Forecast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57200" y="1289304"/>
            <a:ext cx="19385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$97.5M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" y="1618488"/>
            <a:ext cx="1938528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+$1.4M vs budget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560320" y="1042416"/>
            <a:ext cx="210312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60320" y="1042416"/>
            <a:ext cx="2103120" cy="36576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651760" y="1115568"/>
            <a:ext cx="1938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New ARR (Jun)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2651760" y="1289304"/>
            <a:ext cx="19385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$2.66M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651760" y="1618488"/>
            <a:ext cx="1938528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+$0.47M vs plan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754880" y="1042416"/>
            <a:ext cx="210312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54880" y="1042416"/>
            <a:ext cx="2103120" cy="36576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46320" y="1115568"/>
            <a:ext cx="1938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FY Fcst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4846320" y="1289304"/>
            <a:ext cx="19385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$10.9M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846320" y="1618488"/>
            <a:ext cx="1938528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+$0.33M vs budget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6949440" y="1042416"/>
            <a:ext cx="210312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949440" y="1042416"/>
            <a:ext cx="2103120" cy="36576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040880" y="1115568"/>
            <a:ext cx="1938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FY Fcst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040880" y="1289304"/>
            <a:ext cx="19385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($7.0M)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040880" y="1618488"/>
            <a:ext cx="1938528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+$0.21M vs budget</a:t>
            </a:r>
            <a:endParaRPr lang="en-US" sz="750" dirty="0"/>
          </a:p>
        </p:txBody>
      </p:sp>
      <p:graphicFrame>
        <p:nvGraphicFramePr>
          <p:cNvPr id="26" name="Chart 0"/>
          <p:cNvGraphicFramePr/>
          <p:nvPr/>
        </p:nvGraphicFramePr>
        <p:xfrm>
          <a:off x="365760" y="1938528"/>
          <a:ext cx="530352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7" name="Text 24"/>
          <p:cNvSpPr/>
          <p:nvPr/>
        </p:nvSpPr>
        <p:spPr>
          <a:xfrm>
            <a:off x="5850716" y="1847088"/>
            <a:ext cx="3063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ARR BRIDGE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5852160" y="2019372"/>
            <a:ext cx="1097280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888736" y="2055948"/>
            <a:ext cx="1024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6949440" y="2019372"/>
            <a:ext cx="658368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986016" y="2055948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7607808" y="2019372"/>
            <a:ext cx="658368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7644384" y="2055948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750" dirty="0"/>
          </a:p>
        </p:txBody>
      </p:sp>
      <p:sp>
        <p:nvSpPr>
          <p:cNvPr id="34" name="Shape 31"/>
          <p:cNvSpPr/>
          <p:nvPr/>
        </p:nvSpPr>
        <p:spPr>
          <a:xfrm>
            <a:off x="8266176" y="2019372"/>
            <a:ext cx="658368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8302752" y="2055948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</a:t>
            </a:r>
            <a:endParaRPr lang="en-US" sz="750" dirty="0"/>
          </a:p>
        </p:txBody>
      </p:sp>
      <p:sp>
        <p:nvSpPr>
          <p:cNvPr id="36" name="Shape 33"/>
          <p:cNvSpPr/>
          <p:nvPr/>
        </p:nvSpPr>
        <p:spPr>
          <a:xfrm>
            <a:off x="5852160" y="2266260"/>
            <a:ext cx="10972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5888736" y="2302836"/>
            <a:ext cx="1024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BOP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6949440" y="2266260"/>
            <a:ext cx="65836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986016" y="2302836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$75.0M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7607808" y="2266260"/>
            <a:ext cx="65836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7644384" y="2302836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$75.0M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8264249" y="2266742"/>
            <a:ext cx="65836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8302752" y="2302836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5852160" y="2513148"/>
            <a:ext cx="10972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2"/>
          <p:cNvSpPr/>
          <p:nvPr/>
        </p:nvSpPr>
        <p:spPr>
          <a:xfrm>
            <a:off x="5888736" y="2549724"/>
            <a:ext cx="1024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New Business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6949440" y="2513148"/>
            <a:ext cx="65836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4"/>
          <p:cNvSpPr/>
          <p:nvPr/>
        </p:nvSpPr>
        <p:spPr>
          <a:xfrm>
            <a:off x="6986016" y="2549724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$19.0M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7607808" y="2513148"/>
            <a:ext cx="65836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6"/>
          <p:cNvSpPr/>
          <p:nvPr/>
        </p:nvSpPr>
        <p:spPr>
          <a:xfrm>
            <a:off x="7644384" y="2549724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$19.0M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8266176" y="2513148"/>
            <a:ext cx="65836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8"/>
          <p:cNvSpPr/>
          <p:nvPr/>
        </p:nvSpPr>
        <p:spPr>
          <a:xfrm>
            <a:off x="8302752" y="2549724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+$0.47M</a:t>
            </a:r>
            <a:endParaRPr lang="en-US" sz="800" dirty="0"/>
          </a:p>
        </p:txBody>
      </p:sp>
      <p:sp>
        <p:nvSpPr>
          <p:cNvPr id="52" name="Shape 49"/>
          <p:cNvSpPr/>
          <p:nvPr/>
        </p:nvSpPr>
        <p:spPr>
          <a:xfrm>
            <a:off x="5852160" y="2760036"/>
            <a:ext cx="10972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0"/>
          <p:cNvSpPr/>
          <p:nvPr/>
        </p:nvSpPr>
        <p:spPr>
          <a:xfrm>
            <a:off x="5888736" y="2796612"/>
            <a:ext cx="1024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Expansion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6949440" y="2760036"/>
            <a:ext cx="65836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2"/>
          <p:cNvSpPr/>
          <p:nvPr/>
        </p:nvSpPr>
        <p:spPr>
          <a:xfrm>
            <a:off x="6986016" y="2796612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$10.9M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7607808" y="2760036"/>
            <a:ext cx="65836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4"/>
          <p:cNvSpPr/>
          <p:nvPr/>
        </p:nvSpPr>
        <p:spPr>
          <a:xfrm>
            <a:off x="7644384" y="2796612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$10.5M</a:t>
            </a:r>
            <a:endParaRPr lang="en-US" sz="800" dirty="0"/>
          </a:p>
        </p:txBody>
      </p:sp>
      <p:sp>
        <p:nvSpPr>
          <p:cNvPr id="58" name="Shape 55"/>
          <p:cNvSpPr/>
          <p:nvPr/>
        </p:nvSpPr>
        <p:spPr>
          <a:xfrm>
            <a:off x="8266176" y="2760036"/>
            <a:ext cx="65836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6"/>
          <p:cNvSpPr/>
          <p:nvPr/>
        </p:nvSpPr>
        <p:spPr>
          <a:xfrm>
            <a:off x="8302752" y="2796612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+$0.3M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5852160" y="3006924"/>
            <a:ext cx="10972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8"/>
          <p:cNvSpPr/>
          <p:nvPr/>
        </p:nvSpPr>
        <p:spPr>
          <a:xfrm>
            <a:off x="5888736" y="3043500"/>
            <a:ext cx="1024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Reactivation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6949440" y="3006924"/>
            <a:ext cx="65836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0"/>
          <p:cNvSpPr/>
          <p:nvPr/>
        </p:nvSpPr>
        <p:spPr>
          <a:xfrm>
            <a:off x="6986016" y="3043500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$2.8M</a:t>
            </a:r>
            <a:endParaRPr lang="en-US" sz="800" dirty="0"/>
          </a:p>
        </p:txBody>
      </p:sp>
      <p:sp>
        <p:nvSpPr>
          <p:cNvPr id="64" name="Shape 61"/>
          <p:cNvSpPr/>
          <p:nvPr/>
        </p:nvSpPr>
        <p:spPr>
          <a:xfrm>
            <a:off x="7607808" y="3006924"/>
            <a:ext cx="65836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2"/>
          <p:cNvSpPr/>
          <p:nvPr/>
        </p:nvSpPr>
        <p:spPr>
          <a:xfrm>
            <a:off x="7644384" y="3043500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$2.8M</a:t>
            </a:r>
            <a:endParaRPr lang="en-US" sz="800" dirty="0"/>
          </a:p>
        </p:txBody>
      </p:sp>
      <p:sp>
        <p:nvSpPr>
          <p:cNvPr id="66" name="Shape 63"/>
          <p:cNvSpPr/>
          <p:nvPr/>
        </p:nvSpPr>
        <p:spPr>
          <a:xfrm>
            <a:off x="8266176" y="3006924"/>
            <a:ext cx="65836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4"/>
          <p:cNvSpPr/>
          <p:nvPr/>
        </p:nvSpPr>
        <p:spPr>
          <a:xfrm>
            <a:off x="8302752" y="3043500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5852160" y="3253812"/>
            <a:ext cx="10972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6"/>
          <p:cNvSpPr/>
          <p:nvPr/>
        </p:nvSpPr>
        <p:spPr>
          <a:xfrm>
            <a:off x="5888736" y="3290388"/>
            <a:ext cx="1024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Contraction</a:t>
            </a:r>
            <a:endParaRPr lang="en-US" sz="800" dirty="0"/>
          </a:p>
        </p:txBody>
      </p:sp>
      <p:sp>
        <p:nvSpPr>
          <p:cNvPr id="70" name="Shape 67"/>
          <p:cNvSpPr/>
          <p:nvPr/>
        </p:nvSpPr>
        <p:spPr>
          <a:xfrm>
            <a:off x="6949440" y="3253812"/>
            <a:ext cx="65836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8"/>
          <p:cNvSpPr/>
          <p:nvPr/>
        </p:nvSpPr>
        <p:spPr>
          <a:xfrm>
            <a:off x="6986016" y="3290388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($3.9M)</a:t>
            </a:r>
            <a:endParaRPr lang="en-US" sz="800" dirty="0"/>
          </a:p>
        </p:txBody>
      </p:sp>
      <p:sp>
        <p:nvSpPr>
          <p:cNvPr id="72" name="Shape 69"/>
          <p:cNvSpPr/>
          <p:nvPr/>
        </p:nvSpPr>
        <p:spPr>
          <a:xfrm>
            <a:off x="7607808" y="3253812"/>
            <a:ext cx="65836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0"/>
          <p:cNvSpPr/>
          <p:nvPr/>
        </p:nvSpPr>
        <p:spPr>
          <a:xfrm>
            <a:off x="7644384" y="3290388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($4.0M)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8266176" y="3253812"/>
            <a:ext cx="65836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2"/>
          <p:cNvSpPr/>
          <p:nvPr/>
        </p:nvSpPr>
        <p:spPr>
          <a:xfrm>
            <a:off x="8302752" y="3290388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+$0.1M</a:t>
            </a:r>
            <a:endParaRPr lang="en-US" sz="800" dirty="0"/>
          </a:p>
        </p:txBody>
      </p:sp>
      <p:sp>
        <p:nvSpPr>
          <p:cNvPr id="76" name="Shape 73"/>
          <p:cNvSpPr/>
          <p:nvPr/>
        </p:nvSpPr>
        <p:spPr>
          <a:xfrm>
            <a:off x="5852160" y="3500700"/>
            <a:ext cx="10972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4"/>
          <p:cNvSpPr/>
          <p:nvPr/>
        </p:nvSpPr>
        <p:spPr>
          <a:xfrm>
            <a:off x="5888736" y="3537276"/>
            <a:ext cx="1024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Churn</a:t>
            </a:r>
            <a:endParaRPr lang="en-US" sz="800" dirty="0"/>
          </a:p>
        </p:txBody>
      </p:sp>
      <p:sp>
        <p:nvSpPr>
          <p:cNvPr id="78" name="Shape 75"/>
          <p:cNvSpPr/>
          <p:nvPr/>
        </p:nvSpPr>
        <p:spPr>
          <a:xfrm>
            <a:off x="6949440" y="3500700"/>
            <a:ext cx="65836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6"/>
          <p:cNvSpPr/>
          <p:nvPr/>
        </p:nvSpPr>
        <p:spPr>
          <a:xfrm>
            <a:off x="6986016" y="3537276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($7.0M)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607808" y="3500700"/>
            <a:ext cx="65836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8"/>
          <p:cNvSpPr/>
          <p:nvPr/>
        </p:nvSpPr>
        <p:spPr>
          <a:xfrm>
            <a:off x="7644384" y="3537276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($7.2M)</a:t>
            </a:r>
            <a:endParaRPr lang="en-US" sz="800" dirty="0"/>
          </a:p>
        </p:txBody>
      </p:sp>
      <p:sp>
        <p:nvSpPr>
          <p:cNvPr id="82" name="Shape 79"/>
          <p:cNvSpPr/>
          <p:nvPr/>
        </p:nvSpPr>
        <p:spPr>
          <a:xfrm>
            <a:off x="8266176" y="3500700"/>
            <a:ext cx="65836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0"/>
          <p:cNvSpPr/>
          <p:nvPr/>
        </p:nvSpPr>
        <p:spPr>
          <a:xfrm>
            <a:off x="8302752" y="3537276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+$0.2M</a:t>
            </a:r>
            <a:endParaRPr lang="en-US" sz="800" dirty="0"/>
          </a:p>
        </p:txBody>
      </p:sp>
      <p:sp>
        <p:nvSpPr>
          <p:cNvPr id="84" name="Shape 81"/>
          <p:cNvSpPr/>
          <p:nvPr/>
        </p:nvSpPr>
        <p:spPr>
          <a:xfrm>
            <a:off x="5852160" y="3747588"/>
            <a:ext cx="10972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2"/>
          <p:cNvSpPr/>
          <p:nvPr/>
        </p:nvSpPr>
        <p:spPr>
          <a:xfrm>
            <a:off x="5888736" y="3784164"/>
            <a:ext cx="1024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EOP</a:t>
            </a:r>
            <a:endParaRPr lang="en-US" sz="800" dirty="0"/>
          </a:p>
        </p:txBody>
      </p:sp>
      <p:sp>
        <p:nvSpPr>
          <p:cNvPr id="86" name="Shape 83"/>
          <p:cNvSpPr/>
          <p:nvPr/>
        </p:nvSpPr>
        <p:spPr>
          <a:xfrm>
            <a:off x="6949440" y="3747588"/>
            <a:ext cx="65836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4"/>
          <p:cNvSpPr/>
          <p:nvPr/>
        </p:nvSpPr>
        <p:spPr>
          <a:xfrm>
            <a:off x="6986016" y="3784164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$97.5M</a:t>
            </a:r>
            <a:endParaRPr lang="en-US" sz="800" dirty="0"/>
          </a:p>
        </p:txBody>
      </p:sp>
      <p:sp>
        <p:nvSpPr>
          <p:cNvPr id="88" name="Shape 85"/>
          <p:cNvSpPr/>
          <p:nvPr/>
        </p:nvSpPr>
        <p:spPr>
          <a:xfrm>
            <a:off x="7607808" y="3747588"/>
            <a:ext cx="65836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6"/>
          <p:cNvSpPr/>
          <p:nvPr/>
        </p:nvSpPr>
        <p:spPr>
          <a:xfrm>
            <a:off x="7644384" y="3784164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$96.1M</a:t>
            </a:r>
            <a:endParaRPr lang="en-US" sz="800" dirty="0"/>
          </a:p>
        </p:txBody>
      </p:sp>
      <p:sp>
        <p:nvSpPr>
          <p:cNvPr id="90" name="Shape 87"/>
          <p:cNvSpPr/>
          <p:nvPr/>
        </p:nvSpPr>
        <p:spPr>
          <a:xfrm>
            <a:off x="8266176" y="3747588"/>
            <a:ext cx="65836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8"/>
          <p:cNvSpPr/>
          <p:nvPr/>
        </p:nvSpPr>
        <p:spPr>
          <a:xfrm>
            <a:off x="8302752" y="3784164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+$1.4M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5850716" y="3985332"/>
            <a:ext cx="3063240" cy="96926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90"/>
          <p:cNvSpPr/>
          <p:nvPr/>
        </p:nvSpPr>
        <p:spPr>
          <a:xfrm>
            <a:off x="5987876" y="3989655"/>
            <a:ext cx="2788920" cy="173263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dirty="0">
                <a:solidFill>
                  <a:srgbClr val="1A2E44"/>
                </a:solidFill>
              </a:rPr>
              <a:t>Key Takeaways</a:t>
            </a:r>
          </a:p>
        </p:txBody>
      </p:sp>
      <p:sp>
        <p:nvSpPr>
          <p:cNvPr id="94" name="Shape 91"/>
          <p:cNvSpPr/>
          <p:nvPr/>
        </p:nvSpPr>
        <p:spPr>
          <a:xfrm>
            <a:off x="5987876" y="4162918"/>
            <a:ext cx="27889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92"/>
          <p:cNvSpPr/>
          <p:nvPr/>
        </p:nvSpPr>
        <p:spPr>
          <a:xfrm>
            <a:off x="5987876" y="4101084"/>
            <a:ext cx="2788920" cy="480059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/>
            <a:r>
              <a:rPr lang="en-US" sz="950" b="0" dirty="0">
                <a:solidFill>
                  <a:srgbClr val="000000"/>
                </a:solidFill>
              </a:rPr>
              <a:t>• FY forecast $97.5M beats $96.1M budget by $1.4M — New Business and Expansion outperformance</a:t>
            </a:r>
          </a:p>
        </p:txBody>
      </p:sp>
      <p:sp>
        <p:nvSpPr>
          <p:cNvPr id="96" name="Text 93"/>
          <p:cNvSpPr/>
          <p:nvPr/>
        </p:nvSpPr>
        <p:spPr>
          <a:xfrm>
            <a:off x="5989320" y="4405226"/>
            <a:ext cx="2788920" cy="62179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/>
            <a:r>
              <a:rPr lang="en-US" sz="950" b="0" dirty="0">
                <a:solidFill>
                  <a:srgbClr val="000000"/>
                </a:solidFill>
              </a:rPr>
              <a:t>• Net new ARR +103% Jan→Jun ($1.31M → $2.655M); H2 supported by 3.3x pipeline coverage ($27.1M) and improving CS expansion velocity</a:t>
            </a:r>
          </a:p>
        </p:txBody>
      </p:sp>
      <p:sp>
        <p:nvSpPr>
          <p:cNvPr id="97" name="Shape 94"/>
          <p:cNvSpPr/>
          <p:nvPr/>
        </p:nvSpPr>
        <p:spPr>
          <a:xfrm>
            <a:off x="0" y="4974336"/>
            <a:ext cx="9144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95"/>
          <p:cNvSpPr/>
          <p:nvPr/>
        </p:nvSpPr>
        <p:spPr>
          <a:xfrm>
            <a:off x="365760" y="4992624"/>
            <a:ext cx="7315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SMPL · Board Operating Review · Q2 2026 · CONFIDENTIAL</a:t>
            </a:r>
            <a:endParaRPr lang="en-US" sz="700" dirty="0"/>
          </a:p>
        </p:txBody>
      </p:sp>
      <p:sp>
        <p:nvSpPr>
          <p:cNvPr id="99" name="Text 96"/>
          <p:cNvSpPr/>
          <p:nvPr/>
        </p:nvSpPr>
        <p:spPr>
          <a:xfrm>
            <a:off x="8417293" y="4994533"/>
            <a:ext cx="7315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3/11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REVIEW — Q2 2026 CLOSE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8412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Gross Margin &amp; EBITDA — Q2 Actuals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2026 Actuals vs Budget · Q2 Close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210312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042416"/>
            <a:ext cx="2103120" cy="36576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115568"/>
            <a:ext cx="1938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(Jun)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57200" y="1289304"/>
            <a:ext cx="19385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$7.41M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" y="1618488"/>
            <a:ext cx="1938528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+$0.06M vs bud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560320" y="1042416"/>
            <a:ext cx="210312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60320" y="1042416"/>
            <a:ext cx="2103120" cy="36576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651760" y="1115568"/>
            <a:ext cx="1938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Revenue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2651760" y="1289304"/>
            <a:ext cx="19385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$41.7M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651760" y="1618488"/>
            <a:ext cx="1938528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+$0.3M vs bud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754880" y="1042416"/>
            <a:ext cx="210312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54880" y="1042416"/>
            <a:ext cx="2103120" cy="36576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46320" y="1115568"/>
            <a:ext cx="1938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(Jun)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4846320" y="1289304"/>
            <a:ext cx="19385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79.2%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846320" y="1618488"/>
            <a:ext cx="1938528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+220bps vs bud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6949440" y="1042416"/>
            <a:ext cx="210312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949440" y="1042416"/>
            <a:ext cx="2103120" cy="36576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040880" y="1115568"/>
            <a:ext cx="1938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(Jun)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040880" y="1289304"/>
            <a:ext cx="19385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($1.30M)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040880" y="1618488"/>
            <a:ext cx="1938528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($1.95M) </a:t>
            </a:r>
            <a:r>
              <a:rPr lang="en-US" sz="7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vs bud</a:t>
            </a:r>
            <a:endParaRPr lang="en-US" sz="750" dirty="0"/>
          </a:p>
        </p:txBody>
      </p:sp>
      <p:graphicFrame>
        <p:nvGraphicFramePr>
          <p:cNvPr id="26" name="Chart 0"/>
          <p:cNvGraphicFramePr/>
          <p:nvPr/>
        </p:nvGraphicFramePr>
        <p:xfrm>
          <a:off x="365760" y="1938528"/>
          <a:ext cx="566928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7" name="Text 24"/>
          <p:cNvSpPr/>
          <p:nvPr/>
        </p:nvSpPr>
        <p:spPr>
          <a:xfrm>
            <a:off x="365760" y="4225972"/>
            <a:ext cx="5669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VARIANCE — JUNE 2026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457200" y="4425696"/>
            <a:ext cx="1371600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493776" y="4462272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Item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1828800" y="4425696"/>
            <a:ext cx="804672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1865376" y="4462272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2633472" y="4425696"/>
            <a:ext cx="804672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2670048" y="4462272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750" dirty="0"/>
          </a:p>
        </p:txBody>
      </p:sp>
      <p:sp>
        <p:nvSpPr>
          <p:cNvPr id="34" name="Shape 31"/>
          <p:cNvSpPr/>
          <p:nvPr/>
        </p:nvSpPr>
        <p:spPr>
          <a:xfrm>
            <a:off x="3438144" y="4425696"/>
            <a:ext cx="804672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3474720" y="4462272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$</a:t>
            </a:r>
            <a:endParaRPr lang="en-US" sz="750" dirty="0"/>
          </a:p>
        </p:txBody>
      </p:sp>
      <p:sp>
        <p:nvSpPr>
          <p:cNvPr id="36" name="Shape 33"/>
          <p:cNvSpPr/>
          <p:nvPr/>
        </p:nvSpPr>
        <p:spPr>
          <a:xfrm>
            <a:off x="4242816" y="4425696"/>
            <a:ext cx="804672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4279392" y="4462272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%</a:t>
            </a:r>
            <a:endParaRPr lang="en-US" sz="750" dirty="0"/>
          </a:p>
        </p:txBody>
      </p:sp>
      <p:sp>
        <p:nvSpPr>
          <p:cNvPr id="38" name="Shape 35"/>
          <p:cNvSpPr/>
          <p:nvPr/>
        </p:nvSpPr>
        <p:spPr>
          <a:xfrm>
            <a:off x="457200" y="4663440"/>
            <a:ext cx="13716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493776" y="4700016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1828800" y="4663440"/>
            <a:ext cx="80467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1865376" y="4700016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$7.41M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2633472" y="4663440"/>
            <a:ext cx="80467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2670048" y="4700016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$7.72M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3438144" y="4663440"/>
            <a:ext cx="80467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2"/>
          <p:cNvSpPr/>
          <p:nvPr/>
        </p:nvSpPr>
        <p:spPr>
          <a:xfrm>
            <a:off x="3474720" y="4700016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-$0.31M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4242816" y="4663440"/>
            <a:ext cx="80467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4"/>
          <p:cNvSpPr/>
          <p:nvPr/>
        </p:nvSpPr>
        <p:spPr>
          <a:xfrm>
            <a:off x="4279392" y="4700016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-4.0%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457200" y="4663440"/>
            <a:ext cx="137160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6"/>
          <p:cNvSpPr/>
          <p:nvPr/>
        </p:nvSpPr>
        <p:spPr>
          <a:xfrm>
            <a:off x="493776" y="4700016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Profit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1828800" y="4663440"/>
            <a:ext cx="80467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8"/>
          <p:cNvSpPr/>
          <p:nvPr/>
        </p:nvSpPr>
        <p:spPr>
          <a:xfrm>
            <a:off x="1865376" y="4700016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$5.87M</a:t>
            </a:r>
            <a:endParaRPr lang="en-US" sz="800" dirty="0"/>
          </a:p>
        </p:txBody>
      </p:sp>
      <p:sp>
        <p:nvSpPr>
          <p:cNvPr id="52" name="Shape 49"/>
          <p:cNvSpPr/>
          <p:nvPr/>
        </p:nvSpPr>
        <p:spPr>
          <a:xfrm>
            <a:off x="2633472" y="4663440"/>
            <a:ext cx="80467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0"/>
          <p:cNvSpPr/>
          <p:nvPr/>
        </p:nvSpPr>
        <p:spPr>
          <a:xfrm>
            <a:off x="2670048" y="4700016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$5.40M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3438144" y="4663440"/>
            <a:ext cx="80467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2"/>
          <p:cNvSpPr/>
          <p:nvPr/>
        </p:nvSpPr>
        <p:spPr>
          <a:xfrm>
            <a:off x="3474720" y="4700016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+$0.47M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4242816" y="4663440"/>
            <a:ext cx="80467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4"/>
          <p:cNvSpPr/>
          <p:nvPr/>
        </p:nvSpPr>
        <p:spPr>
          <a:xfrm>
            <a:off x="4279392" y="4700016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+8.6%</a:t>
            </a:r>
            <a:endParaRPr lang="en-US" sz="800" dirty="0"/>
          </a:p>
        </p:txBody>
      </p:sp>
      <p:sp>
        <p:nvSpPr>
          <p:cNvPr id="58" name="Shape 55"/>
          <p:cNvSpPr/>
          <p:nvPr/>
        </p:nvSpPr>
        <p:spPr>
          <a:xfrm>
            <a:off x="457200" y="4663440"/>
            <a:ext cx="13716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6"/>
          <p:cNvSpPr/>
          <p:nvPr/>
        </p:nvSpPr>
        <p:spPr>
          <a:xfrm>
            <a:off x="493776" y="4700016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%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1828800" y="4663440"/>
            <a:ext cx="80467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8"/>
          <p:cNvSpPr/>
          <p:nvPr/>
        </p:nvSpPr>
        <p:spPr>
          <a:xfrm>
            <a:off x="1865376" y="4700016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77.0%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2633472" y="4663440"/>
            <a:ext cx="80467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0"/>
          <p:cNvSpPr/>
          <p:nvPr/>
        </p:nvSpPr>
        <p:spPr>
          <a:xfrm>
            <a:off x="2670048" y="4700016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70.0%</a:t>
            </a:r>
            <a:endParaRPr lang="en-US" sz="800" dirty="0"/>
          </a:p>
        </p:txBody>
      </p:sp>
      <p:sp>
        <p:nvSpPr>
          <p:cNvPr id="64" name="Shape 61"/>
          <p:cNvSpPr/>
          <p:nvPr/>
        </p:nvSpPr>
        <p:spPr>
          <a:xfrm>
            <a:off x="3438144" y="4663440"/>
            <a:ext cx="80467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2"/>
          <p:cNvSpPr/>
          <p:nvPr/>
        </p:nvSpPr>
        <p:spPr>
          <a:xfrm>
            <a:off x="3474720" y="4700016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+920bps</a:t>
            </a:r>
            <a:endParaRPr lang="en-US" sz="800" dirty="0"/>
          </a:p>
        </p:txBody>
      </p:sp>
      <p:sp>
        <p:nvSpPr>
          <p:cNvPr id="66" name="Shape 63"/>
          <p:cNvSpPr/>
          <p:nvPr/>
        </p:nvSpPr>
        <p:spPr>
          <a:xfrm>
            <a:off x="4242816" y="4663440"/>
            <a:ext cx="80467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4"/>
          <p:cNvSpPr/>
          <p:nvPr/>
        </p:nvSpPr>
        <p:spPr>
          <a:xfrm>
            <a:off x="4279392" y="4700016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+9.2pp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457200" y="4663440"/>
            <a:ext cx="137160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6"/>
          <p:cNvSpPr/>
          <p:nvPr/>
        </p:nvSpPr>
        <p:spPr>
          <a:xfrm>
            <a:off x="493776" y="4700016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S&amp;M</a:t>
            </a:r>
            <a:endParaRPr lang="en-US" sz="800" dirty="0"/>
          </a:p>
        </p:txBody>
      </p:sp>
      <p:sp>
        <p:nvSpPr>
          <p:cNvPr id="70" name="Shape 67"/>
          <p:cNvSpPr/>
          <p:nvPr/>
        </p:nvSpPr>
        <p:spPr>
          <a:xfrm>
            <a:off x="1828800" y="4663440"/>
            <a:ext cx="80467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8"/>
          <p:cNvSpPr/>
          <p:nvPr/>
        </p:nvSpPr>
        <p:spPr>
          <a:xfrm>
            <a:off x="1865376" y="4700016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$3.15M</a:t>
            </a:r>
            <a:endParaRPr lang="en-US" sz="800" dirty="0"/>
          </a:p>
        </p:txBody>
      </p:sp>
      <p:sp>
        <p:nvSpPr>
          <p:cNvPr id="72" name="Shape 69"/>
          <p:cNvSpPr/>
          <p:nvPr/>
        </p:nvSpPr>
        <p:spPr>
          <a:xfrm>
            <a:off x="2633472" y="4663440"/>
            <a:ext cx="80467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0"/>
          <p:cNvSpPr/>
          <p:nvPr/>
        </p:nvSpPr>
        <p:spPr>
          <a:xfrm>
            <a:off x="2670048" y="4700016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$2.65M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3438144" y="4663440"/>
            <a:ext cx="80467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2"/>
          <p:cNvSpPr/>
          <p:nvPr/>
        </p:nvSpPr>
        <p:spPr>
          <a:xfrm>
            <a:off x="3474720" y="4700016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+$0.50M</a:t>
            </a:r>
            <a:endParaRPr lang="en-US" sz="800" dirty="0"/>
          </a:p>
        </p:txBody>
      </p:sp>
      <p:sp>
        <p:nvSpPr>
          <p:cNvPr id="76" name="Shape 73"/>
          <p:cNvSpPr/>
          <p:nvPr/>
        </p:nvSpPr>
        <p:spPr>
          <a:xfrm>
            <a:off x="4242816" y="4663440"/>
            <a:ext cx="80467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4"/>
          <p:cNvSpPr/>
          <p:nvPr/>
        </p:nvSpPr>
        <p:spPr>
          <a:xfrm>
            <a:off x="4279392" y="4700016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+18.9%</a:t>
            </a:r>
            <a:endParaRPr lang="en-US" sz="800" dirty="0"/>
          </a:p>
        </p:txBody>
      </p:sp>
      <p:sp>
        <p:nvSpPr>
          <p:cNvPr id="78" name="Shape 75"/>
          <p:cNvSpPr/>
          <p:nvPr/>
        </p:nvSpPr>
        <p:spPr>
          <a:xfrm>
            <a:off x="457200" y="4663440"/>
            <a:ext cx="13716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6"/>
          <p:cNvSpPr/>
          <p:nvPr/>
        </p:nvSpPr>
        <p:spPr>
          <a:xfrm>
            <a:off x="493776" y="4700016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1828800" y="4663440"/>
            <a:ext cx="80467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8"/>
          <p:cNvSpPr/>
          <p:nvPr/>
        </p:nvSpPr>
        <p:spPr>
          <a:xfrm>
            <a:off x="1865376" y="4700016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($1.30M)</a:t>
            </a:r>
            <a:endParaRPr lang="en-US" sz="800" dirty="0"/>
          </a:p>
        </p:txBody>
      </p:sp>
      <p:sp>
        <p:nvSpPr>
          <p:cNvPr id="82" name="Shape 79"/>
          <p:cNvSpPr/>
          <p:nvPr/>
        </p:nvSpPr>
        <p:spPr>
          <a:xfrm>
            <a:off x="2633472" y="4663440"/>
            <a:ext cx="80467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0"/>
          <p:cNvSpPr/>
          <p:nvPr/>
        </p:nvSpPr>
        <p:spPr>
          <a:xfrm>
            <a:off x="2670048" y="4700016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$0.65M</a:t>
            </a:r>
            <a:endParaRPr lang="en-US" sz="800" dirty="0"/>
          </a:p>
        </p:txBody>
      </p:sp>
      <p:sp>
        <p:nvSpPr>
          <p:cNvPr id="84" name="Shape 81"/>
          <p:cNvSpPr/>
          <p:nvPr/>
        </p:nvSpPr>
        <p:spPr>
          <a:xfrm>
            <a:off x="3438144" y="4663440"/>
            <a:ext cx="80467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2"/>
          <p:cNvSpPr/>
          <p:nvPr/>
        </p:nvSpPr>
        <p:spPr>
          <a:xfrm>
            <a:off x="3474720" y="4700016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($1.95M)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86" name="Shape 83"/>
          <p:cNvSpPr/>
          <p:nvPr/>
        </p:nvSpPr>
        <p:spPr>
          <a:xfrm>
            <a:off x="4242816" y="4663440"/>
            <a:ext cx="80467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4"/>
          <p:cNvSpPr/>
          <p:nvPr/>
        </p:nvSpPr>
        <p:spPr>
          <a:xfrm>
            <a:off x="4279392" y="4700016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(300%)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88" name="Shape 85"/>
          <p:cNvSpPr/>
          <p:nvPr/>
        </p:nvSpPr>
        <p:spPr>
          <a:xfrm>
            <a:off x="457200" y="4626864"/>
            <a:ext cx="1371600" cy="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6"/>
          <p:cNvSpPr/>
          <p:nvPr/>
        </p:nvSpPr>
        <p:spPr>
          <a:xfrm>
            <a:off x="1828800" y="4626864"/>
            <a:ext cx="804672" cy="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7"/>
          <p:cNvSpPr/>
          <p:nvPr/>
        </p:nvSpPr>
        <p:spPr>
          <a:xfrm>
            <a:off x="2633472" y="4626864"/>
            <a:ext cx="804672" cy="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8"/>
          <p:cNvSpPr/>
          <p:nvPr/>
        </p:nvSpPr>
        <p:spPr>
          <a:xfrm>
            <a:off x="3438144" y="4626864"/>
            <a:ext cx="804672" cy="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89"/>
          <p:cNvSpPr/>
          <p:nvPr/>
        </p:nvSpPr>
        <p:spPr>
          <a:xfrm>
            <a:off x="4242816" y="4626864"/>
            <a:ext cx="804672" cy="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0"/>
          <p:cNvSpPr/>
          <p:nvPr/>
        </p:nvSpPr>
        <p:spPr>
          <a:xfrm>
            <a:off x="457200" y="4626864"/>
            <a:ext cx="1371600" cy="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1"/>
          <p:cNvSpPr/>
          <p:nvPr/>
        </p:nvSpPr>
        <p:spPr>
          <a:xfrm>
            <a:off x="1828800" y="4626864"/>
            <a:ext cx="804672" cy="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2"/>
          <p:cNvSpPr/>
          <p:nvPr/>
        </p:nvSpPr>
        <p:spPr>
          <a:xfrm>
            <a:off x="2633472" y="4626864"/>
            <a:ext cx="804672" cy="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3"/>
          <p:cNvSpPr/>
          <p:nvPr/>
        </p:nvSpPr>
        <p:spPr>
          <a:xfrm>
            <a:off x="3438144" y="4626864"/>
            <a:ext cx="804672" cy="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4"/>
          <p:cNvSpPr/>
          <p:nvPr/>
        </p:nvSpPr>
        <p:spPr>
          <a:xfrm>
            <a:off x="4242816" y="4626864"/>
            <a:ext cx="804672" cy="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5"/>
          <p:cNvSpPr/>
          <p:nvPr/>
        </p:nvSpPr>
        <p:spPr>
          <a:xfrm>
            <a:off x="457200" y="4626864"/>
            <a:ext cx="1371600" cy="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6"/>
          <p:cNvSpPr/>
          <p:nvPr/>
        </p:nvSpPr>
        <p:spPr>
          <a:xfrm>
            <a:off x="1828800" y="4626864"/>
            <a:ext cx="804672" cy="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7"/>
          <p:cNvSpPr/>
          <p:nvPr/>
        </p:nvSpPr>
        <p:spPr>
          <a:xfrm>
            <a:off x="2633472" y="4626864"/>
            <a:ext cx="804672" cy="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8"/>
          <p:cNvSpPr/>
          <p:nvPr/>
        </p:nvSpPr>
        <p:spPr>
          <a:xfrm>
            <a:off x="3438144" y="4626864"/>
            <a:ext cx="804672" cy="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99"/>
          <p:cNvSpPr/>
          <p:nvPr/>
        </p:nvSpPr>
        <p:spPr>
          <a:xfrm>
            <a:off x="4242816" y="4626864"/>
            <a:ext cx="804672" cy="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0"/>
          <p:cNvSpPr/>
          <p:nvPr/>
        </p:nvSpPr>
        <p:spPr>
          <a:xfrm>
            <a:off x="457200" y="4626864"/>
            <a:ext cx="1371600" cy="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1"/>
          <p:cNvSpPr/>
          <p:nvPr/>
        </p:nvSpPr>
        <p:spPr>
          <a:xfrm>
            <a:off x="1828800" y="4626864"/>
            <a:ext cx="804672" cy="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2"/>
          <p:cNvSpPr/>
          <p:nvPr/>
        </p:nvSpPr>
        <p:spPr>
          <a:xfrm>
            <a:off x="2633472" y="4626864"/>
            <a:ext cx="804672" cy="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3"/>
          <p:cNvSpPr/>
          <p:nvPr/>
        </p:nvSpPr>
        <p:spPr>
          <a:xfrm>
            <a:off x="3438144" y="4626864"/>
            <a:ext cx="804672" cy="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4"/>
          <p:cNvSpPr/>
          <p:nvPr/>
        </p:nvSpPr>
        <p:spPr>
          <a:xfrm>
            <a:off x="4242816" y="4626864"/>
            <a:ext cx="804672" cy="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5"/>
          <p:cNvSpPr/>
          <p:nvPr/>
        </p:nvSpPr>
        <p:spPr>
          <a:xfrm>
            <a:off x="6217920" y="1938528"/>
            <a:ext cx="2697480" cy="2999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Text 106"/>
          <p:cNvSpPr/>
          <p:nvPr/>
        </p:nvSpPr>
        <p:spPr>
          <a:xfrm>
            <a:off x="6355080" y="2029968"/>
            <a:ext cx="2423160" cy="237744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dirty="0">
                <a:solidFill>
                  <a:srgbClr val="1A2E44"/>
                </a:solidFill>
              </a:rPr>
              <a:t>Key Takeaways</a:t>
            </a:r>
          </a:p>
        </p:txBody>
      </p:sp>
      <p:sp>
        <p:nvSpPr>
          <p:cNvPr id="110" name="Shape 107"/>
          <p:cNvSpPr/>
          <p:nvPr/>
        </p:nvSpPr>
        <p:spPr>
          <a:xfrm>
            <a:off x="6355080" y="2267712"/>
            <a:ext cx="2423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108"/>
          <p:cNvSpPr/>
          <p:nvPr/>
        </p:nvSpPr>
        <p:spPr>
          <a:xfrm>
            <a:off x="6355080" y="2304288"/>
            <a:ext cx="2423160" cy="338328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/>
            <a:r>
              <a:rPr lang="en-US" sz="950" b="0" dirty="0">
                <a:solidFill>
                  <a:srgbClr val="000000"/>
                </a:solidFill>
              </a:rPr>
              <a:t>• Revenue $7.41M vs $7.72M budget (-$0.31M); YTD $41.7M +$0.3M above plan</a:t>
            </a:r>
          </a:p>
        </p:txBody>
      </p:sp>
      <p:sp>
        <p:nvSpPr>
          <p:cNvPr id="112" name="Text 109"/>
          <p:cNvSpPr/>
          <p:nvPr/>
        </p:nvSpPr>
        <p:spPr>
          <a:xfrm>
            <a:off x="6359893" y="2679192"/>
            <a:ext cx="2423160" cy="480059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/>
            <a:r>
              <a:rPr lang="en-US" sz="950" b="0" dirty="0">
                <a:solidFill>
                  <a:srgbClr val="000000"/>
                </a:solidFill>
              </a:rPr>
              <a:t>• Gross margin 79.2% expanded +920bps above 70.0% budget from infrastructure optimization</a:t>
            </a:r>
          </a:p>
        </p:txBody>
      </p:sp>
      <p:sp>
        <p:nvSpPr>
          <p:cNvPr id="113" name="Text 110"/>
          <p:cNvSpPr/>
          <p:nvPr/>
        </p:nvSpPr>
        <p:spPr>
          <a:xfrm>
            <a:off x="6355080" y="3195827"/>
            <a:ext cx="2423160" cy="480059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/>
            <a:r>
              <a:rPr lang="en-US" sz="950" b="0" dirty="0">
                <a:solidFill>
                  <a:srgbClr val="000000"/>
                </a:solidFill>
              </a:rPr>
              <a:t>• EBITDA -$1.30M vs $0.65M budget (-$1.95M); Q2 variable comp timing (-$0.9M) reverses in Q3</a:t>
            </a:r>
          </a:p>
        </p:txBody>
      </p:sp>
      <p:sp>
        <p:nvSpPr>
          <p:cNvPr id="114" name="Text 111"/>
          <p:cNvSpPr/>
          <p:nvPr/>
        </p:nvSpPr>
        <p:spPr>
          <a:xfrm>
            <a:off x="6355080" y="3712462"/>
            <a:ext cx="2423160" cy="480059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/>
            <a:r>
              <a:rPr lang="en-US" sz="950" b="0" dirty="0">
                <a:solidFill>
                  <a:srgbClr val="000000"/>
                </a:solidFill>
              </a:rPr>
              <a:t>• S&amp;M $3.15M favorable vs $2.65M budget; June pipeline $5.9M at 2.3x blended efficiency</a:t>
            </a:r>
          </a:p>
        </p:txBody>
      </p:sp>
      <p:sp>
        <p:nvSpPr>
          <p:cNvPr id="115" name="Text 112"/>
          <p:cNvSpPr/>
          <p:nvPr/>
        </p:nvSpPr>
        <p:spPr>
          <a:xfrm>
            <a:off x="6359893" y="4229097"/>
            <a:ext cx="2423160" cy="480059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/>
            <a:r>
              <a:rPr lang="en-US" sz="950" b="0" dirty="0">
                <a:solidFill>
                  <a:srgbClr val="000000"/>
                </a:solidFill>
              </a:rPr>
              <a:t>• Operating leverage: Revenue +12.6% YTD vs HC +9.1% — margin improvement trajectory visible</a:t>
            </a:r>
          </a:p>
        </p:txBody>
      </p:sp>
      <p:sp>
        <p:nvSpPr>
          <p:cNvPr id="116" name="Shape 113"/>
          <p:cNvSpPr/>
          <p:nvPr/>
        </p:nvSpPr>
        <p:spPr>
          <a:xfrm>
            <a:off x="0" y="4974336"/>
            <a:ext cx="9144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Text 114"/>
          <p:cNvSpPr/>
          <p:nvPr/>
        </p:nvSpPr>
        <p:spPr>
          <a:xfrm>
            <a:off x="365760" y="4992624"/>
            <a:ext cx="7315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SMPL · Board Operating Review · Q2 2026 · CONFIDENTIAL</a:t>
            </a:r>
            <a:endParaRPr lang="en-US" sz="700" dirty="0"/>
          </a:p>
        </p:txBody>
      </p:sp>
      <p:sp>
        <p:nvSpPr>
          <p:cNvPr id="118" name="Text 115"/>
          <p:cNvSpPr/>
          <p:nvPr/>
        </p:nvSpPr>
        <p:spPr>
          <a:xfrm>
            <a:off x="8229600" y="4992624"/>
            <a:ext cx="7315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4/11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&amp; LIQUIDITY — Q2 2026 CLOSE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8412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Forecast — Monthly Bridge &amp; Liquidity Trend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2026 · Q2 Close · Actual vs Budget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210312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042416"/>
            <a:ext cx="2103120" cy="36576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115568"/>
            <a:ext cx="1938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Cash (Jun)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57200" y="1289304"/>
            <a:ext cx="19385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$70.61M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" y="1618488"/>
            <a:ext cx="1938528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+$22.25M vs budget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560320" y="1042416"/>
            <a:ext cx="210312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60320" y="1042416"/>
            <a:ext cx="2103120" cy="36576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651760" y="1115568"/>
            <a:ext cx="1938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Collections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2651760" y="1289304"/>
            <a:ext cx="19385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$63.2M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651760" y="1618488"/>
            <a:ext cx="1938528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billing + Jun close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754880" y="1042416"/>
            <a:ext cx="210312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54880" y="1042416"/>
            <a:ext cx="2103120" cy="36576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46320" y="1115568"/>
            <a:ext cx="1938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vs Floor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4846320" y="1289304"/>
            <a:ext cx="19385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$60.6M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846320" y="1618488"/>
            <a:ext cx="1938528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Floor: $10.0M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6949440" y="1042416"/>
            <a:ext cx="210312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949440" y="1042416"/>
            <a:ext cx="2103120" cy="36576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040880" y="1115568"/>
            <a:ext cx="1938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Runway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040880" y="1289304"/>
            <a:ext cx="19385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&gt;24 months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040880" y="1618488"/>
            <a:ext cx="1938528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Well-capitalized</a:t>
            </a:r>
            <a:endParaRPr lang="en-US" sz="750" dirty="0"/>
          </a:p>
        </p:txBody>
      </p:sp>
      <p:graphicFrame>
        <p:nvGraphicFramePr>
          <p:cNvPr id="26" name="Chart 0"/>
          <p:cNvGraphicFramePr/>
          <p:nvPr/>
        </p:nvGraphicFramePr>
        <p:xfrm>
          <a:off x="365760" y="1938528"/>
          <a:ext cx="384048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7" name="Text 24"/>
          <p:cNvSpPr/>
          <p:nvPr/>
        </p:nvSpPr>
        <p:spPr>
          <a:xfrm>
            <a:off x="4343400" y="1938528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CASH BRIDGE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4343400" y="2139696"/>
            <a:ext cx="2651760" cy="228600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4343400" y="2139696"/>
            <a:ext cx="36576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4425696" y="2167128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Cash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5029200" y="2167128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+$66.04M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4343400" y="2386584"/>
            <a:ext cx="2651760" cy="22860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4343400" y="2386584"/>
            <a:ext cx="36576" cy="2286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4425696" y="2414016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Collections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5029200" y="2414016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+$11.18M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343400" y="2633472"/>
            <a:ext cx="2651760" cy="228600"/>
          </a:xfrm>
          <a:prstGeom prst="rect">
            <a:avLst/>
          </a:prstGeom>
          <a:solidFill>
            <a:srgbClr val="FFF1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4343400" y="2633472"/>
            <a:ext cx="36576" cy="2286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4425696" y="2660904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Payroll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5029200" y="2660904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($3.8M)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4343400" y="2880360"/>
            <a:ext cx="2651760" cy="228600"/>
          </a:xfrm>
          <a:prstGeom prst="rect">
            <a:avLst/>
          </a:prstGeom>
          <a:solidFill>
            <a:srgbClr val="FFF1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8"/>
          <p:cNvSpPr/>
          <p:nvPr/>
        </p:nvSpPr>
        <p:spPr>
          <a:xfrm>
            <a:off x="4343400" y="2880360"/>
            <a:ext cx="36576" cy="2286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/>
          <p:nvPr/>
        </p:nvSpPr>
        <p:spPr>
          <a:xfrm>
            <a:off x="4425696" y="2907792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Vendor</a:t>
            </a:r>
            <a:endParaRPr lang="en-US" sz="850" dirty="0"/>
          </a:p>
        </p:txBody>
      </p:sp>
      <p:sp>
        <p:nvSpPr>
          <p:cNvPr id="43" name="Text 40"/>
          <p:cNvSpPr/>
          <p:nvPr/>
        </p:nvSpPr>
        <p:spPr>
          <a:xfrm>
            <a:off x="5029200" y="290779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($1.4M)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4343400" y="3127248"/>
            <a:ext cx="2651760" cy="228600"/>
          </a:xfrm>
          <a:prstGeom prst="rect">
            <a:avLst/>
          </a:prstGeom>
          <a:solidFill>
            <a:srgbClr val="FFF1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2"/>
          <p:cNvSpPr/>
          <p:nvPr/>
        </p:nvSpPr>
        <p:spPr>
          <a:xfrm>
            <a:off x="4343400" y="3127248"/>
            <a:ext cx="36576" cy="2286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3"/>
          <p:cNvSpPr/>
          <p:nvPr/>
        </p:nvSpPr>
        <p:spPr>
          <a:xfrm>
            <a:off x="4425696" y="3154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Commissions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5029200" y="315468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($0.3M)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4343400" y="3374136"/>
            <a:ext cx="2651760" cy="228600"/>
          </a:xfrm>
          <a:prstGeom prst="rect">
            <a:avLst/>
          </a:prstGeom>
          <a:solidFill>
            <a:srgbClr val="FFF1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6"/>
          <p:cNvSpPr/>
          <p:nvPr/>
        </p:nvSpPr>
        <p:spPr>
          <a:xfrm>
            <a:off x="4343400" y="3374136"/>
            <a:ext cx="36576" cy="2286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7"/>
          <p:cNvSpPr/>
          <p:nvPr/>
        </p:nvSpPr>
        <p:spPr>
          <a:xfrm>
            <a:off x="4425696" y="3401568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CapEx</a:t>
            </a:r>
            <a:endParaRPr lang="en-US" sz="850" dirty="0"/>
          </a:p>
        </p:txBody>
      </p:sp>
      <p:sp>
        <p:nvSpPr>
          <p:cNvPr id="51" name="Text 48"/>
          <p:cNvSpPr/>
          <p:nvPr/>
        </p:nvSpPr>
        <p:spPr>
          <a:xfrm>
            <a:off x="5029200" y="3401568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($0.2M)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4343400" y="3621024"/>
            <a:ext cx="2651760" cy="228600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0"/>
          <p:cNvSpPr/>
          <p:nvPr/>
        </p:nvSpPr>
        <p:spPr>
          <a:xfrm>
            <a:off x="4343400" y="3621024"/>
            <a:ext cx="36576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1"/>
          <p:cNvSpPr/>
          <p:nvPr/>
        </p:nvSpPr>
        <p:spPr>
          <a:xfrm>
            <a:off x="4425696" y="3648456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Cash</a:t>
            </a:r>
            <a:endParaRPr lang="en-US" sz="850" dirty="0"/>
          </a:p>
        </p:txBody>
      </p:sp>
      <p:sp>
        <p:nvSpPr>
          <p:cNvPr id="55" name="Text 52"/>
          <p:cNvSpPr/>
          <p:nvPr/>
        </p:nvSpPr>
        <p:spPr>
          <a:xfrm>
            <a:off x="5029200" y="3648456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+$70.61M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7132320" y="1938527"/>
            <a:ext cx="1920240" cy="3017521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4"/>
          <p:cNvSpPr/>
          <p:nvPr/>
        </p:nvSpPr>
        <p:spPr>
          <a:xfrm>
            <a:off x="7269480" y="20299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dirty="0">
                <a:solidFill>
                  <a:srgbClr val="1A2E44"/>
                </a:solidFill>
              </a:rPr>
              <a:t>Key Takeaways</a:t>
            </a:r>
          </a:p>
        </p:txBody>
      </p:sp>
      <p:sp>
        <p:nvSpPr>
          <p:cNvPr id="58" name="Shape 55"/>
          <p:cNvSpPr/>
          <p:nvPr/>
        </p:nvSpPr>
        <p:spPr>
          <a:xfrm>
            <a:off x="7269480" y="2234985"/>
            <a:ext cx="15544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6"/>
          <p:cNvSpPr/>
          <p:nvPr/>
        </p:nvSpPr>
        <p:spPr>
          <a:xfrm>
            <a:off x="7269480" y="2304288"/>
            <a:ext cx="1783080" cy="763524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/>
            <a:r>
              <a:rPr lang="en-US" sz="950" b="0" dirty="0">
                <a:solidFill>
                  <a:srgbClr val="000000"/>
                </a:solidFill>
              </a:rPr>
              <a:t>• $70.61M cash exceeds $48.36M budget +$22.25M — Q1 annual enterprise renewals $13.6M March + June collections $11.18M</a:t>
            </a:r>
          </a:p>
        </p:txBody>
      </p:sp>
      <p:sp>
        <p:nvSpPr>
          <p:cNvPr id="60" name="Text 57"/>
          <p:cNvSpPr/>
          <p:nvPr/>
        </p:nvSpPr>
        <p:spPr>
          <a:xfrm>
            <a:off x="7269480" y="3104388"/>
            <a:ext cx="1783080" cy="62179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/>
            <a:r>
              <a:rPr lang="en-US" sz="950" b="0" dirty="0">
                <a:solidFill>
                  <a:srgbClr val="000000"/>
                </a:solidFill>
              </a:rPr>
              <a:t>• June CFO $4.80M above May $3.65M — stronger H1 billing close; YTD collections $63.2M</a:t>
            </a:r>
          </a:p>
        </p:txBody>
      </p:sp>
      <p:sp>
        <p:nvSpPr>
          <p:cNvPr id="61" name="Text 58"/>
          <p:cNvSpPr/>
          <p:nvPr/>
        </p:nvSpPr>
        <p:spPr>
          <a:xfrm>
            <a:off x="7269480" y="3762756"/>
            <a:ext cx="1783080" cy="480059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/>
            <a:r>
              <a:rPr lang="en-US" sz="950" b="0" dirty="0">
                <a:solidFill>
                  <a:srgbClr val="000000"/>
                </a:solidFill>
              </a:rPr>
              <a:t>• Zero financing across all 6 months; 24+ months runway above $10M cash floor</a:t>
            </a:r>
          </a:p>
        </p:txBody>
      </p:sp>
      <p:sp>
        <p:nvSpPr>
          <p:cNvPr id="62" name="Text 59"/>
          <p:cNvSpPr/>
          <p:nvPr/>
        </p:nvSpPr>
        <p:spPr>
          <a:xfrm>
            <a:off x="7269480" y="4279391"/>
            <a:ext cx="1783080" cy="62179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/>
            <a:r>
              <a:rPr lang="en-US" sz="950" b="0" dirty="0">
                <a:solidFill>
                  <a:srgbClr val="000000"/>
                </a:solidFill>
              </a:rPr>
              <a:t>• Annual contract expansion to mid-market adds est. $5–8M to YE cash; H2 target $8–10M/month</a:t>
            </a:r>
          </a:p>
        </p:txBody>
      </p:sp>
      <p:sp>
        <p:nvSpPr>
          <p:cNvPr id="63" name="Shape 60"/>
          <p:cNvSpPr/>
          <p:nvPr/>
        </p:nvSpPr>
        <p:spPr>
          <a:xfrm>
            <a:off x="0" y="4974336"/>
            <a:ext cx="9144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1"/>
          <p:cNvSpPr/>
          <p:nvPr/>
        </p:nvSpPr>
        <p:spPr>
          <a:xfrm>
            <a:off x="365760" y="4992624"/>
            <a:ext cx="7315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SMPL · Board Operating Review · Q2 2026 · CONFIDENTIAL</a:t>
            </a:r>
            <a:endParaRPr lang="en-US" sz="700" dirty="0"/>
          </a:p>
        </p:txBody>
      </p:sp>
      <p:sp>
        <p:nvSpPr>
          <p:cNvPr id="65" name="Text 62"/>
          <p:cNvSpPr/>
          <p:nvPr/>
        </p:nvSpPr>
        <p:spPr>
          <a:xfrm>
            <a:off x="8229600" y="4992624"/>
            <a:ext cx="7315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5/11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FLOW STATEMENT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8412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· Investing · Financing — YTD 2026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GAAP Indirect Method · Actual vs Budget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920240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02336" y="1097280"/>
            <a:ext cx="18470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Item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2286000" y="1060704"/>
            <a:ext cx="1005840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322576" y="1097280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Actual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291840" y="1060704"/>
            <a:ext cx="1005840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28416" y="1097280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Budget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297680" y="1060704"/>
            <a:ext cx="1005840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334256" y="1097280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$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5303520" y="1060704"/>
            <a:ext cx="914400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340096" y="1097280"/>
            <a:ext cx="841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365760" y="1307592"/>
            <a:ext cx="1920240" cy="219456"/>
          </a:xfrm>
          <a:prstGeom prst="rect">
            <a:avLst/>
          </a:prstGeom>
          <a:solidFill>
            <a:srgbClr val="1E355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02336" y="1335024"/>
            <a:ext cx="18470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ACTIVITIES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286000" y="1307592"/>
            <a:ext cx="1005840" cy="219456"/>
          </a:xfrm>
          <a:prstGeom prst="rect">
            <a:avLst/>
          </a:prstGeom>
          <a:solidFill>
            <a:srgbClr val="1E355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322576" y="13350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291840" y="1307592"/>
            <a:ext cx="1005840" cy="219456"/>
          </a:xfrm>
          <a:prstGeom prst="rect">
            <a:avLst/>
          </a:prstGeom>
          <a:solidFill>
            <a:srgbClr val="1E355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328416" y="13350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297680" y="1307592"/>
            <a:ext cx="1005840" cy="219456"/>
          </a:xfrm>
          <a:prstGeom prst="rect">
            <a:avLst/>
          </a:prstGeom>
          <a:solidFill>
            <a:srgbClr val="1E355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334256" y="13350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5303520" y="1307592"/>
            <a:ext cx="914400" cy="219456"/>
          </a:xfrm>
          <a:prstGeom prst="rect">
            <a:avLst/>
          </a:prstGeom>
          <a:solidFill>
            <a:srgbClr val="1E355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340096" y="1335024"/>
            <a:ext cx="841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365760" y="1536192"/>
            <a:ext cx="192024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02336" y="1563624"/>
            <a:ext cx="18470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Income / (Loss)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286000" y="1536192"/>
            <a:ext cx="100584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322576" y="15636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($10.11M)</a:t>
            </a:r>
          </a:p>
        </p:txBody>
      </p:sp>
      <p:sp>
        <p:nvSpPr>
          <p:cNvPr id="30" name="Shape 28"/>
          <p:cNvSpPr/>
          <p:nvPr/>
        </p:nvSpPr>
        <p:spPr>
          <a:xfrm>
            <a:off x="3291840" y="1536192"/>
            <a:ext cx="100584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328416" y="15636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$2.36M</a:t>
            </a:r>
          </a:p>
        </p:txBody>
      </p:sp>
      <p:sp>
        <p:nvSpPr>
          <p:cNvPr id="32" name="Shape 30"/>
          <p:cNvSpPr/>
          <p:nvPr/>
        </p:nvSpPr>
        <p:spPr>
          <a:xfrm>
            <a:off x="4297680" y="1536192"/>
            <a:ext cx="100584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334256" y="15636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($12.47M)</a:t>
            </a:r>
          </a:p>
        </p:txBody>
      </p:sp>
      <p:sp>
        <p:nvSpPr>
          <p:cNvPr id="34" name="Shape 32"/>
          <p:cNvSpPr/>
          <p:nvPr/>
        </p:nvSpPr>
        <p:spPr>
          <a:xfrm>
            <a:off x="5303520" y="1536192"/>
            <a:ext cx="91440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340096" y="1563624"/>
            <a:ext cx="841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(528%)</a:t>
            </a:r>
          </a:p>
        </p:txBody>
      </p:sp>
      <p:sp>
        <p:nvSpPr>
          <p:cNvPr id="36" name="Shape 34"/>
          <p:cNvSpPr/>
          <p:nvPr/>
        </p:nvSpPr>
        <p:spPr>
          <a:xfrm>
            <a:off x="365760" y="1764792"/>
            <a:ext cx="192024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02336" y="1792224"/>
            <a:ext cx="18470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Depreciation &amp; Amort.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286000" y="1764792"/>
            <a:ext cx="100584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322576" y="17922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$0.52M</a:t>
            </a:r>
          </a:p>
        </p:txBody>
      </p:sp>
      <p:sp>
        <p:nvSpPr>
          <p:cNvPr id="40" name="Shape 38"/>
          <p:cNvSpPr/>
          <p:nvPr/>
        </p:nvSpPr>
        <p:spPr>
          <a:xfrm>
            <a:off x="3291840" y="1764792"/>
            <a:ext cx="100584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328416" y="17922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$0.62M</a:t>
            </a:r>
          </a:p>
        </p:txBody>
      </p:sp>
      <p:sp>
        <p:nvSpPr>
          <p:cNvPr id="42" name="Shape 40"/>
          <p:cNvSpPr/>
          <p:nvPr/>
        </p:nvSpPr>
        <p:spPr>
          <a:xfrm>
            <a:off x="4297680" y="1764792"/>
            <a:ext cx="100584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334256" y="17922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-$0.10M</a:t>
            </a:r>
          </a:p>
        </p:txBody>
      </p:sp>
      <p:sp>
        <p:nvSpPr>
          <p:cNvPr id="44" name="Shape 42"/>
          <p:cNvSpPr/>
          <p:nvPr/>
        </p:nvSpPr>
        <p:spPr>
          <a:xfrm>
            <a:off x="5303520" y="1764792"/>
            <a:ext cx="9144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340096" y="1792224"/>
            <a:ext cx="841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-17%</a:t>
            </a:r>
          </a:p>
        </p:txBody>
      </p:sp>
      <p:sp>
        <p:nvSpPr>
          <p:cNvPr id="46" name="Shape 44"/>
          <p:cNvSpPr/>
          <p:nvPr/>
        </p:nvSpPr>
        <p:spPr>
          <a:xfrm>
            <a:off x="365760" y="1993392"/>
            <a:ext cx="192024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02336" y="2020824"/>
            <a:ext cx="18470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Collections (Billings)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286000" y="1993392"/>
            <a:ext cx="100584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2322576" y="20208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$63.2M</a:t>
            </a:r>
          </a:p>
        </p:txBody>
      </p:sp>
      <p:sp>
        <p:nvSpPr>
          <p:cNvPr id="50" name="Shape 48"/>
          <p:cNvSpPr/>
          <p:nvPr/>
        </p:nvSpPr>
        <p:spPr>
          <a:xfrm>
            <a:off x="3291840" y="1993392"/>
            <a:ext cx="100584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3328416" y="20208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$60.9M</a:t>
            </a:r>
          </a:p>
        </p:txBody>
      </p:sp>
      <p:sp>
        <p:nvSpPr>
          <p:cNvPr id="52" name="Shape 50"/>
          <p:cNvSpPr/>
          <p:nvPr/>
        </p:nvSpPr>
        <p:spPr>
          <a:xfrm>
            <a:off x="4297680" y="1993392"/>
            <a:ext cx="100584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4334256" y="20208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+$2.27M</a:t>
            </a:r>
          </a:p>
        </p:txBody>
      </p:sp>
      <p:sp>
        <p:nvSpPr>
          <p:cNvPr id="54" name="Shape 52"/>
          <p:cNvSpPr/>
          <p:nvPr/>
        </p:nvSpPr>
        <p:spPr>
          <a:xfrm>
            <a:off x="5303520" y="1993392"/>
            <a:ext cx="91440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5340096" y="2020824"/>
            <a:ext cx="841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+4%</a:t>
            </a:r>
          </a:p>
        </p:txBody>
      </p:sp>
      <p:sp>
        <p:nvSpPr>
          <p:cNvPr id="56" name="Shape 54"/>
          <p:cNvSpPr/>
          <p:nvPr/>
        </p:nvSpPr>
        <p:spPr>
          <a:xfrm>
            <a:off x="365760" y="2221992"/>
            <a:ext cx="192024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02336" y="2249424"/>
            <a:ext cx="18470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Deferred Revenue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2286000" y="2221992"/>
            <a:ext cx="100584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2322576" y="22494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$2.4M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3291840" y="2221992"/>
            <a:ext cx="100584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3328416" y="22494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$1.8M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4297680" y="2221992"/>
            <a:ext cx="100584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4334256" y="22494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+$0.6M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5303520" y="2221992"/>
            <a:ext cx="9144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5340096" y="2249424"/>
            <a:ext cx="841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+33%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365760" y="2450592"/>
            <a:ext cx="192024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402336" y="2478024"/>
            <a:ext cx="18470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AR / Working Capital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2286000" y="2450592"/>
            <a:ext cx="100584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2322576" y="24780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($1.2M)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3291840" y="2450592"/>
            <a:ext cx="100584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3328416" y="24780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($0.9M)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297680" y="2450592"/>
            <a:ext cx="100584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4334256" y="24780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($0.3M)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5303520" y="2450592"/>
            <a:ext cx="91440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5340096" y="2478024"/>
            <a:ext cx="841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(33%)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76" name="Shape 74"/>
          <p:cNvSpPr/>
          <p:nvPr/>
        </p:nvSpPr>
        <p:spPr>
          <a:xfrm>
            <a:off x="365760" y="2679192"/>
            <a:ext cx="192024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402336" y="2706624"/>
            <a:ext cx="18470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Commissions Paid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2286000" y="2679192"/>
            <a:ext cx="100584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2322576" y="27066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($1.45M)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3291840" y="2679192"/>
            <a:ext cx="100584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3328416" y="27066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($1.50M)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4297680" y="2679192"/>
            <a:ext cx="100584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4334256" y="27066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+$0.05M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5303520" y="2679192"/>
            <a:ext cx="9144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5340096" y="2706624"/>
            <a:ext cx="841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365760" y="2907792"/>
            <a:ext cx="19202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402336" y="2935224"/>
            <a:ext cx="18470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from Operations (CFO)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2286000" y="2907792"/>
            <a:ext cx="10058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2322576" y="29352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$25.6M</a:t>
            </a:r>
          </a:p>
        </p:txBody>
      </p:sp>
      <p:sp>
        <p:nvSpPr>
          <p:cNvPr id="90" name="Shape 88"/>
          <p:cNvSpPr/>
          <p:nvPr/>
        </p:nvSpPr>
        <p:spPr>
          <a:xfrm>
            <a:off x="3291840" y="2907792"/>
            <a:ext cx="10058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3328416" y="29352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$3.2M</a:t>
            </a:r>
          </a:p>
        </p:txBody>
      </p:sp>
      <p:sp>
        <p:nvSpPr>
          <p:cNvPr id="92" name="Shape 90"/>
          <p:cNvSpPr/>
          <p:nvPr/>
        </p:nvSpPr>
        <p:spPr>
          <a:xfrm>
            <a:off x="4297680" y="2907792"/>
            <a:ext cx="10058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/>
          <p:nvPr/>
        </p:nvSpPr>
        <p:spPr>
          <a:xfrm>
            <a:off x="4334256" y="29352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+$22.44M</a:t>
            </a:r>
          </a:p>
        </p:txBody>
      </p:sp>
      <p:sp>
        <p:nvSpPr>
          <p:cNvPr id="94" name="Shape 92"/>
          <p:cNvSpPr/>
          <p:nvPr/>
        </p:nvSpPr>
        <p:spPr>
          <a:xfrm>
            <a:off x="5303520" y="2907792"/>
            <a:ext cx="91440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93"/>
          <p:cNvSpPr/>
          <p:nvPr/>
        </p:nvSpPr>
        <p:spPr>
          <a:xfrm>
            <a:off x="5340096" y="2935224"/>
            <a:ext cx="841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+704%</a:t>
            </a:r>
          </a:p>
        </p:txBody>
      </p:sp>
      <p:sp>
        <p:nvSpPr>
          <p:cNvPr id="96" name="Shape 94"/>
          <p:cNvSpPr/>
          <p:nvPr/>
        </p:nvSpPr>
        <p:spPr>
          <a:xfrm>
            <a:off x="365760" y="3136392"/>
            <a:ext cx="1920240" cy="219456"/>
          </a:xfrm>
          <a:prstGeom prst="rect">
            <a:avLst/>
          </a:prstGeom>
          <a:solidFill>
            <a:srgbClr val="1E355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Text 95"/>
          <p:cNvSpPr/>
          <p:nvPr/>
        </p:nvSpPr>
        <p:spPr>
          <a:xfrm>
            <a:off x="402336" y="3163824"/>
            <a:ext cx="18470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INVESTING ACTIVITIES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2286000" y="3136392"/>
            <a:ext cx="1005840" cy="219456"/>
          </a:xfrm>
          <a:prstGeom prst="rect">
            <a:avLst/>
          </a:prstGeom>
          <a:solidFill>
            <a:srgbClr val="1E355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97"/>
          <p:cNvSpPr/>
          <p:nvPr/>
        </p:nvSpPr>
        <p:spPr>
          <a:xfrm>
            <a:off x="2322576" y="31638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3291840" y="3136392"/>
            <a:ext cx="1005840" cy="219456"/>
          </a:xfrm>
          <a:prstGeom prst="rect">
            <a:avLst/>
          </a:prstGeom>
          <a:solidFill>
            <a:srgbClr val="1E355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3328416" y="31638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4297680" y="3136392"/>
            <a:ext cx="1005840" cy="219456"/>
          </a:xfrm>
          <a:prstGeom prst="rect">
            <a:avLst/>
          </a:prstGeom>
          <a:solidFill>
            <a:srgbClr val="1E355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Text 101"/>
          <p:cNvSpPr/>
          <p:nvPr/>
        </p:nvSpPr>
        <p:spPr>
          <a:xfrm>
            <a:off x="4334256" y="31638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5303520" y="3136392"/>
            <a:ext cx="914400" cy="219456"/>
          </a:xfrm>
          <a:prstGeom prst="rect">
            <a:avLst/>
          </a:prstGeom>
          <a:solidFill>
            <a:srgbClr val="1E355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 103"/>
          <p:cNvSpPr/>
          <p:nvPr/>
        </p:nvSpPr>
        <p:spPr>
          <a:xfrm>
            <a:off x="5340096" y="3163824"/>
            <a:ext cx="841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750" dirty="0"/>
          </a:p>
        </p:txBody>
      </p:sp>
      <p:sp>
        <p:nvSpPr>
          <p:cNvPr id="106" name="Shape 104"/>
          <p:cNvSpPr/>
          <p:nvPr/>
        </p:nvSpPr>
        <p:spPr>
          <a:xfrm>
            <a:off x="365760" y="3364992"/>
            <a:ext cx="192024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Text 105"/>
          <p:cNvSpPr/>
          <p:nvPr/>
        </p:nvSpPr>
        <p:spPr>
          <a:xfrm>
            <a:off x="402336" y="3392424"/>
            <a:ext cx="18470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Expenditures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2286000" y="3364992"/>
            <a:ext cx="100584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Text 107"/>
          <p:cNvSpPr/>
          <p:nvPr/>
        </p:nvSpPr>
        <p:spPr>
          <a:xfrm>
            <a:off x="2322576" y="33924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($1.12M)</a:t>
            </a:r>
          </a:p>
        </p:txBody>
      </p:sp>
      <p:sp>
        <p:nvSpPr>
          <p:cNvPr id="110" name="Shape 108"/>
          <p:cNvSpPr/>
          <p:nvPr/>
        </p:nvSpPr>
        <p:spPr>
          <a:xfrm>
            <a:off x="3291840" y="3364992"/>
            <a:ext cx="100584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109"/>
          <p:cNvSpPr/>
          <p:nvPr/>
        </p:nvSpPr>
        <p:spPr>
          <a:xfrm>
            <a:off x="3328416" y="33924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($0.83M)</a:t>
            </a:r>
          </a:p>
        </p:txBody>
      </p:sp>
      <p:sp>
        <p:nvSpPr>
          <p:cNvPr id="112" name="Shape 110"/>
          <p:cNvSpPr/>
          <p:nvPr/>
        </p:nvSpPr>
        <p:spPr>
          <a:xfrm>
            <a:off x="4297680" y="3364992"/>
            <a:ext cx="100584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Text 111"/>
          <p:cNvSpPr/>
          <p:nvPr/>
        </p:nvSpPr>
        <p:spPr>
          <a:xfrm>
            <a:off x="4334256" y="33924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($0.29M)</a:t>
            </a:r>
          </a:p>
        </p:txBody>
      </p:sp>
      <p:sp>
        <p:nvSpPr>
          <p:cNvPr id="114" name="Shape 112"/>
          <p:cNvSpPr/>
          <p:nvPr/>
        </p:nvSpPr>
        <p:spPr>
          <a:xfrm>
            <a:off x="5303520" y="3364992"/>
            <a:ext cx="91440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113"/>
          <p:cNvSpPr/>
          <p:nvPr/>
        </p:nvSpPr>
        <p:spPr>
          <a:xfrm>
            <a:off x="5340096" y="3392424"/>
            <a:ext cx="841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(35%)</a:t>
            </a:r>
          </a:p>
        </p:txBody>
      </p:sp>
      <p:sp>
        <p:nvSpPr>
          <p:cNvPr id="116" name="Shape 114"/>
          <p:cNvSpPr/>
          <p:nvPr/>
        </p:nvSpPr>
        <p:spPr>
          <a:xfrm>
            <a:off x="365760" y="3593592"/>
            <a:ext cx="19202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Text 115"/>
          <p:cNvSpPr/>
          <p:nvPr/>
        </p:nvSpPr>
        <p:spPr>
          <a:xfrm>
            <a:off x="402336" y="3621024"/>
            <a:ext cx="18470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from Investing (CFI)</a:t>
            </a:r>
            <a:endParaRPr lang="en-US" sz="800" dirty="0"/>
          </a:p>
        </p:txBody>
      </p:sp>
      <p:sp>
        <p:nvSpPr>
          <p:cNvPr id="118" name="Shape 116"/>
          <p:cNvSpPr/>
          <p:nvPr/>
        </p:nvSpPr>
        <p:spPr>
          <a:xfrm>
            <a:off x="2286000" y="3593592"/>
            <a:ext cx="10058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 algn="r"/>
            <a:endParaRPr lang="en-US"/>
          </a:p>
        </p:txBody>
      </p:sp>
      <p:sp>
        <p:nvSpPr>
          <p:cNvPr id="119" name="Text 117"/>
          <p:cNvSpPr/>
          <p:nvPr/>
        </p:nvSpPr>
        <p:spPr>
          <a:xfrm>
            <a:off x="2322576" y="36210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($1.12M)</a:t>
            </a:r>
          </a:p>
        </p:txBody>
      </p:sp>
      <p:sp>
        <p:nvSpPr>
          <p:cNvPr id="120" name="Shape 118"/>
          <p:cNvSpPr/>
          <p:nvPr/>
        </p:nvSpPr>
        <p:spPr>
          <a:xfrm>
            <a:off x="3291840" y="3593592"/>
            <a:ext cx="10058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Text 119"/>
          <p:cNvSpPr/>
          <p:nvPr/>
        </p:nvSpPr>
        <p:spPr>
          <a:xfrm>
            <a:off x="3328416" y="36210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($0.83M)</a:t>
            </a:r>
          </a:p>
        </p:txBody>
      </p:sp>
      <p:sp>
        <p:nvSpPr>
          <p:cNvPr id="122" name="Shape 120"/>
          <p:cNvSpPr/>
          <p:nvPr/>
        </p:nvSpPr>
        <p:spPr>
          <a:xfrm>
            <a:off x="4297680" y="3593592"/>
            <a:ext cx="10058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3" name="Text 121"/>
          <p:cNvSpPr/>
          <p:nvPr/>
        </p:nvSpPr>
        <p:spPr>
          <a:xfrm>
            <a:off x="4334256" y="36210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($0.29M)</a:t>
            </a:r>
          </a:p>
        </p:txBody>
      </p:sp>
      <p:sp>
        <p:nvSpPr>
          <p:cNvPr id="124" name="Shape 122"/>
          <p:cNvSpPr/>
          <p:nvPr/>
        </p:nvSpPr>
        <p:spPr>
          <a:xfrm>
            <a:off x="5303520" y="3593592"/>
            <a:ext cx="91440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 algn="r"/>
            <a:endParaRPr lang="en-US"/>
          </a:p>
        </p:txBody>
      </p:sp>
      <p:sp>
        <p:nvSpPr>
          <p:cNvPr id="125" name="Text 123"/>
          <p:cNvSpPr/>
          <p:nvPr/>
        </p:nvSpPr>
        <p:spPr>
          <a:xfrm>
            <a:off x="5340096" y="3621024"/>
            <a:ext cx="841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(35%)</a:t>
            </a:r>
          </a:p>
        </p:txBody>
      </p:sp>
      <p:sp>
        <p:nvSpPr>
          <p:cNvPr id="126" name="Shape 124"/>
          <p:cNvSpPr/>
          <p:nvPr/>
        </p:nvSpPr>
        <p:spPr>
          <a:xfrm>
            <a:off x="365760" y="3822192"/>
            <a:ext cx="1920240" cy="219456"/>
          </a:xfrm>
          <a:prstGeom prst="rect">
            <a:avLst/>
          </a:prstGeom>
          <a:solidFill>
            <a:srgbClr val="1E355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Text 125"/>
          <p:cNvSpPr/>
          <p:nvPr/>
        </p:nvSpPr>
        <p:spPr>
          <a:xfrm>
            <a:off x="402336" y="3849624"/>
            <a:ext cx="18470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FINANCING ACTIVITIES</a:t>
            </a:r>
            <a:endParaRPr lang="en-US" sz="750" dirty="0"/>
          </a:p>
        </p:txBody>
      </p:sp>
      <p:sp>
        <p:nvSpPr>
          <p:cNvPr id="128" name="Shape 126"/>
          <p:cNvSpPr/>
          <p:nvPr/>
        </p:nvSpPr>
        <p:spPr>
          <a:xfrm>
            <a:off x="2286000" y="3822192"/>
            <a:ext cx="1005840" cy="219456"/>
          </a:xfrm>
          <a:prstGeom prst="rect">
            <a:avLst/>
          </a:prstGeom>
          <a:solidFill>
            <a:srgbClr val="1E355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Text 127"/>
          <p:cNvSpPr/>
          <p:nvPr/>
        </p:nvSpPr>
        <p:spPr>
          <a:xfrm>
            <a:off x="2322576" y="38496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750" dirty="0"/>
          </a:p>
        </p:txBody>
      </p:sp>
      <p:sp>
        <p:nvSpPr>
          <p:cNvPr id="130" name="Shape 128"/>
          <p:cNvSpPr/>
          <p:nvPr/>
        </p:nvSpPr>
        <p:spPr>
          <a:xfrm>
            <a:off x="3291840" y="3822192"/>
            <a:ext cx="1005840" cy="219456"/>
          </a:xfrm>
          <a:prstGeom prst="rect">
            <a:avLst/>
          </a:prstGeom>
          <a:solidFill>
            <a:srgbClr val="1E355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Text 129"/>
          <p:cNvSpPr/>
          <p:nvPr/>
        </p:nvSpPr>
        <p:spPr>
          <a:xfrm>
            <a:off x="3328416" y="38496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750" dirty="0"/>
          </a:p>
        </p:txBody>
      </p:sp>
      <p:sp>
        <p:nvSpPr>
          <p:cNvPr id="132" name="Shape 130"/>
          <p:cNvSpPr/>
          <p:nvPr/>
        </p:nvSpPr>
        <p:spPr>
          <a:xfrm>
            <a:off x="4297680" y="3822192"/>
            <a:ext cx="1005840" cy="219456"/>
          </a:xfrm>
          <a:prstGeom prst="rect">
            <a:avLst/>
          </a:prstGeom>
          <a:solidFill>
            <a:srgbClr val="1E355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Text 131"/>
          <p:cNvSpPr/>
          <p:nvPr/>
        </p:nvSpPr>
        <p:spPr>
          <a:xfrm>
            <a:off x="4334256" y="38496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750" dirty="0"/>
          </a:p>
        </p:txBody>
      </p:sp>
      <p:sp>
        <p:nvSpPr>
          <p:cNvPr id="134" name="Shape 132"/>
          <p:cNvSpPr/>
          <p:nvPr/>
        </p:nvSpPr>
        <p:spPr>
          <a:xfrm>
            <a:off x="5303520" y="3822192"/>
            <a:ext cx="914400" cy="219456"/>
          </a:xfrm>
          <a:prstGeom prst="rect">
            <a:avLst/>
          </a:prstGeom>
          <a:solidFill>
            <a:srgbClr val="1E355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Text 133"/>
          <p:cNvSpPr/>
          <p:nvPr/>
        </p:nvSpPr>
        <p:spPr>
          <a:xfrm>
            <a:off x="5340096" y="3849624"/>
            <a:ext cx="841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750" dirty="0"/>
          </a:p>
        </p:txBody>
      </p:sp>
      <p:sp>
        <p:nvSpPr>
          <p:cNvPr id="136" name="Shape 134"/>
          <p:cNvSpPr/>
          <p:nvPr/>
        </p:nvSpPr>
        <p:spPr>
          <a:xfrm>
            <a:off x="365760" y="4050792"/>
            <a:ext cx="19202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Text 135"/>
          <p:cNvSpPr/>
          <p:nvPr/>
        </p:nvSpPr>
        <p:spPr>
          <a:xfrm>
            <a:off x="402336" y="4078224"/>
            <a:ext cx="18470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CFF (Financing)</a:t>
            </a:r>
            <a:endParaRPr lang="en-US" sz="800" dirty="0"/>
          </a:p>
        </p:txBody>
      </p:sp>
      <p:sp>
        <p:nvSpPr>
          <p:cNvPr id="138" name="Shape 136"/>
          <p:cNvSpPr/>
          <p:nvPr/>
        </p:nvSpPr>
        <p:spPr>
          <a:xfrm>
            <a:off x="2286000" y="4050792"/>
            <a:ext cx="10058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Text 137"/>
          <p:cNvSpPr/>
          <p:nvPr/>
        </p:nvSpPr>
        <p:spPr>
          <a:xfrm>
            <a:off x="2322576" y="40782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$0.0M</a:t>
            </a:r>
            <a:endParaRPr lang="en-US" sz="800" dirty="0"/>
          </a:p>
        </p:txBody>
      </p:sp>
      <p:sp>
        <p:nvSpPr>
          <p:cNvPr id="140" name="Shape 138"/>
          <p:cNvSpPr/>
          <p:nvPr/>
        </p:nvSpPr>
        <p:spPr>
          <a:xfrm>
            <a:off x="3291840" y="4050792"/>
            <a:ext cx="10058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Text 139"/>
          <p:cNvSpPr/>
          <p:nvPr/>
        </p:nvSpPr>
        <p:spPr>
          <a:xfrm>
            <a:off x="3328416" y="40782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$0.0M</a:t>
            </a:r>
            <a:endParaRPr lang="en-US" sz="800" dirty="0"/>
          </a:p>
        </p:txBody>
      </p:sp>
      <p:sp>
        <p:nvSpPr>
          <p:cNvPr id="142" name="Shape 140"/>
          <p:cNvSpPr/>
          <p:nvPr/>
        </p:nvSpPr>
        <p:spPr>
          <a:xfrm>
            <a:off x="4297680" y="4050792"/>
            <a:ext cx="10058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Text 141"/>
          <p:cNvSpPr/>
          <p:nvPr/>
        </p:nvSpPr>
        <p:spPr>
          <a:xfrm>
            <a:off x="4334256" y="40782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$0.0M</a:t>
            </a:r>
            <a:endParaRPr lang="en-US" sz="800" dirty="0"/>
          </a:p>
        </p:txBody>
      </p:sp>
      <p:sp>
        <p:nvSpPr>
          <p:cNvPr id="144" name="Shape 142"/>
          <p:cNvSpPr/>
          <p:nvPr/>
        </p:nvSpPr>
        <p:spPr>
          <a:xfrm>
            <a:off x="5303520" y="4050792"/>
            <a:ext cx="91440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Text 143"/>
          <p:cNvSpPr/>
          <p:nvPr/>
        </p:nvSpPr>
        <p:spPr>
          <a:xfrm>
            <a:off x="5340096" y="4078224"/>
            <a:ext cx="841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800" dirty="0"/>
          </a:p>
        </p:txBody>
      </p:sp>
      <p:sp>
        <p:nvSpPr>
          <p:cNvPr id="146" name="Shape 144"/>
          <p:cNvSpPr/>
          <p:nvPr/>
        </p:nvSpPr>
        <p:spPr>
          <a:xfrm>
            <a:off x="365760" y="4279392"/>
            <a:ext cx="19202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Text 145"/>
          <p:cNvSpPr/>
          <p:nvPr/>
        </p:nvSpPr>
        <p:spPr>
          <a:xfrm>
            <a:off x="402336" y="4306824"/>
            <a:ext cx="18470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 CHANGE</a:t>
            </a:r>
            <a:endParaRPr lang="en-US" sz="800" dirty="0"/>
          </a:p>
        </p:txBody>
      </p:sp>
      <p:sp>
        <p:nvSpPr>
          <p:cNvPr id="148" name="Shape 146"/>
          <p:cNvSpPr/>
          <p:nvPr/>
        </p:nvSpPr>
        <p:spPr>
          <a:xfrm>
            <a:off x="2286000" y="4279392"/>
            <a:ext cx="10058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Text 147"/>
          <p:cNvSpPr/>
          <p:nvPr/>
        </p:nvSpPr>
        <p:spPr>
          <a:xfrm>
            <a:off x="2322576" y="43068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$24.5M</a:t>
            </a:r>
          </a:p>
        </p:txBody>
      </p:sp>
      <p:sp>
        <p:nvSpPr>
          <p:cNvPr id="150" name="Shape 148"/>
          <p:cNvSpPr/>
          <p:nvPr/>
        </p:nvSpPr>
        <p:spPr>
          <a:xfrm>
            <a:off x="3291840" y="4279392"/>
            <a:ext cx="10058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Text 149"/>
          <p:cNvSpPr/>
          <p:nvPr/>
        </p:nvSpPr>
        <p:spPr>
          <a:xfrm>
            <a:off x="3328416" y="43068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$2.4M</a:t>
            </a:r>
          </a:p>
        </p:txBody>
      </p:sp>
      <p:sp>
        <p:nvSpPr>
          <p:cNvPr id="152" name="Shape 150"/>
          <p:cNvSpPr/>
          <p:nvPr/>
        </p:nvSpPr>
        <p:spPr>
          <a:xfrm>
            <a:off x="4297680" y="4279392"/>
            <a:ext cx="10058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3" name="Text 151"/>
          <p:cNvSpPr/>
          <p:nvPr/>
        </p:nvSpPr>
        <p:spPr>
          <a:xfrm>
            <a:off x="4334256" y="43068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+$22.15M</a:t>
            </a:r>
          </a:p>
        </p:txBody>
      </p:sp>
      <p:sp>
        <p:nvSpPr>
          <p:cNvPr id="154" name="Shape 152"/>
          <p:cNvSpPr/>
          <p:nvPr/>
        </p:nvSpPr>
        <p:spPr>
          <a:xfrm>
            <a:off x="5303520" y="4279392"/>
            <a:ext cx="91440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Text 153"/>
          <p:cNvSpPr/>
          <p:nvPr/>
        </p:nvSpPr>
        <p:spPr>
          <a:xfrm>
            <a:off x="5340096" y="4306824"/>
            <a:ext cx="841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+938%</a:t>
            </a:r>
          </a:p>
        </p:txBody>
      </p:sp>
      <p:sp>
        <p:nvSpPr>
          <p:cNvPr id="156" name="Shape 154"/>
          <p:cNvSpPr/>
          <p:nvPr/>
        </p:nvSpPr>
        <p:spPr>
          <a:xfrm>
            <a:off x="365760" y="4507992"/>
            <a:ext cx="192024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7" name="Text 155"/>
          <p:cNvSpPr/>
          <p:nvPr/>
        </p:nvSpPr>
        <p:spPr>
          <a:xfrm>
            <a:off x="402336" y="4535424"/>
            <a:ext cx="18470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Beginning Cash</a:t>
            </a:r>
            <a:endParaRPr lang="en-US" sz="800" dirty="0"/>
          </a:p>
        </p:txBody>
      </p:sp>
      <p:sp>
        <p:nvSpPr>
          <p:cNvPr id="158" name="Shape 156"/>
          <p:cNvSpPr/>
          <p:nvPr/>
        </p:nvSpPr>
        <p:spPr>
          <a:xfrm>
            <a:off x="2286000" y="4507992"/>
            <a:ext cx="100584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9" name="Text 157"/>
          <p:cNvSpPr/>
          <p:nvPr/>
        </p:nvSpPr>
        <p:spPr>
          <a:xfrm>
            <a:off x="2322576" y="45354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$46.10M</a:t>
            </a:r>
          </a:p>
        </p:txBody>
      </p:sp>
      <p:sp>
        <p:nvSpPr>
          <p:cNvPr id="160" name="Shape 158"/>
          <p:cNvSpPr/>
          <p:nvPr/>
        </p:nvSpPr>
        <p:spPr>
          <a:xfrm>
            <a:off x="3291840" y="4507992"/>
            <a:ext cx="100584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Text 159"/>
          <p:cNvSpPr/>
          <p:nvPr/>
        </p:nvSpPr>
        <p:spPr>
          <a:xfrm>
            <a:off x="3328416" y="45354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$46.00M</a:t>
            </a:r>
          </a:p>
        </p:txBody>
      </p:sp>
      <p:sp>
        <p:nvSpPr>
          <p:cNvPr id="162" name="Shape 160"/>
          <p:cNvSpPr/>
          <p:nvPr/>
        </p:nvSpPr>
        <p:spPr>
          <a:xfrm>
            <a:off x="4297680" y="4507992"/>
            <a:ext cx="100584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Text 161"/>
          <p:cNvSpPr/>
          <p:nvPr/>
        </p:nvSpPr>
        <p:spPr>
          <a:xfrm>
            <a:off x="4334256" y="45354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+$0.10M</a:t>
            </a:r>
          </a:p>
        </p:txBody>
      </p:sp>
      <p:sp>
        <p:nvSpPr>
          <p:cNvPr id="164" name="Shape 162"/>
          <p:cNvSpPr/>
          <p:nvPr/>
        </p:nvSpPr>
        <p:spPr>
          <a:xfrm>
            <a:off x="5303520" y="4507992"/>
            <a:ext cx="9144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Text 163"/>
          <p:cNvSpPr/>
          <p:nvPr/>
        </p:nvSpPr>
        <p:spPr>
          <a:xfrm>
            <a:off x="5340096" y="4535424"/>
            <a:ext cx="841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+0%</a:t>
            </a:r>
          </a:p>
        </p:txBody>
      </p:sp>
      <p:sp>
        <p:nvSpPr>
          <p:cNvPr id="166" name="Shape 164"/>
          <p:cNvSpPr/>
          <p:nvPr/>
        </p:nvSpPr>
        <p:spPr>
          <a:xfrm>
            <a:off x="365760" y="4736592"/>
            <a:ext cx="19202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Text 165"/>
          <p:cNvSpPr/>
          <p:nvPr/>
        </p:nvSpPr>
        <p:spPr>
          <a:xfrm>
            <a:off x="402336" y="4764024"/>
            <a:ext cx="18470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Cash Balance</a:t>
            </a:r>
            <a:endParaRPr lang="en-US" sz="800" dirty="0"/>
          </a:p>
        </p:txBody>
      </p:sp>
      <p:sp>
        <p:nvSpPr>
          <p:cNvPr id="168" name="Shape 166"/>
          <p:cNvSpPr/>
          <p:nvPr/>
        </p:nvSpPr>
        <p:spPr>
          <a:xfrm>
            <a:off x="2286000" y="4736592"/>
            <a:ext cx="10058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Text 167"/>
          <p:cNvSpPr/>
          <p:nvPr/>
        </p:nvSpPr>
        <p:spPr>
          <a:xfrm>
            <a:off x="2322576" y="47640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$70.61M</a:t>
            </a:r>
          </a:p>
        </p:txBody>
      </p:sp>
      <p:sp>
        <p:nvSpPr>
          <p:cNvPr id="170" name="Shape 168"/>
          <p:cNvSpPr/>
          <p:nvPr/>
        </p:nvSpPr>
        <p:spPr>
          <a:xfrm>
            <a:off x="3291840" y="4736592"/>
            <a:ext cx="10058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Text 169"/>
          <p:cNvSpPr/>
          <p:nvPr/>
        </p:nvSpPr>
        <p:spPr>
          <a:xfrm>
            <a:off x="3328416" y="47640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$48.36M</a:t>
            </a:r>
          </a:p>
        </p:txBody>
      </p:sp>
      <p:sp>
        <p:nvSpPr>
          <p:cNvPr id="172" name="Shape 170"/>
          <p:cNvSpPr/>
          <p:nvPr/>
        </p:nvSpPr>
        <p:spPr>
          <a:xfrm>
            <a:off x="4297680" y="4736592"/>
            <a:ext cx="10058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Text 171"/>
          <p:cNvSpPr/>
          <p:nvPr/>
        </p:nvSpPr>
        <p:spPr>
          <a:xfrm>
            <a:off x="4334256" y="4764024"/>
            <a:ext cx="932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+$22.25M</a:t>
            </a:r>
          </a:p>
        </p:txBody>
      </p:sp>
      <p:sp>
        <p:nvSpPr>
          <p:cNvPr id="174" name="Shape 172"/>
          <p:cNvSpPr/>
          <p:nvPr/>
        </p:nvSpPr>
        <p:spPr>
          <a:xfrm>
            <a:off x="5303520" y="4736592"/>
            <a:ext cx="91440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Text 173"/>
          <p:cNvSpPr/>
          <p:nvPr/>
        </p:nvSpPr>
        <p:spPr>
          <a:xfrm>
            <a:off x="5340096" y="4764024"/>
            <a:ext cx="841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+46%</a:t>
            </a:r>
          </a:p>
        </p:txBody>
      </p:sp>
      <p:sp>
        <p:nvSpPr>
          <p:cNvPr id="176" name="Shape 174"/>
          <p:cNvSpPr/>
          <p:nvPr/>
        </p:nvSpPr>
        <p:spPr>
          <a:xfrm>
            <a:off x="6492240" y="1060704"/>
            <a:ext cx="2468880" cy="38953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Text 175"/>
          <p:cNvSpPr/>
          <p:nvPr/>
        </p:nvSpPr>
        <p:spPr>
          <a:xfrm>
            <a:off x="6629400" y="1152144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dirty="0">
                <a:solidFill>
                  <a:srgbClr val="1A2E44"/>
                </a:solidFill>
              </a:rPr>
              <a:t>Key Takeaways</a:t>
            </a:r>
          </a:p>
        </p:txBody>
      </p:sp>
      <p:sp>
        <p:nvSpPr>
          <p:cNvPr id="178" name="Shape 176"/>
          <p:cNvSpPr/>
          <p:nvPr/>
        </p:nvSpPr>
        <p:spPr>
          <a:xfrm>
            <a:off x="6629400" y="1389888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Text 177"/>
          <p:cNvSpPr/>
          <p:nvPr/>
        </p:nvSpPr>
        <p:spPr>
          <a:xfrm>
            <a:off x="6629400" y="1426464"/>
            <a:ext cx="2194560" cy="62179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/>
            <a:r>
              <a:rPr lang="en-US" sz="950" b="0" dirty="0">
                <a:solidFill>
                  <a:srgbClr val="000000"/>
                </a:solidFill>
              </a:rPr>
              <a:t>• YTD CFO $25.6M exceeds $3.2M budget, +$22.4M and +703% — Q1 annual billing collections generated the surplus; Jun CFO $4.8M</a:t>
            </a:r>
          </a:p>
        </p:txBody>
      </p:sp>
      <p:sp>
        <p:nvSpPr>
          <p:cNvPr id="180" name="Text 178"/>
          <p:cNvSpPr/>
          <p:nvPr/>
        </p:nvSpPr>
        <p:spPr>
          <a:xfrm>
            <a:off x="6629400" y="2084832"/>
            <a:ext cx="2194560" cy="62179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/>
            <a:r>
              <a:rPr lang="en-US" sz="950" b="0" dirty="0">
                <a:solidFill>
                  <a:srgbClr val="000000"/>
                </a:solidFill>
              </a:rPr>
              <a:t>• Net income -$10.1M vs $2.4M budget ($12.5M) — actual cost structure reflects investment phase vs plan</a:t>
            </a:r>
          </a:p>
        </p:txBody>
      </p:sp>
      <p:sp>
        <p:nvSpPr>
          <p:cNvPr id="181" name="Text 179"/>
          <p:cNvSpPr/>
          <p:nvPr/>
        </p:nvSpPr>
        <p:spPr>
          <a:xfrm>
            <a:off x="6629400" y="2743200"/>
            <a:ext cx="2194560" cy="62179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/>
            <a:r>
              <a:rPr lang="en-US" sz="950" b="0" dirty="0">
                <a:solidFill>
                  <a:srgbClr val="000000"/>
                </a:solidFill>
              </a:rPr>
              <a:t>• Zero financing across all 6 months; business fully self-funding; ending cash $70.61M vs $48.36M budget +$22.25M</a:t>
            </a:r>
          </a:p>
        </p:txBody>
      </p:sp>
      <p:sp>
        <p:nvSpPr>
          <p:cNvPr id="182" name="Text 180"/>
          <p:cNvSpPr/>
          <p:nvPr/>
        </p:nvSpPr>
        <p:spPr>
          <a:xfrm>
            <a:off x="6629400" y="3401568"/>
            <a:ext cx="2194560" cy="62179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/>
            <a:r>
              <a:rPr lang="en-US" sz="950" b="0" dirty="0">
                <a:solidFill>
                  <a:srgbClr val="000000"/>
                </a:solidFill>
              </a:rPr>
              <a:t>• H2 watchpoint: CFO will moderate as Q1 annual billing spike does not repeat; target $8–10M/month collections</a:t>
            </a:r>
          </a:p>
        </p:txBody>
      </p:sp>
      <p:sp>
        <p:nvSpPr>
          <p:cNvPr id="183" name="Shape 181"/>
          <p:cNvSpPr/>
          <p:nvPr/>
        </p:nvSpPr>
        <p:spPr>
          <a:xfrm>
            <a:off x="0" y="4974336"/>
            <a:ext cx="9144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Text 182"/>
          <p:cNvSpPr/>
          <p:nvPr/>
        </p:nvSpPr>
        <p:spPr>
          <a:xfrm>
            <a:off x="365760" y="4992624"/>
            <a:ext cx="7315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SMPL · Board Operating Review · Q2 2026 · CONFIDENTIAL</a:t>
            </a:r>
            <a:endParaRPr lang="en-US" sz="700" dirty="0"/>
          </a:p>
        </p:txBody>
      </p:sp>
      <p:sp>
        <p:nvSpPr>
          <p:cNvPr id="185" name="Text 183"/>
          <p:cNvSpPr/>
          <p:nvPr/>
        </p:nvSpPr>
        <p:spPr>
          <a:xfrm>
            <a:off x="8229600" y="4992624"/>
            <a:ext cx="7315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6/11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PERFORMANCE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8412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&amp; Channel Efficiency — YTD 2026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745952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vs Budget · Sorted by Pipeline per $1 Spend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65760" y="965408"/>
            <a:ext cx="2103120" cy="74114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965408"/>
            <a:ext cx="2103120" cy="36576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038560"/>
            <a:ext cx="1938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MQLs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57200" y="1212296"/>
            <a:ext cx="19385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23,100+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" y="1541480"/>
            <a:ext cx="1938528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+6% vs budget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560320" y="965408"/>
            <a:ext cx="2103120" cy="75029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60320" y="965408"/>
            <a:ext cx="2103120" cy="36576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651760" y="1038560"/>
            <a:ext cx="1938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Pipeline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2651760" y="1212296"/>
            <a:ext cx="19385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$27.1M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651760" y="1541480"/>
            <a:ext cx="1938528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+$2.6M vs May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754880" y="965408"/>
            <a:ext cx="2103120" cy="75029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54880" y="965408"/>
            <a:ext cx="2103120" cy="36576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46320" y="1038560"/>
            <a:ext cx="1938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Spend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4846320" y="1212296"/>
            <a:ext cx="19385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$5.4M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846320" y="1541480"/>
            <a:ext cx="1938528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+$0.5M over budget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6949440" y="965408"/>
            <a:ext cx="2103120" cy="75029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949440" y="965408"/>
            <a:ext cx="2103120" cy="36576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040880" y="1038560"/>
            <a:ext cx="1938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Win Rate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040880" y="1212296"/>
            <a:ext cx="19385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59.1%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040880" y="1541480"/>
            <a:ext cx="1938528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65.7%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97180" y="1711126"/>
            <a:ext cx="8549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PERFORMANCE — YTD JAN–JUN 2026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84048" y="1899055"/>
            <a:ext cx="1234440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20624" y="1935631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1618488" y="1899055"/>
            <a:ext cx="621792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655064" y="1935631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Spend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2240280" y="1899055"/>
            <a:ext cx="566928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2276856" y="1935631"/>
            <a:ext cx="4937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 Spend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2807208" y="1899055"/>
            <a:ext cx="685800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2843784" y="1935631"/>
            <a:ext cx="6126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Var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3493008" y="1899055"/>
            <a:ext cx="566928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529584" y="1935631"/>
            <a:ext cx="4937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MQLs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4059936" y="1899055"/>
            <a:ext cx="658368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096512" y="1935631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Pipe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718304" y="1899055"/>
            <a:ext cx="713232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754880" y="1935631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 Var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431536" y="1899055"/>
            <a:ext cx="594360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468112" y="1935631"/>
            <a:ext cx="521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Eff. (x)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025896" y="1899055"/>
            <a:ext cx="566928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062472" y="1935631"/>
            <a:ext cx="4937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Win%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592824" y="1899055"/>
            <a:ext cx="1444752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629400" y="1935631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Commentary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84048" y="2145943"/>
            <a:ext cx="123444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11480" y="2164231"/>
            <a:ext cx="11795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Cust. Success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1618488" y="2145943"/>
            <a:ext cx="62179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1645920" y="2164231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$0.01M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240280" y="2145943"/>
            <a:ext cx="5669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2267712" y="2164231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$0.01M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2807208" y="2145943"/>
            <a:ext cx="685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2834640" y="2164231"/>
            <a:ext cx="630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+$0.00M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3493008" y="2145943"/>
            <a:ext cx="5669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3520440" y="2164231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303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4059936" y="2145943"/>
            <a:ext cx="65836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4087368" y="2164231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$2.53M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4718304" y="2145943"/>
            <a:ext cx="71323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4745736" y="2164231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+$2.53M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5431536" y="2145943"/>
            <a:ext cx="59436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5458968" y="2164231"/>
            <a:ext cx="5394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364.1x</a:t>
            </a:r>
            <a:endParaRPr lang="en-US" sz="750" dirty="0">
              <a:solidFill>
                <a:srgbClr val="15803D"/>
              </a:solidFill>
            </a:endParaRPr>
          </a:p>
        </p:txBody>
      </p:sp>
      <p:sp>
        <p:nvSpPr>
          <p:cNvPr id="63" name="Shape 61"/>
          <p:cNvSpPr/>
          <p:nvPr/>
        </p:nvSpPr>
        <p:spPr>
          <a:xfrm>
            <a:off x="6025896" y="2145943"/>
            <a:ext cx="5669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6053328" y="2164231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60.7%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592824" y="2145943"/>
            <a:ext cx="144475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6620256" y="2164231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6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cost, 60.7% WR — formalize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384048" y="2401975"/>
            <a:ext cx="12344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411480" y="2420263"/>
            <a:ext cx="11795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618488" y="2401975"/>
            <a:ext cx="62179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1645920" y="2420263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$0.02M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2240280" y="2401975"/>
            <a:ext cx="56692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2267712" y="2420263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$0.88M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2807208" y="2401975"/>
            <a:ext cx="68580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2834640" y="2420263"/>
            <a:ext cx="630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($0.86M)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3493008" y="2401975"/>
            <a:ext cx="56692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3520440" y="2420263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417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4059936" y="2401975"/>
            <a:ext cx="65836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4087368" y="2420263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$2.50M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4718304" y="2401975"/>
            <a:ext cx="71323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4745736" y="2420263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+$0.25M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5431536" y="2401975"/>
            <a:ext cx="5943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5458968" y="2420263"/>
            <a:ext cx="5394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141.0x</a:t>
            </a:r>
            <a:endParaRPr lang="en-US" sz="750" dirty="0">
              <a:solidFill>
                <a:srgbClr val="15803D"/>
              </a:solidFill>
            </a:endParaRPr>
          </a:p>
        </p:txBody>
      </p:sp>
      <p:sp>
        <p:nvSpPr>
          <p:cNvPr id="83" name="Shape 81"/>
          <p:cNvSpPr/>
          <p:nvPr/>
        </p:nvSpPr>
        <p:spPr>
          <a:xfrm>
            <a:off x="6025896" y="2401975"/>
            <a:ext cx="56692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6053328" y="2420263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65.7%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6592824" y="2401975"/>
            <a:ext cx="144475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6620256" y="2420263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6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65.7% WR at $0.02M — highest WR</a:t>
            </a:r>
            <a:endParaRPr lang="en-US" sz="650" dirty="0"/>
          </a:p>
        </p:txBody>
      </p:sp>
      <p:sp>
        <p:nvSpPr>
          <p:cNvPr id="87" name="Shape 85"/>
          <p:cNvSpPr/>
          <p:nvPr/>
        </p:nvSpPr>
        <p:spPr>
          <a:xfrm>
            <a:off x="384048" y="2658007"/>
            <a:ext cx="123444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86"/>
          <p:cNvSpPr/>
          <p:nvPr/>
        </p:nvSpPr>
        <p:spPr>
          <a:xfrm>
            <a:off x="411480" y="2676295"/>
            <a:ext cx="11795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1618488" y="2658007"/>
            <a:ext cx="62179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1645920" y="2676295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$0.04M</a:t>
            </a:r>
            <a:endParaRPr lang="en-US" sz="750" dirty="0"/>
          </a:p>
        </p:txBody>
      </p:sp>
      <p:sp>
        <p:nvSpPr>
          <p:cNvPr id="91" name="Shape 89"/>
          <p:cNvSpPr/>
          <p:nvPr/>
        </p:nvSpPr>
        <p:spPr>
          <a:xfrm>
            <a:off x="2240280" y="2658007"/>
            <a:ext cx="5669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2267712" y="2676295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$0.60M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2807208" y="2658007"/>
            <a:ext cx="685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2"/>
          <p:cNvSpPr/>
          <p:nvPr/>
        </p:nvSpPr>
        <p:spPr>
          <a:xfrm>
            <a:off x="2834640" y="2676295"/>
            <a:ext cx="630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($0.56M)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3493008" y="2658007"/>
            <a:ext cx="5669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Text 94"/>
          <p:cNvSpPr/>
          <p:nvPr/>
        </p:nvSpPr>
        <p:spPr>
          <a:xfrm>
            <a:off x="3520440" y="2676295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927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4059936" y="2658007"/>
            <a:ext cx="65836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96"/>
          <p:cNvSpPr/>
          <p:nvPr/>
        </p:nvSpPr>
        <p:spPr>
          <a:xfrm>
            <a:off x="4087368" y="2676295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$2.76M</a:t>
            </a:r>
            <a:endParaRPr lang="en-US" sz="750" dirty="0"/>
          </a:p>
        </p:txBody>
      </p:sp>
      <p:sp>
        <p:nvSpPr>
          <p:cNvPr id="99" name="Shape 97"/>
          <p:cNvSpPr/>
          <p:nvPr/>
        </p:nvSpPr>
        <p:spPr>
          <a:xfrm>
            <a:off x="4718304" y="2658007"/>
            <a:ext cx="71323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Text 98"/>
          <p:cNvSpPr/>
          <p:nvPr/>
        </p:nvSpPr>
        <p:spPr>
          <a:xfrm>
            <a:off x="4745736" y="2676295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+$0.36M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5431536" y="2658007"/>
            <a:ext cx="59436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Text 100"/>
          <p:cNvSpPr/>
          <p:nvPr/>
        </p:nvSpPr>
        <p:spPr>
          <a:xfrm>
            <a:off x="5458968" y="2676295"/>
            <a:ext cx="5394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70.3x</a:t>
            </a:r>
            <a:endParaRPr lang="en-US" sz="750" dirty="0">
              <a:solidFill>
                <a:srgbClr val="15803D"/>
              </a:solidFill>
            </a:endParaRPr>
          </a:p>
        </p:txBody>
      </p:sp>
      <p:sp>
        <p:nvSpPr>
          <p:cNvPr id="103" name="Shape 101"/>
          <p:cNvSpPr/>
          <p:nvPr/>
        </p:nvSpPr>
        <p:spPr>
          <a:xfrm>
            <a:off x="6025896" y="2658007"/>
            <a:ext cx="5669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ext 102"/>
          <p:cNvSpPr/>
          <p:nvPr/>
        </p:nvSpPr>
        <p:spPr>
          <a:xfrm>
            <a:off x="6053328" y="2676295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52.9%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6592824" y="2658007"/>
            <a:ext cx="144475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104"/>
          <p:cNvSpPr/>
          <p:nvPr/>
        </p:nvSpPr>
        <p:spPr>
          <a:xfrm>
            <a:off x="6620256" y="2676295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6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70.3x eff, 52.9% WR — high-intent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384048" y="2914039"/>
            <a:ext cx="12344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 106"/>
          <p:cNvSpPr/>
          <p:nvPr/>
        </p:nvSpPr>
        <p:spPr>
          <a:xfrm>
            <a:off x="411480" y="2932327"/>
            <a:ext cx="11795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</a:t>
            </a:r>
            <a:endParaRPr lang="en-US" sz="750" dirty="0"/>
          </a:p>
        </p:txBody>
      </p:sp>
      <p:sp>
        <p:nvSpPr>
          <p:cNvPr id="109" name="Shape 107"/>
          <p:cNvSpPr/>
          <p:nvPr/>
        </p:nvSpPr>
        <p:spPr>
          <a:xfrm>
            <a:off x="1618488" y="2914039"/>
            <a:ext cx="62179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Text 108"/>
          <p:cNvSpPr/>
          <p:nvPr/>
        </p:nvSpPr>
        <p:spPr>
          <a:xfrm>
            <a:off x="1645920" y="2932327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$0.11M</a:t>
            </a:r>
            <a:endParaRPr lang="en-US" sz="750" dirty="0"/>
          </a:p>
        </p:txBody>
      </p:sp>
      <p:sp>
        <p:nvSpPr>
          <p:cNvPr id="111" name="Shape 109"/>
          <p:cNvSpPr/>
          <p:nvPr/>
        </p:nvSpPr>
        <p:spPr>
          <a:xfrm>
            <a:off x="2240280" y="2914039"/>
            <a:ext cx="56692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 110"/>
          <p:cNvSpPr/>
          <p:nvPr/>
        </p:nvSpPr>
        <p:spPr>
          <a:xfrm>
            <a:off x="2267712" y="2932327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$0.71M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2807208" y="2914039"/>
            <a:ext cx="68580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 112"/>
          <p:cNvSpPr/>
          <p:nvPr/>
        </p:nvSpPr>
        <p:spPr>
          <a:xfrm>
            <a:off x="2834640" y="2932327"/>
            <a:ext cx="630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($0.60M)</a:t>
            </a:r>
            <a:endParaRPr lang="en-US" sz="750" dirty="0"/>
          </a:p>
        </p:txBody>
      </p:sp>
      <p:sp>
        <p:nvSpPr>
          <p:cNvPr id="115" name="Shape 113"/>
          <p:cNvSpPr/>
          <p:nvPr/>
        </p:nvSpPr>
        <p:spPr>
          <a:xfrm>
            <a:off x="3493008" y="2914039"/>
            <a:ext cx="56692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Text 114"/>
          <p:cNvSpPr/>
          <p:nvPr/>
        </p:nvSpPr>
        <p:spPr>
          <a:xfrm>
            <a:off x="3520440" y="2932327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2,143</a:t>
            </a:r>
            <a:endParaRPr lang="en-US" sz="750" dirty="0"/>
          </a:p>
        </p:txBody>
      </p:sp>
      <p:sp>
        <p:nvSpPr>
          <p:cNvPr id="117" name="Shape 115"/>
          <p:cNvSpPr/>
          <p:nvPr/>
        </p:nvSpPr>
        <p:spPr>
          <a:xfrm>
            <a:off x="4059936" y="2914039"/>
            <a:ext cx="65836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Text 116"/>
          <p:cNvSpPr/>
          <p:nvPr/>
        </p:nvSpPr>
        <p:spPr>
          <a:xfrm>
            <a:off x="4087368" y="2932327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$1.91M</a:t>
            </a:r>
            <a:endParaRPr lang="en-US" sz="750" dirty="0"/>
          </a:p>
        </p:txBody>
      </p:sp>
      <p:sp>
        <p:nvSpPr>
          <p:cNvPr id="119" name="Shape 117"/>
          <p:cNvSpPr/>
          <p:nvPr/>
        </p:nvSpPr>
        <p:spPr>
          <a:xfrm>
            <a:off x="4718304" y="2914039"/>
            <a:ext cx="71323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Text 118"/>
          <p:cNvSpPr/>
          <p:nvPr/>
        </p:nvSpPr>
        <p:spPr>
          <a:xfrm>
            <a:off x="4745736" y="2932327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($0.57M)</a:t>
            </a:r>
            <a:endParaRPr lang="en-US" sz="750" dirty="0">
              <a:solidFill>
                <a:srgbClr val="C00000"/>
              </a:solidFill>
            </a:endParaRPr>
          </a:p>
        </p:txBody>
      </p:sp>
      <p:sp>
        <p:nvSpPr>
          <p:cNvPr id="121" name="Shape 119"/>
          <p:cNvSpPr/>
          <p:nvPr/>
        </p:nvSpPr>
        <p:spPr>
          <a:xfrm>
            <a:off x="5431536" y="2914039"/>
            <a:ext cx="5943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 120"/>
          <p:cNvSpPr/>
          <p:nvPr/>
        </p:nvSpPr>
        <p:spPr>
          <a:xfrm>
            <a:off x="5458968" y="2932327"/>
            <a:ext cx="5394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16.8x</a:t>
            </a:r>
            <a:endParaRPr lang="en-US" sz="750" dirty="0">
              <a:solidFill>
                <a:srgbClr val="C00000"/>
              </a:solidFill>
            </a:endParaRPr>
          </a:p>
        </p:txBody>
      </p:sp>
      <p:sp>
        <p:nvSpPr>
          <p:cNvPr id="123" name="Shape 121"/>
          <p:cNvSpPr/>
          <p:nvPr/>
        </p:nvSpPr>
        <p:spPr>
          <a:xfrm>
            <a:off x="6025896" y="2914039"/>
            <a:ext cx="56692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Text 122"/>
          <p:cNvSpPr/>
          <p:nvPr/>
        </p:nvSpPr>
        <p:spPr>
          <a:xfrm>
            <a:off x="6053328" y="2932327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14.6%</a:t>
            </a:r>
            <a:endParaRPr lang="en-US" sz="750" dirty="0">
              <a:solidFill>
                <a:srgbClr val="C00000"/>
              </a:solidFill>
            </a:endParaRPr>
          </a:p>
        </p:txBody>
      </p:sp>
      <p:sp>
        <p:nvSpPr>
          <p:cNvPr id="125" name="Shape 123"/>
          <p:cNvSpPr/>
          <p:nvPr/>
        </p:nvSpPr>
        <p:spPr>
          <a:xfrm>
            <a:off x="6592824" y="2914039"/>
            <a:ext cx="144475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 124"/>
          <p:cNvSpPr/>
          <p:nvPr/>
        </p:nvSpPr>
        <p:spPr>
          <a:xfrm>
            <a:off x="6620256" y="2932327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6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16.8x — strong demand signal</a:t>
            </a:r>
            <a:endParaRPr lang="en-US" sz="650" dirty="0"/>
          </a:p>
        </p:txBody>
      </p:sp>
      <p:sp>
        <p:nvSpPr>
          <p:cNvPr id="127" name="Shape 125"/>
          <p:cNvSpPr/>
          <p:nvPr/>
        </p:nvSpPr>
        <p:spPr>
          <a:xfrm>
            <a:off x="384048" y="3170071"/>
            <a:ext cx="123444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Text 126"/>
          <p:cNvSpPr/>
          <p:nvPr/>
        </p:nvSpPr>
        <p:spPr>
          <a:xfrm>
            <a:off x="411480" y="3188359"/>
            <a:ext cx="11795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</a:t>
            </a:r>
            <a:endParaRPr lang="en-US" sz="750" dirty="0"/>
          </a:p>
        </p:txBody>
      </p:sp>
      <p:sp>
        <p:nvSpPr>
          <p:cNvPr id="129" name="Shape 127"/>
          <p:cNvSpPr/>
          <p:nvPr/>
        </p:nvSpPr>
        <p:spPr>
          <a:xfrm>
            <a:off x="1618488" y="3170071"/>
            <a:ext cx="62179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 128"/>
          <p:cNvSpPr/>
          <p:nvPr/>
        </p:nvSpPr>
        <p:spPr>
          <a:xfrm>
            <a:off x="1645920" y="3188359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$0.51M</a:t>
            </a:r>
            <a:endParaRPr lang="en-US" sz="750" dirty="0"/>
          </a:p>
        </p:txBody>
      </p:sp>
      <p:sp>
        <p:nvSpPr>
          <p:cNvPr id="131" name="Shape 129"/>
          <p:cNvSpPr/>
          <p:nvPr/>
        </p:nvSpPr>
        <p:spPr>
          <a:xfrm>
            <a:off x="2240280" y="3170071"/>
            <a:ext cx="5669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Text 130"/>
          <p:cNvSpPr/>
          <p:nvPr/>
        </p:nvSpPr>
        <p:spPr>
          <a:xfrm>
            <a:off x="2267712" y="3188359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$0.74M</a:t>
            </a:r>
            <a:endParaRPr lang="en-US" sz="750" dirty="0"/>
          </a:p>
        </p:txBody>
      </p:sp>
      <p:sp>
        <p:nvSpPr>
          <p:cNvPr id="133" name="Shape 131"/>
          <p:cNvSpPr/>
          <p:nvPr/>
        </p:nvSpPr>
        <p:spPr>
          <a:xfrm>
            <a:off x="2807208" y="3170071"/>
            <a:ext cx="685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Text 132"/>
          <p:cNvSpPr/>
          <p:nvPr/>
        </p:nvSpPr>
        <p:spPr>
          <a:xfrm>
            <a:off x="2834640" y="3188359"/>
            <a:ext cx="630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($0.23M)</a:t>
            </a:r>
            <a:endParaRPr lang="en-US" sz="750" dirty="0"/>
          </a:p>
        </p:txBody>
      </p:sp>
      <p:sp>
        <p:nvSpPr>
          <p:cNvPr id="135" name="Shape 133"/>
          <p:cNvSpPr/>
          <p:nvPr/>
        </p:nvSpPr>
        <p:spPr>
          <a:xfrm>
            <a:off x="3493008" y="3170071"/>
            <a:ext cx="5669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Text 134"/>
          <p:cNvSpPr/>
          <p:nvPr/>
        </p:nvSpPr>
        <p:spPr>
          <a:xfrm>
            <a:off x="3520440" y="3188359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933</a:t>
            </a:r>
            <a:endParaRPr lang="en-US" sz="750" dirty="0"/>
          </a:p>
        </p:txBody>
      </p:sp>
      <p:sp>
        <p:nvSpPr>
          <p:cNvPr id="137" name="Shape 135"/>
          <p:cNvSpPr/>
          <p:nvPr/>
        </p:nvSpPr>
        <p:spPr>
          <a:xfrm>
            <a:off x="4059936" y="3170071"/>
            <a:ext cx="65836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Text 136"/>
          <p:cNvSpPr/>
          <p:nvPr/>
        </p:nvSpPr>
        <p:spPr>
          <a:xfrm>
            <a:off x="4087368" y="3188359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$2.92M</a:t>
            </a:r>
            <a:endParaRPr lang="en-US" sz="750" dirty="0"/>
          </a:p>
        </p:txBody>
      </p:sp>
      <p:sp>
        <p:nvSpPr>
          <p:cNvPr id="139" name="Shape 137"/>
          <p:cNvSpPr/>
          <p:nvPr/>
        </p:nvSpPr>
        <p:spPr>
          <a:xfrm>
            <a:off x="4718304" y="3170071"/>
            <a:ext cx="71323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Text 138"/>
          <p:cNvSpPr/>
          <p:nvPr/>
        </p:nvSpPr>
        <p:spPr>
          <a:xfrm>
            <a:off x="4745736" y="3188359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+$0.74M</a:t>
            </a:r>
            <a:endParaRPr lang="en-US" sz="750" dirty="0"/>
          </a:p>
        </p:txBody>
      </p:sp>
      <p:sp>
        <p:nvSpPr>
          <p:cNvPr id="141" name="Shape 139"/>
          <p:cNvSpPr/>
          <p:nvPr/>
        </p:nvSpPr>
        <p:spPr>
          <a:xfrm>
            <a:off x="5431536" y="3170071"/>
            <a:ext cx="59436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Text 140"/>
          <p:cNvSpPr/>
          <p:nvPr/>
        </p:nvSpPr>
        <p:spPr>
          <a:xfrm>
            <a:off x="5458968" y="3188359"/>
            <a:ext cx="5394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5.8x</a:t>
            </a:r>
            <a:endParaRPr lang="en-US" sz="750" dirty="0"/>
          </a:p>
        </p:txBody>
      </p:sp>
      <p:sp>
        <p:nvSpPr>
          <p:cNvPr id="143" name="Shape 141"/>
          <p:cNvSpPr/>
          <p:nvPr/>
        </p:nvSpPr>
        <p:spPr>
          <a:xfrm>
            <a:off x="6025896" y="3170071"/>
            <a:ext cx="5669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Text 142"/>
          <p:cNvSpPr/>
          <p:nvPr/>
        </p:nvSpPr>
        <p:spPr>
          <a:xfrm>
            <a:off x="6053328" y="3188359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59.1%</a:t>
            </a:r>
            <a:endParaRPr lang="en-US" sz="750" dirty="0"/>
          </a:p>
        </p:txBody>
      </p:sp>
      <p:sp>
        <p:nvSpPr>
          <p:cNvPr id="145" name="Shape 143"/>
          <p:cNvSpPr/>
          <p:nvPr/>
        </p:nvSpPr>
        <p:spPr>
          <a:xfrm>
            <a:off x="6592824" y="3170071"/>
            <a:ext cx="144475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Text 144"/>
          <p:cNvSpPr/>
          <p:nvPr/>
        </p:nvSpPr>
        <p:spPr>
          <a:xfrm>
            <a:off x="6620256" y="3188359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6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5.8x eff, 59.1% WR — underinvested</a:t>
            </a:r>
            <a:endParaRPr lang="en-US" sz="650" dirty="0"/>
          </a:p>
        </p:txBody>
      </p:sp>
      <p:sp>
        <p:nvSpPr>
          <p:cNvPr id="147" name="Shape 145"/>
          <p:cNvSpPr/>
          <p:nvPr/>
        </p:nvSpPr>
        <p:spPr>
          <a:xfrm>
            <a:off x="384048" y="3426103"/>
            <a:ext cx="12344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Text 146"/>
          <p:cNvSpPr/>
          <p:nvPr/>
        </p:nvSpPr>
        <p:spPr>
          <a:xfrm>
            <a:off x="411480" y="3444391"/>
            <a:ext cx="11795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1618488" y="3426103"/>
            <a:ext cx="62179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Text 148"/>
          <p:cNvSpPr/>
          <p:nvPr/>
        </p:nvSpPr>
        <p:spPr>
          <a:xfrm>
            <a:off x="1645920" y="3444391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$0.42M</a:t>
            </a:r>
            <a:endParaRPr lang="en-US" sz="750" dirty="0"/>
          </a:p>
        </p:txBody>
      </p:sp>
      <p:sp>
        <p:nvSpPr>
          <p:cNvPr id="151" name="Shape 149"/>
          <p:cNvSpPr/>
          <p:nvPr/>
        </p:nvSpPr>
        <p:spPr>
          <a:xfrm>
            <a:off x="2240280" y="3426103"/>
            <a:ext cx="56692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Text 150"/>
          <p:cNvSpPr/>
          <p:nvPr/>
        </p:nvSpPr>
        <p:spPr>
          <a:xfrm>
            <a:off x="2267712" y="3444391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$0.79M</a:t>
            </a:r>
            <a:endParaRPr lang="en-US" sz="750" dirty="0"/>
          </a:p>
        </p:txBody>
      </p:sp>
      <p:sp>
        <p:nvSpPr>
          <p:cNvPr id="153" name="Shape 151"/>
          <p:cNvSpPr/>
          <p:nvPr/>
        </p:nvSpPr>
        <p:spPr>
          <a:xfrm>
            <a:off x="2807208" y="3426103"/>
            <a:ext cx="68580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4" name="Text 152"/>
          <p:cNvSpPr/>
          <p:nvPr/>
        </p:nvSpPr>
        <p:spPr>
          <a:xfrm>
            <a:off x="2834640" y="3444391"/>
            <a:ext cx="630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($0.37M)</a:t>
            </a: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3493008" y="3426103"/>
            <a:ext cx="56692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Text 154"/>
          <p:cNvSpPr/>
          <p:nvPr/>
        </p:nvSpPr>
        <p:spPr>
          <a:xfrm>
            <a:off x="3520440" y="3444391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2,129</a:t>
            </a:r>
            <a:endParaRPr lang="en-US" sz="750" dirty="0"/>
          </a:p>
        </p:txBody>
      </p:sp>
      <p:sp>
        <p:nvSpPr>
          <p:cNvPr id="157" name="Shape 155"/>
          <p:cNvSpPr/>
          <p:nvPr/>
        </p:nvSpPr>
        <p:spPr>
          <a:xfrm>
            <a:off x="4059936" y="3426103"/>
            <a:ext cx="65836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8" name="Text 156"/>
          <p:cNvSpPr/>
          <p:nvPr/>
        </p:nvSpPr>
        <p:spPr>
          <a:xfrm>
            <a:off x="4087368" y="3444391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$1.77M</a:t>
            </a:r>
            <a:endParaRPr lang="en-US" sz="750" dirty="0"/>
          </a:p>
        </p:txBody>
      </p:sp>
      <p:sp>
        <p:nvSpPr>
          <p:cNvPr id="159" name="Shape 157"/>
          <p:cNvSpPr/>
          <p:nvPr/>
        </p:nvSpPr>
        <p:spPr>
          <a:xfrm>
            <a:off x="4718304" y="3426103"/>
            <a:ext cx="71323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0" name="Text 158"/>
          <p:cNvSpPr/>
          <p:nvPr/>
        </p:nvSpPr>
        <p:spPr>
          <a:xfrm>
            <a:off x="4745736" y="3444391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($0.31M)</a:t>
            </a:r>
            <a:endParaRPr lang="en-US" sz="750" dirty="0">
              <a:solidFill>
                <a:srgbClr val="C00000"/>
              </a:solidFill>
            </a:endParaRPr>
          </a:p>
        </p:txBody>
      </p:sp>
      <p:sp>
        <p:nvSpPr>
          <p:cNvPr id="161" name="Shape 159"/>
          <p:cNvSpPr/>
          <p:nvPr/>
        </p:nvSpPr>
        <p:spPr>
          <a:xfrm>
            <a:off x="5431536" y="3426103"/>
            <a:ext cx="5943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Text 160"/>
          <p:cNvSpPr/>
          <p:nvPr/>
        </p:nvSpPr>
        <p:spPr>
          <a:xfrm>
            <a:off x="5458968" y="3444391"/>
            <a:ext cx="5394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4.2x</a:t>
            </a:r>
            <a:endParaRPr lang="en-US" sz="750" dirty="0">
              <a:solidFill>
                <a:srgbClr val="C00000"/>
              </a:solidFill>
            </a:endParaRPr>
          </a:p>
        </p:txBody>
      </p:sp>
      <p:sp>
        <p:nvSpPr>
          <p:cNvPr id="163" name="Shape 161"/>
          <p:cNvSpPr/>
          <p:nvPr/>
        </p:nvSpPr>
        <p:spPr>
          <a:xfrm>
            <a:off x="6025896" y="3426103"/>
            <a:ext cx="56692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4" name="Text 162"/>
          <p:cNvSpPr/>
          <p:nvPr/>
        </p:nvSpPr>
        <p:spPr>
          <a:xfrm>
            <a:off x="6053328" y="3444391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7.9%</a:t>
            </a:r>
            <a:endParaRPr lang="en-US" sz="750" dirty="0"/>
          </a:p>
        </p:txBody>
      </p:sp>
      <p:sp>
        <p:nvSpPr>
          <p:cNvPr id="165" name="Shape 163"/>
          <p:cNvSpPr/>
          <p:nvPr/>
        </p:nvSpPr>
        <p:spPr>
          <a:xfrm>
            <a:off x="6592824" y="3426103"/>
            <a:ext cx="144475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6" name="Text 164"/>
          <p:cNvSpPr/>
          <p:nvPr/>
        </p:nvSpPr>
        <p:spPr>
          <a:xfrm>
            <a:off x="6620256" y="3444391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6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4.2x eff — WR improvement needed</a:t>
            </a:r>
            <a:endParaRPr lang="en-US" sz="650" dirty="0"/>
          </a:p>
        </p:txBody>
      </p:sp>
      <p:sp>
        <p:nvSpPr>
          <p:cNvPr id="167" name="Shape 165"/>
          <p:cNvSpPr/>
          <p:nvPr/>
        </p:nvSpPr>
        <p:spPr>
          <a:xfrm>
            <a:off x="384048" y="3682135"/>
            <a:ext cx="123444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Text 166"/>
          <p:cNvSpPr/>
          <p:nvPr/>
        </p:nvSpPr>
        <p:spPr>
          <a:xfrm>
            <a:off x="411480" y="3700423"/>
            <a:ext cx="11795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Webinar</a:t>
            </a:r>
            <a:endParaRPr lang="en-US" sz="750" dirty="0"/>
          </a:p>
        </p:txBody>
      </p:sp>
      <p:sp>
        <p:nvSpPr>
          <p:cNvPr id="169" name="Shape 167"/>
          <p:cNvSpPr/>
          <p:nvPr/>
        </p:nvSpPr>
        <p:spPr>
          <a:xfrm>
            <a:off x="1618488" y="3682135"/>
            <a:ext cx="62179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Text 168"/>
          <p:cNvSpPr/>
          <p:nvPr/>
        </p:nvSpPr>
        <p:spPr>
          <a:xfrm>
            <a:off x="1645920" y="3700423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$0.47M</a:t>
            </a:r>
            <a:endParaRPr lang="en-US" sz="750" dirty="0"/>
          </a:p>
        </p:txBody>
      </p:sp>
      <p:sp>
        <p:nvSpPr>
          <p:cNvPr id="171" name="Shape 169"/>
          <p:cNvSpPr/>
          <p:nvPr/>
        </p:nvSpPr>
        <p:spPr>
          <a:xfrm>
            <a:off x="2240280" y="3682135"/>
            <a:ext cx="5669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Text 170"/>
          <p:cNvSpPr/>
          <p:nvPr/>
        </p:nvSpPr>
        <p:spPr>
          <a:xfrm>
            <a:off x="2267712" y="3700423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$0.59M</a:t>
            </a:r>
            <a:endParaRPr lang="en-US" sz="750" dirty="0"/>
          </a:p>
        </p:txBody>
      </p:sp>
      <p:sp>
        <p:nvSpPr>
          <p:cNvPr id="173" name="Shape 171"/>
          <p:cNvSpPr/>
          <p:nvPr/>
        </p:nvSpPr>
        <p:spPr>
          <a:xfrm>
            <a:off x="2807208" y="3682135"/>
            <a:ext cx="685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Text 172"/>
          <p:cNvSpPr/>
          <p:nvPr/>
        </p:nvSpPr>
        <p:spPr>
          <a:xfrm>
            <a:off x="2834640" y="3700423"/>
            <a:ext cx="630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($0.12M)</a:t>
            </a:r>
            <a:endParaRPr lang="en-US" sz="750" dirty="0"/>
          </a:p>
        </p:txBody>
      </p:sp>
      <p:sp>
        <p:nvSpPr>
          <p:cNvPr id="175" name="Shape 173"/>
          <p:cNvSpPr/>
          <p:nvPr/>
        </p:nvSpPr>
        <p:spPr>
          <a:xfrm>
            <a:off x="3493008" y="3682135"/>
            <a:ext cx="5669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Text 174"/>
          <p:cNvSpPr/>
          <p:nvPr/>
        </p:nvSpPr>
        <p:spPr>
          <a:xfrm>
            <a:off x="3520440" y="3700423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2,092</a:t>
            </a:r>
            <a:endParaRPr lang="en-US" sz="750" dirty="0"/>
          </a:p>
        </p:txBody>
      </p:sp>
      <p:sp>
        <p:nvSpPr>
          <p:cNvPr id="177" name="Shape 175"/>
          <p:cNvSpPr/>
          <p:nvPr/>
        </p:nvSpPr>
        <p:spPr>
          <a:xfrm>
            <a:off x="4059936" y="3682135"/>
            <a:ext cx="65836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8" name="Text 176"/>
          <p:cNvSpPr/>
          <p:nvPr/>
        </p:nvSpPr>
        <p:spPr>
          <a:xfrm>
            <a:off x="4087368" y="3700423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$1.32M</a:t>
            </a:r>
            <a:endParaRPr lang="en-US" sz="750" dirty="0"/>
          </a:p>
        </p:txBody>
      </p:sp>
      <p:sp>
        <p:nvSpPr>
          <p:cNvPr id="179" name="Shape 177"/>
          <p:cNvSpPr/>
          <p:nvPr/>
        </p:nvSpPr>
        <p:spPr>
          <a:xfrm>
            <a:off x="4718304" y="3682135"/>
            <a:ext cx="71323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0" name="Text 178"/>
          <p:cNvSpPr/>
          <p:nvPr/>
        </p:nvSpPr>
        <p:spPr>
          <a:xfrm>
            <a:off x="4745736" y="3700423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($0.70M)</a:t>
            </a:r>
            <a:endParaRPr lang="en-US" sz="750" dirty="0">
              <a:solidFill>
                <a:srgbClr val="C00000"/>
              </a:solidFill>
            </a:endParaRPr>
          </a:p>
        </p:txBody>
      </p:sp>
      <p:sp>
        <p:nvSpPr>
          <p:cNvPr id="181" name="Shape 179"/>
          <p:cNvSpPr/>
          <p:nvPr/>
        </p:nvSpPr>
        <p:spPr>
          <a:xfrm>
            <a:off x="5431536" y="3682135"/>
            <a:ext cx="59436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2" name="Text 180"/>
          <p:cNvSpPr/>
          <p:nvPr/>
        </p:nvSpPr>
        <p:spPr>
          <a:xfrm>
            <a:off x="5458968" y="3700423"/>
            <a:ext cx="5394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2.8x</a:t>
            </a:r>
            <a:endParaRPr lang="en-US" sz="750" dirty="0">
              <a:solidFill>
                <a:srgbClr val="C00000"/>
              </a:solidFill>
            </a:endParaRPr>
          </a:p>
        </p:txBody>
      </p:sp>
      <p:sp>
        <p:nvSpPr>
          <p:cNvPr id="183" name="Shape 181"/>
          <p:cNvSpPr/>
          <p:nvPr/>
        </p:nvSpPr>
        <p:spPr>
          <a:xfrm>
            <a:off x="6025896" y="3682135"/>
            <a:ext cx="5669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Text 182"/>
          <p:cNvSpPr/>
          <p:nvPr/>
        </p:nvSpPr>
        <p:spPr>
          <a:xfrm>
            <a:off x="6053328" y="3700423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14.5%</a:t>
            </a:r>
            <a:endParaRPr lang="en-US" sz="750" dirty="0">
              <a:solidFill>
                <a:srgbClr val="C00000"/>
              </a:solidFill>
            </a:endParaRPr>
          </a:p>
        </p:txBody>
      </p:sp>
      <p:sp>
        <p:nvSpPr>
          <p:cNvPr id="185" name="Shape 183"/>
          <p:cNvSpPr/>
          <p:nvPr/>
        </p:nvSpPr>
        <p:spPr>
          <a:xfrm>
            <a:off x="6592824" y="3682135"/>
            <a:ext cx="144475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6" name="Text 184"/>
          <p:cNvSpPr/>
          <p:nvPr/>
        </p:nvSpPr>
        <p:spPr>
          <a:xfrm>
            <a:off x="6620256" y="3700423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6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2.8x eff — mid-tier performance</a:t>
            </a:r>
            <a:endParaRPr lang="en-US" sz="650" dirty="0"/>
          </a:p>
        </p:txBody>
      </p:sp>
      <p:sp>
        <p:nvSpPr>
          <p:cNvPr id="187" name="Shape 185"/>
          <p:cNvSpPr/>
          <p:nvPr/>
        </p:nvSpPr>
        <p:spPr>
          <a:xfrm>
            <a:off x="384048" y="3938167"/>
            <a:ext cx="12344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Text 186"/>
          <p:cNvSpPr/>
          <p:nvPr/>
        </p:nvSpPr>
        <p:spPr>
          <a:xfrm>
            <a:off x="411480" y="3956455"/>
            <a:ext cx="11795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Social</a:t>
            </a:r>
            <a:endParaRPr lang="en-US" sz="750" dirty="0"/>
          </a:p>
        </p:txBody>
      </p:sp>
      <p:sp>
        <p:nvSpPr>
          <p:cNvPr id="189" name="Shape 187"/>
          <p:cNvSpPr/>
          <p:nvPr/>
        </p:nvSpPr>
        <p:spPr>
          <a:xfrm>
            <a:off x="1618488" y="3938167"/>
            <a:ext cx="62179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Text 188"/>
          <p:cNvSpPr/>
          <p:nvPr/>
        </p:nvSpPr>
        <p:spPr>
          <a:xfrm>
            <a:off x="1645920" y="3956455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$1.70M</a:t>
            </a:r>
            <a:endParaRPr lang="en-US" sz="750" dirty="0"/>
          </a:p>
        </p:txBody>
      </p:sp>
      <p:sp>
        <p:nvSpPr>
          <p:cNvPr id="191" name="Shape 189"/>
          <p:cNvSpPr/>
          <p:nvPr/>
        </p:nvSpPr>
        <p:spPr>
          <a:xfrm>
            <a:off x="2240280" y="3938167"/>
            <a:ext cx="56692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Text 190"/>
          <p:cNvSpPr/>
          <p:nvPr/>
        </p:nvSpPr>
        <p:spPr>
          <a:xfrm>
            <a:off x="2267712" y="3956455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$0.80M</a:t>
            </a:r>
            <a:endParaRPr lang="en-US" sz="750" dirty="0"/>
          </a:p>
        </p:txBody>
      </p:sp>
      <p:sp>
        <p:nvSpPr>
          <p:cNvPr id="193" name="Shape 191"/>
          <p:cNvSpPr/>
          <p:nvPr/>
        </p:nvSpPr>
        <p:spPr>
          <a:xfrm>
            <a:off x="2807208" y="3938167"/>
            <a:ext cx="68580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4" name="Text 192"/>
          <p:cNvSpPr/>
          <p:nvPr/>
        </p:nvSpPr>
        <p:spPr>
          <a:xfrm>
            <a:off x="2834640" y="3956455"/>
            <a:ext cx="630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+$0.90M</a:t>
            </a:r>
            <a:endParaRPr lang="en-US" sz="750" dirty="0"/>
          </a:p>
        </p:txBody>
      </p:sp>
      <p:sp>
        <p:nvSpPr>
          <p:cNvPr id="195" name="Shape 193"/>
          <p:cNvSpPr/>
          <p:nvPr/>
        </p:nvSpPr>
        <p:spPr>
          <a:xfrm>
            <a:off x="3493008" y="3938167"/>
            <a:ext cx="56692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Text 194"/>
          <p:cNvSpPr/>
          <p:nvPr/>
        </p:nvSpPr>
        <p:spPr>
          <a:xfrm>
            <a:off x="3520440" y="3956455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4,608</a:t>
            </a:r>
            <a:endParaRPr lang="en-US" sz="750" dirty="0"/>
          </a:p>
        </p:txBody>
      </p:sp>
      <p:sp>
        <p:nvSpPr>
          <p:cNvPr id="197" name="Shape 195"/>
          <p:cNvSpPr/>
          <p:nvPr/>
        </p:nvSpPr>
        <p:spPr>
          <a:xfrm>
            <a:off x="4059936" y="3938167"/>
            <a:ext cx="65836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8" name="Text 196"/>
          <p:cNvSpPr/>
          <p:nvPr/>
        </p:nvSpPr>
        <p:spPr>
          <a:xfrm>
            <a:off x="4087368" y="3956455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$2.22M</a:t>
            </a:r>
            <a:endParaRPr lang="en-US" sz="750" dirty="0"/>
          </a:p>
        </p:txBody>
      </p:sp>
      <p:sp>
        <p:nvSpPr>
          <p:cNvPr id="199" name="Shape 197"/>
          <p:cNvSpPr/>
          <p:nvPr/>
        </p:nvSpPr>
        <p:spPr>
          <a:xfrm>
            <a:off x="4718304" y="3938167"/>
            <a:ext cx="71323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0" name="Text 198"/>
          <p:cNvSpPr/>
          <p:nvPr/>
        </p:nvSpPr>
        <p:spPr>
          <a:xfrm>
            <a:off x="4745736" y="3956455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($0.47M)</a:t>
            </a:r>
            <a:endParaRPr lang="en-US" sz="750" dirty="0">
              <a:solidFill>
                <a:srgbClr val="C00000"/>
              </a:solidFill>
            </a:endParaRPr>
          </a:p>
        </p:txBody>
      </p:sp>
      <p:sp>
        <p:nvSpPr>
          <p:cNvPr id="201" name="Shape 199"/>
          <p:cNvSpPr/>
          <p:nvPr/>
        </p:nvSpPr>
        <p:spPr>
          <a:xfrm>
            <a:off x="5431536" y="3938167"/>
            <a:ext cx="5943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2" name="Text 200"/>
          <p:cNvSpPr/>
          <p:nvPr/>
        </p:nvSpPr>
        <p:spPr>
          <a:xfrm>
            <a:off x="5458968" y="3956455"/>
            <a:ext cx="5394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1.3x</a:t>
            </a:r>
            <a:endParaRPr lang="en-US" sz="750" dirty="0">
              <a:solidFill>
                <a:srgbClr val="C00000"/>
              </a:solidFill>
            </a:endParaRPr>
          </a:p>
        </p:txBody>
      </p:sp>
      <p:sp>
        <p:nvSpPr>
          <p:cNvPr id="203" name="Shape 201"/>
          <p:cNvSpPr/>
          <p:nvPr/>
        </p:nvSpPr>
        <p:spPr>
          <a:xfrm>
            <a:off x="6025896" y="3938167"/>
            <a:ext cx="56692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4" name="Text 202"/>
          <p:cNvSpPr/>
          <p:nvPr/>
        </p:nvSpPr>
        <p:spPr>
          <a:xfrm>
            <a:off x="6053328" y="3956455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5.8%</a:t>
            </a:r>
            <a:endParaRPr lang="en-US" sz="750" dirty="0"/>
          </a:p>
        </p:txBody>
      </p:sp>
      <p:sp>
        <p:nvSpPr>
          <p:cNvPr id="205" name="Shape 203"/>
          <p:cNvSpPr/>
          <p:nvPr/>
        </p:nvSpPr>
        <p:spPr>
          <a:xfrm>
            <a:off x="6592824" y="3938167"/>
            <a:ext cx="144475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6" name="Text 204"/>
          <p:cNvSpPr/>
          <p:nvPr/>
        </p:nvSpPr>
        <p:spPr>
          <a:xfrm>
            <a:off x="6620256" y="3956455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6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1.3x, 5.8% WR — reallocate to Partner</a:t>
            </a:r>
            <a:endParaRPr lang="en-US" sz="650" dirty="0"/>
          </a:p>
        </p:txBody>
      </p:sp>
      <p:sp>
        <p:nvSpPr>
          <p:cNvPr id="207" name="Shape 205"/>
          <p:cNvSpPr/>
          <p:nvPr/>
        </p:nvSpPr>
        <p:spPr>
          <a:xfrm>
            <a:off x="384048" y="4194199"/>
            <a:ext cx="123444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8" name="Text 206"/>
          <p:cNvSpPr/>
          <p:nvPr/>
        </p:nvSpPr>
        <p:spPr>
          <a:xfrm>
            <a:off x="411480" y="4212487"/>
            <a:ext cx="11795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Search</a:t>
            </a:r>
            <a:endParaRPr lang="en-US" sz="750" dirty="0"/>
          </a:p>
        </p:txBody>
      </p:sp>
      <p:sp>
        <p:nvSpPr>
          <p:cNvPr id="209" name="Shape 207"/>
          <p:cNvSpPr/>
          <p:nvPr/>
        </p:nvSpPr>
        <p:spPr>
          <a:xfrm>
            <a:off x="1618488" y="4194199"/>
            <a:ext cx="62179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0" name="Text 208"/>
          <p:cNvSpPr/>
          <p:nvPr/>
        </p:nvSpPr>
        <p:spPr>
          <a:xfrm>
            <a:off x="1645920" y="4212487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$2.14M</a:t>
            </a:r>
            <a:endParaRPr lang="en-US" sz="750" dirty="0"/>
          </a:p>
        </p:txBody>
      </p:sp>
      <p:sp>
        <p:nvSpPr>
          <p:cNvPr id="211" name="Shape 209"/>
          <p:cNvSpPr/>
          <p:nvPr/>
        </p:nvSpPr>
        <p:spPr>
          <a:xfrm>
            <a:off x="2240280" y="4194199"/>
            <a:ext cx="5669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2" name="Text 210"/>
          <p:cNvSpPr/>
          <p:nvPr/>
        </p:nvSpPr>
        <p:spPr>
          <a:xfrm>
            <a:off x="2267712" y="4212487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$0.98M</a:t>
            </a:r>
            <a:endParaRPr lang="en-US" sz="750" dirty="0"/>
          </a:p>
        </p:txBody>
      </p:sp>
      <p:sp>
        <p:nvSpPr>
          <p:cNvPr id="213" name="Shape 211"/>
          <p:cNvSpPr/>
          <p:nvPr/>
        </p:nvSpPr>
        <p:spPr>
          <a:xfrm>
            <a:off x="2807208" y="4194199"/>
            <a:ext cx="685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4" name="Text 212"/>
          <p:cNvSpPr/>
          <p:nvPr/>
        </p:nvSpPr>
        <p:spPr>
          <a:xfrm>
            <a:off x="2834640" y="4212487"/>
            <a:ext cx="630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+$1.16M</a:t>
            </a:r>
            <a:endParaRPr lang="en-US" sz="750" dirty="0"/>
          </a:p>
        </p:txBody>
      </p:sp>
      <p:sp>
        <p:nvSpPr>
          <p:cNvPr id="215" name="Shape 213"/>
          <p:cNvSpPr/>
          <p:nvPr/>
        </p:nvSpPr>
        <p:spPr>
          <a:xfrm>
            <a:off x="3493008" y="4194199"/>
            <a:ext cx="5669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6" name="Text 214"/>
          <p:cNvSpPr/>
          <p:nvPr/>
        </p:nvSpPr>
        <p:spPr>
          <a:xfrm>
            <a:off x="3520440" y="4212487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3,206</a:t>
            </a:r>
            <a:endParaRPr lang="en-US" sz="750" dirty="0"/>
          </a:p>
        </p:txBody>
      </p:sp>
      <p:sp>
        <p:nvSpPr>
          <p:cNvPr id="217" name="Shape 215"/>
          <p:cNvSpPr/>
          <p:nvPr/>
        </p:nvSpPr>
        <p:spPr>
          <a:xfrm>
            <a:off x="4059936" y="4194199"/>
            <a:ext cx="65836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8" name="Text 216"/>
          <p:cNvSpPr/>
          <p:nvPr/>
        </p:nvSpPr>
        <p:spPr>
          <a:xfrm>
            <a:off x="4087368" y="4212487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$2.59M</a:t>
            </a:r>
            <a:endParaRPr lang="en-US" sz="750" dirty="0"/>
          </a:p>
        </p:txBody>
      </p:sp>
      <p:sp>
        <p:nvSpPr>
          <p:cNvPr id="219" name="Shape 217"/>
          <p:cNvSpPr/>
          <p:nvPr/>
        </p:nvSpPr>
        <p:spPr>
          <a:xfrm>
            <a:off x="4718304" y="4194199"/>
            <a:ext cx="71323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0" name="Text 218"/>
          <p:cNvSpPr/>
          <p:nvPr/>
        </p:nvSpPr>
        <p:spPr>
          <a:xfrm>
            <a:off x="4745736" y="4212487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($0.01M)</a:t>
            </a:r>
            <a:endParaRPr lang="en-US" sz="750" dirty="0">
              <a:solidFill>
                <a:srgbClr val="C00000"/>
              </a:solidFill>
            </a:endParaRPr>
          </a:p>
        </p:txBody>
      </p:sp>
      <p:sp>
        <p:nvSpPr>
          <p:cNvPr id="221" name="Shape 219"/>
          <p:cNvSpPr/>
          <p:nvPr/>
        </p:nvSpPr>
        <p:spPr>
          <a:xfrm>
            <a:off x="5431536" y="4194199"/>
            <a:ext cx="59436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2" name="Text 220"/>
          <p:cNvSpPr/>
          <p:nvPr/>
        </p:nvSpPr>
        <p:spPr>
          <a:xfrm>
            <a:off x="5458968" y="4212487"/>
            <a:ext cx="5394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1.2x</a:t>
            </a:r>
            <a:endParaRPr lang="en-US" sz="750" dirty="0">
              <a:solidFill>
                <a:srgbClr val="C00000"/>
              </a:solidFill>
            </a:endParaRPr>
          </a:p>
        </p:txBody>
      </p:sp>
      <p:sp>
        <p:nvSpPr>
          <p:cNvPr id="223" name="Shape 221"/>
          <p:cNvSpPr/>
          <p:nvPr/>
        </p:nvSpPr>
        <p:spPr>
          <a:xfrm>
            <a:off x="6025896" y="4194199"/>
            <a:ext cx="5669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4" name="Text 222"/>
          <p:cNvSpPr/>
          <p:nvPr/>
        </p:nvSpPr>
        <p:spPr>
          <a:xfrm>
            <a:off x="6053328" y="4212487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5.2%</a:t>
            </a:r>
            <a:endParaRPr lang="en-US" sz="750" dirty="0"/>
          </a:p>
        </p:txBody>
      </p:sp>
      <p:sp>
        <p:nvSpPr>
          <p:cNvPr id="225" name="Shape 223"/>
          <p:cNvSpPr/>
          <p:nvPr/>
        </p:nvSpPr>
        <p:spPr>
          <a:xfrm>
            <a:off x="6592824" y="4194199"/>
            <a:ext cx="144475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6" name="Text 224"/>
          <p:cNvSpPr/>
          <p:nvPr/>
        </p:nvSpPr>
        <p:spPr>
          <a:xfrm>
            <a:off x="6620256" y="4212487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6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1.2x, 5.2% WR — $2.14M overspend</a:t>
            </a:r>
            <a:endParaRPr lang="en-US" sz="650" dirty="0"/>
          </a:p>
        </p:txBody>
      </p:sp>
      <p:sp>
        <p:nvSpPr>
          <p:cNvPr id="227" name="Shape 225"/>
          <p:cNvSpPr/>
          <p:nvPr/>
        </p:nvSpPr>
        <p:spPr>
          <a:xfrm>
            <a:off x="384048" y="4450231"/>
            <a:ext cx="12344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8" name="Text 226"/>
          <p:cNvSpPr/>
          <p:nvPr/>
        </p:nvSpPr>
        <p:spPr>
          <a:xfrm>
            <a:off x="411480" y="4468519"/>
            <a:ext cx="11795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Synd.</a:t>
            </a:r>
            <a:endParaRPr lang="en-US" sz="750" dirty="0"/>
          </a:p>
        </p:txBody>
      </p:sp>
      <p:sp>
        <p:nvSpPr>
          <p:cNvPr id="229" name="Shape 227"/>
          <p:cNvSpPr/>
          <p:nvPr/>
        </p:nvSpPr>
        <p:spPr>
          <a:xfrm>
            <a:off x="1618488" y="4450231"/>
            <a:ext cx="62179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0" name="Text 228"/>
          <p:cNvSpPr/>
          <p:nvPr/>
        </p:nvSpPr>
        <p:spPr>
          <a:xfrm>
            <a:off x="1645920" y="4468519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$1.11M</a:t>
            </a:r>
            <a:endParaRPr lang="en-US" sz="750" dirty="0"/>
          </a:p>
        </p:txBody>
      </p:sp>
      <p:sp>
        <p:nvSpPr>
          <p:cNvPr id="231" name="Shape 229"/>
          <p:cNvSpPr/>
          <p:nvPr/>
        </p:nvSpPr>
        <p:spPr>
          <a:xfrm>
            <a:off x="2240280" y="4450231"/>
            <a:ext cx="56692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2" name="Text 230"/>
          <p:cNvSpPr/>
          <p:nvPr/>
        </p:nvSpPr>
        <p:spPr>
          <a:xfrm>
            <a:off x="2267712" y="4468519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$0.48M</a:t>
            </a:r>
            <a:endParaRPr lang="en-US" sz="750" dirty="0"/>
          </a:p>
        </p:txBody>
      </p:sp>
      <p:sp>
        <p:nvSpPr>
          <p:cNvPr id="233" name="Shape 231"/>
          <p:cNvSpPr/>
          <p:nvPr/>
        </p:nvSpPr>
        <p:spPr>
          <a:xfrm>
            <a:off x="2807208" y="4450231"/>
            <a:ext cx="68580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4" name="Text 232"/>
          <p:cNvSpPr/>
          <p:nvPr/>
        </p:nvSpPr>
        <p:spPr>
          <a:xfrm>
            <a:off x="2834640" y="4468519"/>
            <a:ext cx="630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+$0.63M</a:t>
            </a:r>
            <a:endParaRPr lang="en-US" sz="750" dirty="0"/>
          </a:p>
        </p:txBody>
      </p:sp>
      <p:sp>
        <p:nvSpPr>
          <p:cNvPr id="235" name="Shape 233"/>
          <p:cNvSpPr/>
          <p:nvPr/>
        </p:nvSpPr>
        <p:spPr>
          <a:xfrm>
            <a:off x="3493008" y="4450231"/>
            <a:ext cx="56692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6" name="Text 234"/>
          <p:cNvSpPr/>
          <p:nvPr/>
        </p:nvSpPr>
        <p:spPr>
          <a:xfrm>
            <a:off x="3520440" y="4468519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2,994</a:t>
            </a:r>
            <a:endParaRPr lang="en-US" sz="750" dirty="0"/>
          </a:p>
        </p:txBody>
      </p:sp>
      <p:sp>
        <p:nvSpPr>
          <p:cNvPr id="237" name="Shape 235"/>
          <p:cNvSpPr/>
          <p:nvPr/>
        </p:nvSpPr>
        <p:spPr>
          <a:xfrm>
            <a:off x="4059936" y="4450231"/>
            <a:ext cx="65836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8" name="Text 236"/>
          <p:cNvSpPr/>
          <p:nvPr/>
        </p:nvSpPr>
        <p:spPr>
          <a:xfrm>
            <a:off x="4087368" y="4468519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750" dirty="0"/>
          </a:p>
        </p:txBody>
      </p:sp>
      <p:sp>
        <p:nvSpPr>
          <p:cNvPr id="239" name="Shape 237"/>
          <p:cNvSpPr/>
          <p:nvPr/>
        </p:nvSpPr>
        <p:spPr>
          <a:xfrm>
            <a:off x="4718304" y="4450231"/>
            <a:ext cx="71323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0" name="Text 238"/>
          <p:cNvSpPr/>
          <p:nvPr/>
        </p:nvSpPr>
        <p:spPr>
          <a:xfrm>
            <a:off x="4745736" y="4468519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+$0.08M</a:t>
            </a:r>
            <a:endParaRPr lang="en-US" sz="750" dirty="0"/>
          </a:p>
        </p:txBody>
      </p:sp>
      <p:sp>
        <p:nvSpPr>
          <p:cNvPr id="241" name="Shape 239"/>
          <p:cNvSpPr/>
          <p:nvPr/>
        </p:nvSpPr>
        <p:spPr>
          <a:xfrm>
            <a:off x="5431536" y="4450231"/>
            <a:ext cx="5943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2" name="Text 240"/>
          <p:cNvSpPr/>
          <p:nvPr/>
        </p:nvSpPr>
        <p:spPr>
          <a:xfrm>
            <a:off x="5458968" y="4468519"/>
            <a:ext cx="5394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1.0x</a:t>
            </a:r>
            <a:endParaRPr lang="en-US" sz="750" dirty="0">
              <a:solidFill>
                <a:srgbClr val="15803D"/>
              </a:solidFill>
            </a:endParaRPr>
          </a:p>
        </p:txBody>
      </p:sp>
      <p:sp>
        <p:nvSpPr>
          <p:cNvPr id="243" name="Shape 241"/>
          <p:cNvSpPr/>
          <p:nvPr/>
        </p:nvSpPr>
        <p:spPr>
          <a:xfrm>
            <a:off x="6025896" y="4450231"/>
            <a:ext cx="56692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4" name="Text 242"/>
          <p:cNvSpPr/>
          <p:nvPr/>
        </p:nvSpPr>
        <p:spPr>
          <a:xfrm>
            <a:off x="6053328" y="4468519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9.5%</a:t>
            </a:r>
            <a:endParaRPr lang="en-US" sz="750" dirty="0">
              <a:solidFill>
                <a:srgbClr val="15803D"/>
              </a:solidFill>
            </a:endParaRPr>
          </a:p>
        </p:txBody>
      </p:sp>
      <p:sp>
        <p:nvSpPr>
          <p:cNvPr id="245" name="Shape 243"/>
          <p:cNvSpPr/>
          <p:nvPr/>
        </p:nvSpPr>
        <p:spPr>
          <a:xfrm>
            <a:off x="6592824" y="4450231"/>
            <a:ext cx="144475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6" name="Text 244"/>
          <p:cNvSpPr/>
          <p:nvPr/>
        </p:nvSpPr>
        <p:spPr>
          <a:xfrm>
            <a:off x="6620256" y="4468519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6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1.0x — reallocate budget</a:t>
            </a:r>
            <a:endParaRPr lang="en-US" sz="650" dirty="0"/>
          </a:p>
        </p:txBody>
      </p:sp>
      <p:sp>
        <p:nvSpPr>
          <p:cNvPr id="247" name="Shape 245"/>
          <p:cNvSpPr/>
          <p:nvPr/>
        </p:nvSpPr>
        <p:spPr>
          <a:xfrm>
            <a:off x="384048" y="4706263"/>
            <a:ext cx="123444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8" name="Text 246"/>
          <p:cNvSpPr/>
          <p:nvPr/>
        </p:nvSpPr>
        <p:spPr>
          <a:xfrm>
            <a:off x="411480" y="4724551"/>
            <a:ext cx="11795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Event</a:t>
            </a:r>
            <a:endParaRPr lang="en-US" sz="750" dirty="0"/>
          </a:p>
        </p:txBody>
      </p:sp>
      <p:sp>
        <p:nvSpPr>
          <p:cNvPr id="249" name="Shape 247"/>
          <p:cNvSpPr/>
          <p:nvPr/>
        </p:nvSpPr>
        <p:spPr>
          <a:xfrm>
            <a:off x="1618488" y="4706263"/>
            <a:ext cx="62179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0" name="Text 248"/>
          <p:cNvSpPr/>
          <p:nvPr/>
        </p:nvSpPr>
        <p:spPr>
          <a:xfrm>
            <a:off x="1645920" y="4724551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$1.03M</a:t>
            </a:r>
            <a:endParaRPr lang="en-US" sz="750" dirty="0"/>
          </a:p>
        </p:txBody>
      </p:sp>
      <p:sp>
        <p:nvSpPr>
          <p:cNvPr id="251" name="Shape 249"/>
          <p:cNvSpPr/>
          <p:nvPr/>
        </p:nvSpPr>
        <p:spPr>
          <a:xfrm>
            <a:off x="2240280" y="4706263"/>
            <a:ext cx="5669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2" name="Text 250"/>
          <p:cNvSpPr/>
          <p:nvPr/>
        </p:nvSpPr>
        <p:spPr>
          <a:xfrm>
            <a:off x="2267712" y="4724551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$0.71M</a:t>
            </a:r>
            <a:endParaRPr lang="en-US" sz="750" dirty="0"/>
          </a:p>
        </p:txBody>
      </p:sp>
      <p:sp>
        <p:nvSpPr>
          <p:cNvPr id="253" name="Shape 251"/>
          <p:cNvSpPr/>
          <p:nvPr/>
        </p:nvSpPr>
        <p:spPr>
          <a:xfrm>
            <a:off x="2807208" y="4706263"/>
            <a:ext cx="685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4" name="Text 252"/>
          <p:cNvSpPr/>
          <p:nvPr/>
        </p:nvSpPr>
        <p:spPr>
          <a:xfrm>
            <a:off x="2834640" y="4724551"/>
            <a:ext cx="630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+$0.32M</a:t>
            </a:r>
            <a:endParaRPr lang="en-US" sz="750" dirty="0"/>
          </a:p>
        </p:txBody>
      </p:sp>
      <p:sp>
        <p:nvSpPr>
          <p:cNvPr id="255" name="Shape 253"/>
          <p:cNvSpPr/>
          <p:nvPr/>
        </p:nvSpPr>
        <p:spPr>
          <a:xfrm>
            <a:off x="3493008" y="4706263"/>
            <a:ext cx="5669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6" name="Text 254"/>
          <p:cNvSpPr/>
          <p:nvPr/>
        </p:nvSpPr>
        <p:spPr>
          <a:xfrm>
            <a:off x="3520440" y="4724551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775</a:t>
            </a:r>
            <a:endParaRPr lang="en-US" sz="750" dirty="0"/>
          </a:p>
        </p:txBody>
      </p:sp>
      <p:sp>
        <p:nvSpPr>
          <p:cNvPr id="257" name="Shape 255"/>
          <p:cNvSpPr/>
          <p:nvPr/>
        </p:nvSpPr>
        <p:spPr>
          <a:xfrm>
            <a:off x="4059936" y="4706263"/>
            <a:ext cx="65836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8" name="Text 256"/>
          <p:cNvSpPr/>
          <p:nvPr/>
        </p:nvSpPr>
        <p:spPr>
          <a:xfrm>
            <a:off x="4087368" y="4724551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$0.86M</a:t>
            </a:r>
            <a:endParaRPr lang="en-US" sz="750" dirty="0"/>
          </a:p>
        </p:txBody>
      </p:sp>
      <p:sp>
        <p:nvSpPr>
          <p:cNvPr id="259" name="Shape 257"/>
          <p:cNvSpPr/>
          <p:nvPr/>
        </p:nvSpPr>
        <p:spPr>
          <a:xfrm>
            <a:off x="4718304" y="4706263"/>
            <a:ext cx="71323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0" name="Text 258"/>
          <p:cNvSpPr/>
          <p:nvPr/>
        </p:nvSpPr>
        <p:spPr>
          <a:xfrm>
            <a:off x="4745736" y="4724551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($1.01M)</a:t>
            </a:r>
            <a:endParaRPr lang="en-US" sz="750" dirty="0">
              <a:solidFill>
                <a:srgbClr val="C00000"/>
              </a:solidFill>
            </a:endParaRPr>
          </a:p>
        </p:txBody>
      </p:sp>
      <p:sp>
        <p:nvSpPr>
          <p:cNvPr id="261" name="Shape 259"/>
          <p:cNvSpPr/>
          <p:nvPr/>
        </p:nvSpPr>
        <p:spPr>
          <a:xfrm>
            <a:off x="5431536" y="4706263"/>
            <a:ext cx="59436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2" name="Text 260"/>
          <p:cNvSpPr/>
          <p:nvPr/>
        </p:nvSpPr>
        <p:spPr>
          <a:xfrm>
            <a:off x="5458968" y="4724551"/>
            <a:ext cx="5394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0.8x</a:t>
            </a:r>
            <a:endParaRPr lang="en-US" sz="750" dirty="0">
              <a:solidFill>
                <a:srgbClr val="C00000"/>
              </a:solidFill>
            </a:endParaRPr>
          </a:p>
        </p:txBody>
      </p:sp>
      <p:sp>
        <p:nvSpPr>
          <p:cNvPr id="263" name="Shape 261"/>
          <p:cNvSpPr/>
          <p:nvPr/>
        </p:nvSpPr>
        <p:spPr>
          <a:xfrm>
            <a:off x="6025896" y="4706263"/>
            <a:ext cx="5669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4" name="Text 262"/>
          <p:cNvSpPr/>
          <p:nvPr/>
        </p:nvSpPr>
        <p:spPr>
          <a:xfrm>
            <a:off x="6053328" y="4724551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18.4%</a:t>
            </a:r>
            <a:endParaRPr lang="en-US" sz="750" dirty="0">
              <a:solidFill>
                <a:srgbClr val="C00000"/>
              </a:solidFill>
            </a:endParaRPr>
          </a:p>
        </p:txBody>
      </p:sp>
      <p:sp>
        <p:nvSpPr>
          <p:cNvPr id="265" name="Shape 263"/>
          <p:cNvSpPr/>
          <p:nvPr/>
        </p:nvSpPr>
        <p:spPr>
          <a:xfrm>
            <a:off x="6592824" y="4706263"/>
            <a:ext cx="144475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6" name="Text 264"/>
          <p:cNvSpPr/>
          <p:nvPr/>
        </p:nvSpPr>
        <p:spPr>
          <a:xfrm>
            <a:off x="6620256" y="4724551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6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0.8x — ROI review needed</a:t>
            </a:r>
            <a:endParaRPr lang="en-US" sz="650" dirty="0"/>
          </a:p>
        </p:txBody>
      </p:sp>
      <p:sp>
        <p:nvSpPr>
          <p:cNvPr id="267" name="Shape 265"/>
          <p:cNvSpPr/>
          <p:nvPr/>
        </p:nvSpPr>
        <p:spPr>
          <a:xfrm>
            <a:off x="0" y="4974336"/>
            <a:ext cx="9144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8" name="Text 266"/>
          <p:cNvSpPr/>
          <p:nvPr/>
        </p:nvSpPr>
        <p:spPr>
          <a:xfrm>
            <a:off x="297180" y="5011389"/>
            <a:ext cx="7315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SMPL · Board Operating Review · Q2 2026 · CONFIDENTIAL</a:t>
            </a:r>
            <a:endParaRPr lang="en-US" sz="700" dirty="0"/>
          </a:p>
        </p:txBody>
      </p:sp>
      <p:sp>
        <p:nvSpPr>
          <p:cNvPr id="269" name="Text 267"/>
          <p:cNvSpPr/>
          <p:nvPr/>
        </p:nvSpPr>
        <p:spPr>
          <a:xfrm>
            <a:off x="8229600" y="4992624"/>
            <a:ext cx="7315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7/11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— FUNNEL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8412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to Bookings Conversion — New Logo &amp; Expansion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2026 vs Budget</a:t>
            </a:r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234440" cy="2286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02336" y="1078992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LOGO FUNNEL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1600200" y="1042416"/>
            <a:ext cx="749808" cy="2286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636776" y="1078992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Actual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350008" y="1042416"/>
            <a:ext cx="822960" cy="2286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386584" y="1078992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Actual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172968" y="1042416"/>
            <a:ext cx="658368" cy="2286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9544" y="1078992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831336" y="1042416"/>
            <a:ext cx="804672" cy="2286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867912" y="1078992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Budget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365760" y="1280160"/>
            <a:ext cx="123444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02336" y="1316736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MQLs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600200" y="1280160"/>
            <a:ext cx="74980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636776" y="1316736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3,205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350008" y="1280160"/>
            <a:ext cx="82296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386584" y="1316736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2,308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172968" y="1280160"/>
            <a:ext cx="65836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209544" y="1316736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5,513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831336" y="1280160"/>
            <a:ext cx="80467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867912" y="1316736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(293)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1517904"/>
            <a:ext cx="12344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02336" y="155448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600200" y="1517904"/>
            <a:ext cx="74980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636776" y="1554480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1,117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350008" y="1517904"/>
            <a:ext cx="8229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386584" y="1554480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72968" y="1517904"/>
            <a:ext cx="65836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209544" y="1554480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2,367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831336" y="1517904"/>
            <a:ext cx="80467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867912" y="155448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(84)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1755648"/>
            <a:ext cx="123444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02336" y="1792224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SQLs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1600200" y="1755648"/>
            <a:ext cx="74980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1636776" y="1792224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728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350008" y="1755648"/>
            <a:ext cx="82296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2386584" y="1792224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847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172968" y="1755648"/>
            <a:ext cx="65836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3209544" y="1792224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1,575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3831336" y="1755648"/>
            <a:ext cx="80467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867912" y="179222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+45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1993392"/>
            <a:ext cx="12344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02336" y="2029968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SAL/Opp CVR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1600200" y="1993392"/>
            <a:ext cx="74980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1636776" y="2029968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350008" y="1993392"/>
            <a:ext cx="8229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2386584" y="2029968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3172968" y="1993392"/>
            <a:ext cx="65836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3209544" y="2029968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66%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831336" y="1993392"/>
            <a:ext cx="80467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3867912" y="2029968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+8bps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365760" y="2231136"/>
            <a:ext cx="123444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02336" y="2267712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Won #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1600200" y="2231136"/>
            <a:ext cx="74980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1636776" y="2267712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350008" y="2231136"/>
            <a:ext cx="82296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2386584" y="2267712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3172968" y="2231136"/>
            <a:ext cx="65836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3209544" y="2267712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310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3831336" y="2231136"/>
            <a:ext cx="80467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3867912" y="2267712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365760" y="2468880"/>
            <a:ext cx="12344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402336" y="2505456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 ($k)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1600200" y="2468880"/>
            <a:ext cx="74980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1636776" y="2505456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$4.5M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2350008" y="2468880"/>
            <a:ext cx="8229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2386584" y="2505456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$6.7M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3172968" y="2468880"/>
            <a:ext cx="65836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3209544" y="2505456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$436k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3831336" y="2468880"/>
            <a:ext cx="80467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3867912" y="2505456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($325k)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365760" y="2706624"/>
            <a:ext cx="123444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402336" y="274320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Rate %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1600200" y="2706624"/>
            <a:ext cx="74980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1636776" y="2743200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16%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350008" y="2706624"/>
            <a:ext cx="82296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2386584" y="2743200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3172968" y="2706624"/>
            <a:ext cx="65836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3209544" y="2743200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3831336" y="2706624"/>
            <a:ext cx="80467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3867912" y="27432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+5bps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365760" y="2944368"/>
            <a:ext cx="12344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402336" y="2980944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 ($k)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1600200" y="2944368"/>
            <a:ext cx="74980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1636776" y="2980944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$37.8k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2350008" y="2944368"/>
            <a:ext cx="8229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2386584" y="2980944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$35k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3172968" y="2944368"/>
            <a:ext cx="65836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/>
          <p:nvPr/>
        </p:nvSpPr>
        <p:spPr>
          <a:xfrm>
            <a:off x="3209544" y="2980944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$36.1k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3831336" y="2944368"/>
            <a:ext cx="80467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93"/>
          <p:cNvSpPr/>
          <p:nvPr/>
        </p:nvSpPr>
        <p:spPr>
          <a:xfrm>
            <a:off x="3867912" y="29809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($4k)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663440" y="1042416"/>
            <a:ext cx="1234440" cy="228600"/>
          </a:xfrm>
          <a:prstGeom prst="rect">
            <a:avLst/>
          </a:prstGeom>
          <a:solidFill>
            <a:srgbClr val="0D6E56"/>
          </a:solidFill>
          <a:ln w="12700">
            <a:solidFill>
              <a:srgbClr val="0D6E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Text 95"/>
          <p:cNvSpPr/>
          <p:nvPr/>
        </p:nvSpPr>
        <p:spPr>
          <a:xfrm>
            <a:off x="4700016" y="1078992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FUNNEL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5897880" y="1042416"/>
            <a:ext cx="749808" cy="228600"/>
          </a:xfrm>
          <a:prstGeom prst="rect">
            <a:avLst/>
          </a:prstGeom>
          <a:solidFill>
            <a:srgbClr val="0D6E56"/>
          </a:solidFill>
          <a:ln w="12700">
            <a:solidFill>
              <a:srgbClr val="0D6E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97"/>
          <p:cNvSpPr/>
          <p:nvPr/>
        </p:nvSpPr>
        <p:spPr>
          <a:xfrm>
            <a:off x="5934456" y="1078992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Actual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6647688" y="1042416"/>
            <a:ext cx="822960" cy="228600"/>
          </a:xfrm>
          <a:prstGeom prst="rect">
            <a:avLst/>
          </a:prstGeom>
          <a:solidFill>
            <a:srgbClr val="0D6E56"/>
          </a:solidFill>
          <a:ln w="12700">
            <a:solidFill>
              <a:srgbClr val="0D6E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6684264" y="1078992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Actual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7470648" y="1042416"/>
            <a:ext cx="658368" cy="228600"/>
          </a:xfrm>
          <a:prstGeom prst="rect">
            <a:avLst/>
          </a:prstGeom>
          <a:solidFill>
            <a:srgbClr val="0D6E56"/>
          </a:solidFill>
          <a:ln w="12700">
            <a:solidFill>
              <a:srgbClr val="0D6E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Text 101"/>
          <p:cNvSpPr/>
          <p:nvPr/>
        </p:nvSpPr>
        <p:spPr>
          <a:xfrm>
            <a:off x="7507224" y="1078992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8129016" y="1042416"/>
            <a:ext cx="804672" cy="228600"/>
          </a:xfrm>
          <a:prstGeom prst="rect">
            <a:avLst/>
          </a:prstGeom>
          <a:solidFill>
            <a:srgbClr val="0D6E56"/>
          </a:solidFill>
          <a:ln w="12700">
            <a:solidFill>
              <a:srgbClr val="0D6E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 103"/>
          <p:cNvSpPr/>
          <p:nvPr/>
        </p:nvSpPr>
        <p:spPr>
          <a:xfrm>
            <a:off x="8165592" y="1078992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Budget</a:t>
            </a:r>
            <a:endParaRPr lang="en-US" sz="750" dirty="0"/>
          </a:p>
        </p:txBody>
      </p:sp>
      <p:sp>
        <p:nvSpPr>
          <p:cNvPr id="106" name="Shape 104"/>
          <p:cNvSpPr/>
          <p:nvPr/>
        </p:nvSpPr>
        <p:spPr>
          <a:xfrm>
            <a:off x="4663440" y="1280160"/>
            <a:ext cx="123444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Text 105"/>
          <p:cNvSpPr/>
          <p:nvPr/>
        </p:nvSpPr>
        <p:spPr>
          <a:xfrm>
            <a:off x="4700016" y="1316736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SALs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5897880" y="1280160"/>
            <a:ext cx="74980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Text 107"/>
          <p:cNvSpPr/>
          <p:nvPr/>
        </p:nvSpPr>
        <p:spPr>
          <a:xfrm>
            <a:off x="5934456" y="1316736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</a:t>
            </a:r>
            <a:endParaRPr lang="en-US" sz="800" dirty="0"/>
          </a:p>
        </p:txBody>
      </p:sp>
      <p:sp>
        <p:nvSpPr>
          <p:cNvPr id="110" name="Shape 108"/>
          <p:cNvSpPr/>
          <p:nvPr/>
        </p:nvSpPr>
        <p:spPr>
          <a:xfrm>
            <a:off x="6647688" y="1280160"/>
            <a:ext cx="82296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109"/>
          <p:cNvSpPr/>
          <p:nvPr/>
        </p:nvSpPr>
        <p:spPr>
          <a:xfrm>
            <a:off x="6684264" y="1316736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</a:t>
            </a:r>
            <a:endParaRPr lang="en-US" sz="800" dirty="0"/>
          </a:p>
        </p:txBody>
      </p:sp>
      <p:sp>
        <p:nvSpPr>
          <p:cNvPr id="112" name="Shape 110"/>
          <p:cNvSpPr/>
          <p:nvPr/>
        </p:nvSpPr>
        <p:spPr>
          <a:xfrm>
            <a:off x="7470648" y="1280160"/>
            <a:ext cx="65836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Text 111"/>
          <p:cNvSpPr/>
          <p:nvPr/>
        </p:nvSpPr>
        <p:spPr>
          <a:xfrm>
            <a:off x="7507224" y="1316736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</a:t>
            </a:r>
            <a:endParaRPr lang="en-US" sz="800" dirty="0"/>
          </a:p>
        </p:txBody>
      </p:sp>
      <p:sp>
        <p:nvSpPr>
          <p:cNvPr id="114" name="Shape 112"/>
          <p:cNvSpPr/>
          <p:nvPr/>
        </p:nvSpPr>
        <p:spPr>
          <a:xfrm>
            <a:off x="8129016" y="1280160"/>
            <a:ext cx="80467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113"/>
          <p:cNvSpPr/>
          <p:nvPr/>
        </p:nvSpPr>
        <p:spPr>
          <a:xfrm>
            <a:off x="8165592" y="1316736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+45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4663440" y="1517904"/>
            <a:ext cx="12344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Text 115"/>
          <p:cNvSpPr/>
          <p:nvPr/>
        </p:nvSpPr>
        <p:spPr>
          <a:xfrm>
            <a:off x="4700016" y="155448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SQLs</a:t>
            </a:r>
            <a:endParaRPr lang="en-US" sz="800" dirty="0"/>
          </a:p>
        </p:txBody>
      </p:sp>
      <p:sp>
        <p:nvSpPr>
          <p:cNvPr id="118" name="Shape 116"/>
          <p:cNvSpPr/>
          <p:nvPr/>
        </p:nvSpPr>
        <p:spPr>
          <a:xfrm>
            <a:off x="5897880" y="1517904"/>
            <a:ext cx="74980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Text 117"/>
          <p:cNvSpPr/>
          <p:nvPr/>
        </p:nvSpPr>
        <p:spPr>
          <a:xfrm>
            <a:off x="5934456" y="1554480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6647688" y="1517904"/>
            <a:ext cx="8229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Text 119"/>
          <p:cNvSpPr/>
          <p:nvPr/>
        </p:nvSpPr>
        <p:spPr>
          <a:xfrm>
            <a:off x="6684264" y="1554480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800" dirty="0"/>
          </a:p>
        </p:txBody>
      </p:sp>
      <p:sp>
        <p:nvSpPr>
          <p:cNvPr id="122" name="Shape 120"/>
          <p:cNvSpPr/>
          <p:nvPr/>
        </p:nvSpPr>
        <p:spPr>
          <a:xfrm>
            <a:off x="7470648" y="1517904"/>
            <a:ext cx="65836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Text 121"/>
          <p:cNvSpPr/>
          <p:nvPr/>
        </p:nvSpPr>
        <p:spPr>
          <a:xfrm>
            <a:off x="7507224" y="1554480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</a:t>
            </a:r>
            <a:endParaRPr lang="en-US" sz="800" dirty="0"/>
          </a:p>
        </p:txBody>
      </p:sp>
      <p:sp>
        <p:nvSpPr>
          <p:cNvPr id="124" name="Shape 122"/>
          <p:cNvSpPr/>
          <p:nvPr/>
        </p:nvSpPr>
        <p:spPr>
          <a:xfrm>
            <a:off x="8129016" y="1517904"/>
            <a:ext cx="80467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Text 123"/>
          <p:cNvSpPr/>
          <p:nvPr/>
        </p:nvSpPr>
        <p:spPr>
          <a:xfrm>
            <a:off x="8165592" y="155448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+39</a:t>
            </a:r>
            <a:endParaRPr lang="en-US" sz="800" dirty="0"/>
          </a:p>
        </p:txBody>
      </p:sp>
      <p:sp>
        <p:nvSpPr>
          <p:cNvPr id="126" name="Shape 124"/>
          <p:cNvSpPr/>
          <p:nvPr/>
        </p:nvSpPr>
        <p:spPr>
          <a:xfrm>
            <a:off x="4663440" y="1755648"/>
            <a:ext cx="123444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Text 125"/>
          <p:cNvSpPr/>
          <p:nvPr/>
        </p:nvSpPr>
        <p:spPr>
          <a:xfrm>
            <a:off x="4700016" y="1792224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SAL/Opp CVR</a:t>
            </a:r>
            <a:endParaRPr lang="en-US" sz="800" dirty="0"/>
          </a:p>
        </p:txBody>
      </p:sp>
      <p:sp>
        <p:nvSpPr>
          <p:cNvPr id="128" name="Shape 126"/>
          <p:cNvSpPr/>
          <p:nvPr/>
        </p:nvSpPr>
        <p:spPr>
          <a:xfrm>
            <a:off x="5897880" y="1755648"/>
            <a:ext cx="74980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Text 127"/>
          <p:cNvSpPr/>
          <p:nvPr/>
        </p:nvSpPr>
        <p:spPr>
          <a:xfrm>
            <a:off x="5934456" y="1792224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800" dirty="0"/>
          </a:p>
        </p:txBody>
      </p:sp>
      <p:sp>
        <p:nvSpPr>
          <p:cNvPr id="130" name="Shape 128"/>
          <p:cNvSpPr/>
          <p:nvPr/>
        </p:nvSpPr>
        <p:spPr>
          <a:xfrm>
            <a:off x="6647688" y="1755648"/>
            <a:ext cx="82296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Text 129"/>
          <p:cNvSpPr/>
          <p:nvPr/>
        </p:nvSpPr>
        <p:spPr>
          <a:xfrm>
            <a:off x="6684264" y="1792224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800" dirty="0"/>
          </a:p>
        </p:txBody>
      </p:sp>
      <p:sp>
        <p:nvSpPr>
          <p:cNvPr id="132" name="Shape 130"/>
          <p:cNvSpPr/>
          <p:nvPr/>
        </p:nvSpPr>
        <p:spPr>
          <a:xfrm>
            <a:off x="7470648" y="1755648"/>
            <a:ext cx="65836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Text 131"/>
          <p:cNvSpPr/>
          <p:nvPr/>
        </p:nvSpPr>
        <p:spPr>
          <a:xfrm>
            <a:off x="7507224" y="1792224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800" dirty="0"/>
          </a:p>
        </p:txBody>
      </p:sp>
      <p:sp>
        <p:nvSpPr>
          <p:cNvPr id="134" name="Shape 132"/>
          <p:cNvSpPr/>
          <p:nvPr/>
        </p:nvSpPr>
        <p:spPr>
          <a:xfrm>
            <a:off x="8129016" y="1755648"/>
            <a:ext cx="80467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Text 133"/>
          <p:cNvSpPr/>
          <p:nvPr/>
        </p:nvSpPr>
        <p:spPr>
          <a:xfrm>
            <a:off x="8165592" y="179222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(11bps)</a:t>
            </a:r>
            <a:endParaRPr lang="en-US" sz="800" dirty="0"/>
          </a:p>
        </p:txBody>
      </p:sp>
      <p:sp>
        <p:nvSpPr>
          <p:cNvPr id="136" name="Shape 134"/>
          <p:cNvSpPr/>
          <p:nvPr/>
        </p:nvSpPr>
        <p:spPr>
          <a:xfrm>
            <a:off x="4663440" y="1993392"/>
            <a:ext cx="12344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Text 135"/>
          <p:cNvSpPr/>
          <p:nvPr/>
        </p:nvSpPr>
        <p:spPr>
          <a:xfrm>
            <a:off x="4700016" y="2029968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SQLs $k</a:t>
            </a:r>
            <a:endParaRPr lang="en-US" sz="800" dirty="0"/>
          </a:p>
        </p:txBody>
      </p:sp>
      <p:sp>
        <p:nvSpPr>
          <p:cNvPr id="138" name="Shape 136"/>
          <p:cNvSpPr/>
          <p:nvPr/>
        </p:nvSpPr>
        <p:spPr>
          <a:xfrm>
            <a:off x="5897880" y="1993392"/>
            <a:ext cx="74980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Text 137"/>
          <p:cNvSpPr/>
          <p:nvPr/>
        </p:nvSpPr>
        <p:spPr>
          <a:xfrm>
            <a:off x="5934456" y="2029968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$1,692k</a:t>
            </a:r>
            <a:endParaRPr lang="en-US" sz="800" dirty="0"/>
          </a:p>
        </p:txBody>
      </p:sp>
      <p:sp>
        <p:nvSpPr>
          <p:cNvPr id="140" name="Shape 138"/>
          <p:cNvSpPr/>
          <p:nvPr/>
        </p:nvSpPr>
        <p:spPr>
          <a:xfrm>
            <a:off x="6647688" y="1993392"/>
            <a:ext cx="8229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Text 139"/>
          <p:cNvSpPr/>
          <p:nvPr/>
        </p:nvSpPr>
        <p:spPr>
          <a:xfrm>
            <a:off x="6684264" y="2029968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$1,240k</a:t>
            </a:r>
            <a:endParaRPr lang="en-US" sz="800" dirty="0"/>
          </a:p>
        </p:txBody>
      </p:sp>
      <p:sp>
        <p:nvSpPr>
          <p:cNvPr id="142" name="Shape 140"/>
          <p:cNvSpPr/>
          <p:nvPr/>
        </p:nvSpPr>
        <p:spPr>
          <a:xfrm>
            <a:off x="7470648" y="1993392"/>
            <a:ext cx="65836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Text 141"/>
          <p:cNvSpPr/>
          <p:nvPr/>
        </p:nvSpPr>
        <p:spPr>
          <a:xfrm>
            <a:off x="7507224" y="2029968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$2,932k</a:t>
            </a:r>
            <a:endParaRPr lang="en-US" sz="800" dirty="0"/>
          </a:p>
        </p:txBody>
      </p:sp>
      <p:sp>
        <p:nvSpPr>
          <p:cNvPr id="144" name="Shape 142"/>
          <p:cNvSpPr/>
          <p:nvPr/>
        </p:nvSpPr>
        <p:spPr>
          <a:xfrm>
            <a:off x="8129016" y="1993392"/>
            <a:ext cx="80467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Text 143"/>
          <p:cNvSpPr/>
          <p:nvPr/>
        </p:nvSpPr>
        <p:spPr>
          <a:xfrm>
            <a:off x="8165592" y="2029968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+$524k</a:t>
            </a:r>
            <a:endParaRPr lang="en-US" sz="800" dirty="0"/>
          </a:p>
        </p:txBody>
      </p:sp>
      <p:sp>
        <p:nvSpPr>
          <p:cNvPr id="146" name="Shape 144"/>
          <p:cNvSpPr/>
          <p:nvPr/>
        </p:nvSpPr>
        <p:spPr>
          <a:xfrm>
            <a:off x="4663440" y="2231136"/>
            <a:ext cx="123444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Text 145"/>
          <p:cNvSpPr/>
          <p:nvPr/>
        </p:nvSpPr>
        <p:spPr>
          <a:xfrm>
            <a:off x="4700016" y="2267712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Won #</a:t>
            </a:r>
            <a:endParaRPr lang="en-US" sz="800" dirty="0"/>
          </a:p>
        </p:txBody>
      </p:sp>
      <p:sp>
        <p:nvSpPr>
          <p:cNvPr id="148" name="Shape 146"/>
          <p:cNvSpPr/>
          <p:nvPr/>
        </p:nvSpPr>
        <p:spPr>
          <a:xfrm>
            <a:off x="5897880" y="2231136"/>
            <a:ext cx="74980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Text 147"/>
          <p:cNvSpPr/>
          <p:nvPr/>
        </p:nvSpPr>
        <p:spPr>
          <a:xfrm>
            <a:off x="5934456" y="2267712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800" dirty="0"/>
          </a:p>
        </p:txBody>
      </p:sp>
      <p:sp>
        <p:nvSpPr>
          <p:cNvPr id="150" name="Shape 148"/>
          <p:cNvSpPr/>
          <p:nvPr/>
        </p:nvSpPr>
        <p:spPr>
          <a:xfrm>
            <a:off x="6647688" y="2231136"/>
            <a:ext cx="82296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Text 149"/>
          <p:cNvSpPr/>
          <p:nvPr/>
        </p:nvSpPr>
        <p:spPr>
          <a:xfrm>
            <a:off x="6684264" y="2267712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800" dirty="0"/>
          </a:p>
        </p:txBody>
      </p:sp>
      <p:sp>
        <p:nvSpPr>
          <p:cNvPr id="152" name="Shape 150"/>
          <p:cNvSpPr/>
          <p:nvPr/>
        </p:nvSpPr>
        <p:spPr>
          <a:xfrm>
            <a:off x="7470648" y="2231136"/>
            <a:ext cx="65836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3" name="Text 151"/>
          <p:cNvSpPr/>
          <p:nvPr/>
        </p:nvSpPr>
        <p:spPr>
          <a:xfrm>
            <a:off x="7507224" y="2267712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800" dirty="0"/>
          </a:p>
        </p:txBody>
      </p:sp>
      <p:sp>
        <p:nvSpPr>
          <p:cNvPr id="154" name="Shape 152"/>
          <p:cNvSpPr/>
          <p:nvPr/>
        </p:nvSpPr>
        <p:spPr>
          <a:xfrm>
            <a:off x="8129016" y="2231136"/>
            <a:ext cx="80467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Text 153"/>
          <p:cNvSpPr/>
          <p:nvPr/>
        </p:nvSpPr>
        <p:spPr>
          <a:xfrm>
            <a:off x="8165592" y="2267712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</a:t>
            </a:r>
            <a:endParaRPr lang="en-US" sz="800" dirty="0"/>
          </a:p>
        </p:txBody>
      </p:sp>
      <p:sp>
        <p:nvSpPr>
          <p:cNvPr id="156" name="Shape 154"/>
          <p:cNvSpPr/>
          <p:nvPr/>
        </p:nvSpPr>
        <p:spPr>
          <a:xfrm>
            <a:off x="4663440" y="2468880"/>
            <a:ext cx="12344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7" name="Text 155"/>
          <p:cNvSpPr/>
          <p:nvPr/>
        </p:nvSpPr>
        <p:spPr>
          <a:xfrm>
            <a:off x="4700016" y="2505456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 ($k)</a:t>
            </a:r>
            <a:endParaRPr lang="en-US" sz="800" dirty="0"/>
          </a:p>
        </p:txBody>
      </p:sp>
      <p:sp>
        <p:nvSpPr>
          <p:cNvPr id="158" name="Shape 156"/>
          <p:cNvSpPr/>
          <p:nvPr/>
        </p:nvSpPr>
        <p:spPr>
          <a:xfrm>
            <a:off x="5897880" y="2468880"/>
            <a:ext cx="74980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9" name="Text 157"/>
          <p:cNvSpPr/>
          <p:nvPr/>
        </p:nvSpPr>
        <p:spPr>
          <a:xfrm>
            <a:off x="5934456" y="2505456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$606k</a:t>
            </a:r>
            <a:endParaRPr lang="en-US" sz="800" dirty="0"/>
          </a:p>
        </p:txBody>
      </p:sp>
      <p:sp>
        <p:nvSpPr>
          <p:cNvPr id="160" name="Shape 158"/>
          <p:cNvSpPr/>
          <p:nvPr/>
        </p:nvSpPr>
        <p:spPr>
          <a:xfrm>
            <a:off x="6647688" y="2468880"/>
            <a:ext cx="8229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Text 159"/>
          <p:cNvSpPr/>
          <p:nvPr/>
        </p:nvSpPr>
        <p:spPr>
          <a:xfrm>
            <a:off x="6684264" y="2505456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$450k</a:t>
            </a:r>
            <a:endParaRPr lang="en-US" sz="800" dirty="0"/>
          </a:p>
        </p:txBody>
      </p:sp>
      <p:sp>
        <p:nvSpPr>
          <p:cNvPr id="162" name="Shape 160"/>
          <p:cNvSpPr/>
          <p:nvPr/>
        </p:nvSpPr>
        <p:spPr>
          <a:xfrm>
            <a:off x="7470648" y="2468880"/>
            <a:ext cx="65836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Text 161"/>
          <p:cNvSpPr/>
          <p:nvPr/>
        </p:nvSpPr>
        <p:spPr>
          <a:xfrm>
            <a:off x="7507224" y="2505456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$1,056k</a:t>
            </a:r>
            <a:endParaRPr lang="en-US" sz="800" dirty="0"/>
          </a:p>
        </p:txBody>
      </p:sp>
      <p:sp>
        <p:nvSpPr>
          <p:cNvPr id="164" name="Shape 162"/>
          <p:cNvSpPr/>
          <p:nvPr/>
        </p:nvSpPr>
        <p:spPr>
          <a:xfrm>
            <a:off x="8129016" y="2468880"/>
            <a:ext cx="80467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Text 163"/>
          <p:cNvSpPr/>
          <p:nvPr/>
        </p:nvSpPr>
        <p:spPr>
          <a:xfrm>
            <a:off x="8165592" y="2505456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+$2.8M</a:t>
            </a:r>
            <a:endParaRPr lang="en-US" sz="800" dirty="0"/>
          </a:p>
        </p:txBody>
      </p:sp>
      <p:sp>
        <p:nvSpPr>
          <p:cNvPr id="166" name="Shape 164"/>
          <p:cNvSpPr/>
          <p:nvPr/>
        </p:nvSpPr>
        <p:spPr>
          <a:xfrm>
            <a:off x="4663440" y="2706624"/>
            <a:ext cx="123444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Text 165"/>
          <p:cNvSpPr/>
          <p:nvPr/>
        </p:nvSpPr>
        <p:spPr>
          <a:xfrm>
            <a:off x="4700016" y="274320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Rate %</a:t>
            </a:r>
            <a:endParaRPr lang="en-US" sz="800" dirty="0"/>
          </a:p>
        </p:txBody>
      </p:sp>
      <p:sp>
        <p:nvSpPr>
          <p:cNvPr id="168" name="Shape 166"/>
          <p:cNvSpPr/>
          <p:nvPr/>
        </p:nvSpPr>
        <p:spPr>
          <a:xfrm>
            <a:off x="5897880" y="2706624"/>
            <a:ext cx="74980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Text 167"/>
          <p:cNvSpPr/>
          <p:nvPr/>
        </p:nvSpPr>
        <p:spPr>
          <a:xfrm>
            <a:off x="5934456" y="2743200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800" dirty="0"/>
          </a:p>
        </p:txBody>
      </p:sp>
      <p:sp>
        <p:nvSpPr>
          <p:cNvPr id="170" name="Shape 168"/>
          <p:cNvSpPr/>
          <p:nvPr/>
        </p:nvSpPr>
        <p:spPr>
          <a:xfrm>
            <a:off x="6647688" y="2706624"/>
            <a:ext cx="82296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Text 169"/>
          <p:cNvSpPr/>
          <p:nvPr/>
        </p:nvSpPr>
        <p:spPr>
          <a:xfrm>
            <a:off x="6684264" y="2743200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800" dirty="0"/>
          </a:p>
        </p:txBody>
      </p:sp>
      <p:sp>
        <p:nvSpPr>
          <p:cNvPr id="172" name="Shape 170"/>
          <p:cNvSpPr/>
          <p:nvPr/>
        </p:nvSpPr>
        <p:spPr>
          <a:xfrm>
            <a:off x="7470648" y="2706624"/>
            <a:ext cx="65836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Text 171"/>
          <p:cNvSpPr/>
          <p:nvPr/>
        </p:nvSpPr>
        <p:spPr>
          <a:xfrm>
            <a:off x="7507224" y="2743200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19%</a:t>
            </a:r>
            <a:endParaRPr lang="en-US" sz="800" dirty="0"/>
          </a:p>
        </p:txBody>
      </p:sp>
      <p:sp>
        <p:nvSpPr>
          <p:cNvPr id="174" name="Shape 172"/>
          <p:cNvSpPr/>
          <p:nvPr/>
        </p:nvSpPr>
        <p:spPr>
          <a:xfrm>
            <a:off x="8129016" y="2706624"/>
            <a:ext cx="80467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Text 173"/>
          <p:cNvSpPr/>
          <p:nvPr/>
        </p:nvSpPr>
        <p:spPr>
          <a:xfrm>
            <a:off x="8165592" y="27432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(68bps)</a:t>
            </a:r>
            <a:endParaRPr lang="en-US" sz="800" dirty="0"/>
          </a:p>
        </p:txBody>
      </p:sp>
      <p:sp>
        <p:nvSpPr>
          <p:cNvPr id="176" name="Shape 174"/>
          <p:cNvSpPr/>
          <p:nvPr/>
        </p:nvSpPr>
        <p:spPr>
          <a:xfrm>
            <a:off x="4663440" y="2944368"/>
            <a:ext cx="12344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Text 175"/>
          <p:cNvSpPr/>
          <p:nvPr/>
        </p:nvSpPr>
        <p:spPr>
          <a:xfrm>
            <a:off x="4700016" y="2980944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 ($k)</a:t>
            </a:r>
            <a:endParaRPr lang="en-US" sz="800" dirty="0"/>
          </a:p>
        </p:txBody>
      </p:sp>
      <p:sp>
        <p:nvSpPr>
          <p:cNvPr id="178" name="Shape 176"/>
          <p:cNvSpPr/>
          <p:nvPr/>
        </p:nvSpPr>
        <p:spPr>
          <a:xfrm>
            <a:off x="5897880" y="2944368"/>
            <a:ext cx="74980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Text 177"/>
          <p:cNvSpPr/>
          <p:nvPr/>
        </p:nvSpPr>
        <p:spPr>
          <a:xfrm>
            <a:off x="5934456" y="2980944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800" dirty="0"/>
          </a:p>
        </p:txBody>
      </p:sp>
      <p:sp>
        <p:nvSpPr>
          <p:cNvPr id="180" name="Shape 178"/>
          <p:cNvSpPr/>
          <p:nvPr/>
        </p:nvSpPr>
        <p:spPr>
          <a:xfrm>
            <a:off x="6647688" y="2944368"/>
            <a:ext cx="8229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1" name="Text 179"/>
          <p:cNvSpPr/>
          <p:nvPr/>
        </p:nvSpPr>
        <p:spPr>
          <a:xfrm>
            <a:off x="6684264" y="2980944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$12k</a:t>
            </a:r>
            <a:endParaRPr lang="en-US" sz="800" dirty="0"/>
          </a:p>
        </p:txBody>
      </p:sp>
      <p:sp>
        <p:nvSpPr>
          <p:cNvPr id="182" name="Shape 180"/>
          <p:cNvSpPr/>
          <p:nvPr/>
        </p:nvSpPr>
        <p:spPr>
          <a:xfrm>
            <a:off x="7470648" y="2944368"/>
            <a:ext cx="65836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3" name="Text 181"/>
          <p:cNvSpPr/>
          <p:nvPr/>
        </p:nvSpPr>
        <p:spPr>
          <a:xfrm>
            <a:off x="7507224" y="2980944"/>
            <a:ext cx="5852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800" dirty="0"/>
          </a:p>
        </p:txBody>
      </p:sp>
      <p:sp>
        <p:nvSpPr>
          <p:cNvPr id="184" name="Shape 182"/>
          <p:cNvSpPr/>
          <p:nvPr/>
        </p:nvSpPr>
        <p:spPr>
          <a:xfrm>
            <a:off x="8129016" y="2944368"/>
            <a:ext cx="80467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5" name="Text 183"/>
          <p:cNvSpPr/>
          <p:nvPr/>
        </p:nvSpPr>
        <p:spPr>
          <a:xfrm>
            <a:off x="8165592" y="29809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800" dirty="0"/>
          </a:p>
        </p:txBody>
      </p:sp>
      <p:sp>
        <p:nvSpPr>
          <p:cNvPr id="186" name="Shape 184"/>
          <p:cNvSpPr/>
          <p:nvPr/>
        </p:nvSpPr>
        <p:spPr>
          <a:xfrm>
            <a:off x="365760" y="3291840"/>
            <a:ext cx="2834640" cy="16276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Shape 185"/>
          <p:cNvSpPr/>
          <p:nvPr/>
        </p:nvSpPr>
        <p:spPr>
          <a:xfrm>
            <a:off x="365760" y="3291840"/>
            <a:ext cx="2834640" cy="3657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Text 186"/>
          <p:cNvSpPr/>
          <p:nvPr/>
        </p:nvSpPr>
        <p:spPr>
          <a:xfrm>
            <a:off x="475488" y="3383280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New Logo: 37 Deals · $5.4MM ARR</a:t>
            </a:r>
            <a:endParaRPr lang="en-US" sz="900" dirty="0"/>
          </a:p>
        </p:txBody>
      </p:sp>
      <p:sp>
        <p:nvSpPr>
          <p:cNvPr id="189" name="Text 187"/>
          <p:cNvSpPr/>
          <p:nvPr/>
        </p:nvSpPr>
        <p:spPr>
          <a:xfrm>
            <a:off x="475488" y="3639312"/>
            <a:ext cx="2615184" cy="1225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new logo bookings $5.4M across 37 deals (Apr–Jun). Enterprise pipeline coverage 3.3x supports H2 conversion.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291840" y="3291840"/>
            <a:ext cx="2834640" cy="16276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89"/>
          <p:cNvSpPr/>
          <p:nvPr/>
        </p:nvSpPr>
        <p:spPr>
          <a:xfrm>
            <a:off x="3291840" y="3291840"/>
            <a:ext cx="283464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Text 190"/>
          <p:cNvSpPr/>
          <p:nvPr/>
        </p:nvSpPr>
        <p:spPr>
          <a:xfrm>
            <a:off x="3401568" y="3383280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Q2 Complete: 23 Deals · $2.7MM</a:t>
            </a:r>
            <a:endParaRPr lang="en-US" sz="900" dirty="0"/>
          </a:p>
        </p:txBody>
      </p:sp>
      <p:sp>
        <p:nvSpPr>
          <p:cNvPr id="193" name="Text 191"/>
          <p:cNvSpPr/>
          <p:nvPr/>
        </p:nvSpPr>
        <p:spPr>
          <a:xfrm>
            <a:off x="3401568" y="3639312"/>
            <a:ext cx="2615184" cy="1225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expansion $450k across 38 deals. CS-led enterprise bookings continue to outperform. Strong H2 expansion trajectory.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6217920" y="3291840"/>
            <a:ext cx="2834640" cy="16276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Shape 193"/>
          <p:cNvSpPr/>
          <p:nvPr/>
        </p:nvSpPr>
        <p:spPr>
          <a:xfrm>
            <a:off x="6217920" y="3291840"/>
            <a:ext cx="2834640" cy="3657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Text 194"/>
          <p:cNvSpPr/>
          <p:nvPr/>
        </p:nvSpPr>
        <p:spPr>
          <a:xfrm>
            <a:off x="6327648" y="3383280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Reallocation Priority: Partner + Referral</a:t>
            </a:r>
            <a:endParaRPr lang="en-US" sz="900" dirty="0"/>
          </a:p>
        </p:txBody>
      </p:sp>
      <p:sp>
        <p:nvSpPr>
          <p:cNvPr id="197" name="Text 195"/>
          <p:cNvSpPr/>
          <p:nvPr/>
        </p:nvSpPr>
        <p:spPr>
          <a:xfrm>
            <a:off x="6327648" y="3639312"/>
            <a:ext cx="2615184" cy="1225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under-invested $0.23M vs budget with 59% WR. Referral at 65.7% WR at near-zero cost. Both warrant immediate budget increase from Paid channel reallocation.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0" y="4974336"/>
            <a:ext cx="9144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9" name="Text 197"/>
          <p:cNvSpPr/>
          <p:nvPr/>
        </p:nvSpPr>
        <p:spPr>
          <a:xfrm>
            <a:off x="365760" y="4992624"/>
            <a:ext cx="7315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SMPL · Board Operating Review · Q2 2026 · CONFIDENTIAL</a:t>
            </a:r>
            <a:endParaRPr lang="en-US" sz="700" dirty="0"/>
          </a:p>
        </p:txBody>
      </p:sp>
      <p:sp>
        <p:nvSpPr>
          <p:cNvPr id="200" name="Text 198"/>
          <p:cNvSpPr/>
          <p:nvPr/>
        </p:nvSpPr>
        <p:spPr>
          <a:xfrm>
            <a:off x="8229600" y="4992624"/>
            <a:ext cx="7315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8/11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ASSESSMENT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8412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Opportunities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Board-Level Decision Matrix · Q2 / Jun 2026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4206240" cy="923544"/>
          </a:xfrm>
          <a:prstGeom prst="rect">
            <a:avLst/>
          </a:prstGeom>
          <a:solidFill>
            <a:srgbClr val="FFF1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042416"/>
            <a:ext cx="54864" cy="9235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93776" y="1106424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kern="0" spc="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· HIGH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93776" y="1271016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channel overspend at sub-2x ROI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93776" y="1499616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Search + Social: $3.84M spend (52% of budget) at 1.2–1.3x efficiency, 5–6% win rates. Annual waste est. $2–3M. Immediate reallocation decision needed.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00600" y="1042416"/>
            <a:ext cx="4206240" cy="923544"/>
          </a:xfrm>
          <a:prstGeom prst="rect">
            <a:avLst/>
          </a:prstGeom>
          <a:solidFill>
            <a:srgbClr val="FFF1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800600" y="1042416"/>
            <a:ext cx="54864" cy="9235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928616" y="1106424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kern="0" spc="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· HIGH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928616" y="1271016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SMB churn concentration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928616" y="1499616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 of gross churn is SMB. GRR deterioration of 30–50bps in H2 impacts ARR by ~$0.8M and risks NRR below 100%. Intervention before Q3 renewal cycle required.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" y="2039112"/>
            <a:ext cx="4206240" cy="923544"/>
          </a:xfrm>
          <a:prstGeom prst="rect">
            <a:avLst/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65760" y="2039112"/>
            <a:ext cx="54864" cy="92354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" y="210312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kern="0" spc="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· MED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493776" y="2267712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logo bookings $325k behind plan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93776" y="2496312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slippage in 20+ seat segments into Q3. Close rates improving (13% Q2) but volume trailing. H2 revenue at risk if pipeline does not convert.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800600" y="2039112"/>
            <a:ext cx="4206240" cy="923544"/>
          </a:xfrm>
          <a:prstGeom prst="rect">
            <a:avLst/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800600" y="2039112"/>
            <a:ext cx="54864" cy="92354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928616" y="210312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kern="0" spc="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· MED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928616" y="2267712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collections moderation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928616" y="2496312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Q1 $13.6M March spike will not repeat. H2 monthly expected at $6–8M — 40% reduction from Q1 average. Cash model needs H2 update for board visibility.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3035808"/>
            <a:ext cx="4206240" cy="923544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65760" y="3035808"/>
            <a:ext cx="54864" cy="92354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93776" y="3099816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kern="0" spc="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 · HIGH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93776" y="3264408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+ CS: &gt;60% WR at near-zero cost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93776" y="3493008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(65.7% WR, $0.02M) and CS (60.7% WR, $0.01M) are highest win-rate channels. Formalizing both could add $2–4M pipeline with minimal investment.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800600" y="3035808"/>
            <a:ext cx="4206240" cy="923544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800600" y="3035808"/>
            <a:ext cx="54864" cy="92354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928616" y="3099816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kern="0" spc="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 · HIGH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4928616" y="3264408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channel reallocation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928616" y="3493008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Partner: 5.8x efficiency, 59.1% WR, only $0.51M vs $0.74M budget. Reallocating 25% of Paid (+$0.96M) to Partner could generate $5.6M incremental pipeline.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4032504"/>
            <a:ext cx="4206240" cy="923544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365760" y="4032504"/>
            <a:ext cx="54864" cy="9235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93776" y="4096512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kern="0" spc="5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 · MED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493776" y="4261104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ARR momentum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93776" y="4489704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5 months beat expansion budget. CS-led bookings $1.056M YTD vs plan. Structured enterprise expansion plays could add $0.5–1.0M ARR per quarter.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800600" y="4032504"/>
            <a:ext cx="4206240" cy="923544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4800600" y="4032504"/>
            <a:ext cx="54864" cy="9235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928616" y="4096512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kern="0" spc="5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 · MED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4928616" y="4261104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contract billing expansion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928616" y="4489704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billing in mid-market adds $5–8M to YE 2026 cash. Include annual terms in all mid-market renewals and new business starting Q3. Revenue recognition neutral.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74336"/>
            <a:ext cx="9144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65760" y="4992624"/>
            <a:ext cx="7315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SMPL · Board Operating Review · Q2 2026 · CONFIDENTIAL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8229600" y="4992624"/>
            <a:ext cx="7315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9/11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OUTLOOK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8412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2026 Strategy &amp; Full-Year Forecast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Q2 2026 Close · Board discussion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5179119" cy="3840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12064" y="1152144"/>
            <a:ext cx="36576" cy="7498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76656" y="118872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 2026 ARR Forecast Update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76656" y="1426464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Full-year ARR forecast maintained at $97.5M (+$1.4M vs $96.1M budget). June ARR $86.10M best month of H1 — net new $2.655M (+103% vs Jan). H2 net new target $2.0–2.3M/month supported by 3.3x pipeline coverage and improving CS expansion velocity.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12064" y="2057400"/>
            <a:ext cx="36576" cy="74980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76656" y="2093976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GTM Reallocation Decision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76656" y="2331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(2.61x) and Organic (2.26x) outperforming at 3.3x combined pipeline efficiency vs 1.97x Paid Search. Proposing reallocation of 25% of Paid budget (+$0.96M) to Partner and Organic — budget-neutral with estimated +$5M pipeline impact.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12064" y="2962656"/>
            <a:ext cx="36576" cy="7498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76656" y="2999232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SMB Retention Initiative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76656" y="3236976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SMB represents 78% of gross churn at $7.0M annual forecast. CSM-led at-risk intervention activated in Q3. Target: maintain GRR above 99.0% through year-end. Protects NRR trajectory and ~$0.8M of at-risk ARR in Q3 renewal cycle.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12064" y="3867912"/>
            <a:ext cx="36576" cy="7498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76656" y="3904488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&amp; Annual Contract Strategy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6656" y="4142232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$70.61M with 24+ months runway. June collections $11.18M above May run rate. Expanding annual billing terms to mid-market in H2 — projected $5–8M incremental cash. Revenue recognition neutral.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598036" y="1042416"/>
            <a:ext cx="1298448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634612" y="1078992"/>
            <a:ext cx="122529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6896484" y="1042416"/>
            <a:ext cx="749808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933060" y="1078992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7646292" y="1042416"/>
            <a:ext cx="749808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682868" y="1078992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8396100" y="1042416"/>
            <a:ext cx="704088" cy="2286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432676" y="1078992"/>
            <a:ext cx="630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598036" y="1289304"/>
            <a:ext cx="129844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634612" y="1325880"/>
            <a:ext cx="122529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(Year-End)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896484" y="1289304"/>
            <a:ext cx="74980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933060" y="1325880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$97.5M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646292" y="1289304"/>
            <a:ext cx="74980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682868" y="1325880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$96.1M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396100" y="1289304"/>
            <a:ext cx="70408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432676" y="1325880"/>
            <a:ext cx="630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+$1.4M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598036" y="1581912"/>
            <a:ext cx="129844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634612" y="1618488"/>
            <a:ext cx="122529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(FY)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96484" y="1581912"/>
            <a:ext cx="74980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933060" y="1618488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$89.3M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646292" y="1581912"/>
            <a:ext cx="74980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7682868" y="1618488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$88.9M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396100" y="1581912"/>
            <a:ext cx="70408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8432676" y="1618488"/>
            <a:ext cx="630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+$0.4M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5598036" y="1874520"/>
            <a:ext cx="129844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634612" y="1911096"/>
            <a:ext cx="122529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896484" y="1874520"/>
            <a:ext cx="74980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933060" y="1911096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79.0%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7646292" y="1874520"/>
            <a:ext cx="74980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7682868" y="1911096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77.0%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396100" y="1874520"/>
            <a:ext cx="70408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8432676" y="1911096"/>
            <a:ext cx="630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+200bps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598036" y="2167128"/>
            <a:ext cx="129844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5634612" y="2203704"/>
            <a:ext cx="122529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Adj. EBITDA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896484" y="2167128"/>
            <a:ext cx="74980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933060" y="2203704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($2.6M)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646292" y="2167128"/>
            <a:ext cx="74980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7682868" y="2203704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($2.7M)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8396100" y="2167128"/>
            <a:ext cx="70408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8432676" y="2203704"/>
            <a:ext cx="630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+$0.1M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5598036" y="2459736"/>
            <a:ext cx="129844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5634612" y="2496312"/>
            <a:ext cx="122529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(Year-End)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6896484" y="2459736"/>
            <a:ext cx="74980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6933060" y="2496312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$65.3M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7646292" y="2459736"/>
            <a:ext cx="74980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7682868" y="2496312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$23.9M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8396100" y="2459736"/>
            <a:ext cx="70408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8432676" y="2496312"/>
            <a:ext cx="630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+$41.4M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598036" y="2752344"/>
            <a:ext cx="129844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5634612" y="2788920"/>
            <a:ext cx="122529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Headcount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6896484" y="2752344"/>
            <a:ext cx="74980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6933060" y="2788920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147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7646292" y="2752344"/>
            <a:ext cx="74980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7682868" y="2788920"/>
            <a:ext cx="6766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147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8396100" y="2752344"/>
            <a:ext cx="70408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8432676" y="2788920"/>
            <a:ext cx="630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0" y="4974336"/>
            <a:ext cx="9144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365760" y="4992624"/>
            <a:ext cx="7315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SMPL · Board Operating Review · Q2 2026 · CONFIDENTIAL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8229600" y="4992624"/>
            <a:ext cx="7315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10/11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ACTIONS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8412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&amp; Next Steps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 · Decisions Required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85039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042416"/>
            <a:ext cx="73152" cy="9144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12064" y="1133856"/>
            <a:ext cx="438912" cy="43891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12064" y="1188720"/>
            <a:ext cx="438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78992" y="1133856"/>
            <a:ext cx="1024128" cy="201168"/>
          </a:xfrm>
          <a:prstGeom prst="roundRect">
            <a:avLst>
              <a:gd name="adj" fmla="val 18182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97280" y="1152144"/>
            <a:ext cx="9875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APPROVAL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78992" y="1371600"/>
            <a:ext cx="5120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Channel Reallocation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78992" y="1627632"/>
            <a:ext cx="576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reallocation of 25% of Paid Search/Social spend ($0.96M) to Partner and Referral. Budget-neutral. Est. impact: +$5M pipeline at 5x+ efficiency. Implement in Q3 planning cycle.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995160" y="1179576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VP Marketing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995160" y="1408176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Due: Jul 31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2029968"/>
            <a:ext cx="85039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65760" y="2029968"/>
            <a:ext cx="73152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12064" y="2121408"/>
            <a:ext cx="438912" cy="4389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12064" y="2176272"/>
            <a:ext cx="438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078992" y="2121408"/>
            <a:ext cx="1024128" cy="201168"/>
          </a:xfrm>
          <a:prstGeom prst="round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97280" y="2139696"/>
            <a:ext cx="9875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APPROVAL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78992" y="2359152"/>
            <a:ext cx="5120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SMB Retention Initiative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78992" y="2615184"/>
            <a:ext cx="576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CSM-led SMB churn intervention. Define at-risk triggers and playbook. Target GRR &gt;99.0% through Q3 renewal cycle. No incremental headcount — reallocation of CS capacity.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995160" y="2167128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VP Cust. Success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995160" y="2395728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Due: Aug 1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3017520"/>
            <a:ext cx="85039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65760" y="3017520"/>
            <a:ext cx="73152" cy="9144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12064" y="3108960"/>
            <a:ext cx="438912" cy="438912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12064" y="3163824"/>
            <a:ext cx="438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078992" y="3108960"/>
            <a:ext cx="1024128" cy="201168"/>
          </a:xfrm>
          <a:prstGeom prst="roundRect">
            <a:avLst>
              <a:gd name="adj" fmla="val 18182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097280" y="3127248"/>
            <a:ext cx="9875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APPROVAL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1078992" y="3346704"/>
            <a:ext cx="5120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Contract Billing Expansion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78992" y="3602736"/>
            <a:ext cx="576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annual billing terms in all mid-market renewals and new business starting Q3. Projected YE 2026 cash improvement $5–8M. Revenue recognition neutral.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995160" y="31546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VP Sales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995160" y="3383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Due: Jul 15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5760" y="4005072"/>
            <a:ext cx="85039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365760" y="4005072"/>
            <a:ext cx="73152" cy="9144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512064" y="4096512"/>
            <a:ext cx="438912" cy="43891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12064" y="4151376"/>
            <a:ext cx="438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1078992" y="4096512"/>
            <a:ext cx="1024128" cy="201168"/>
          </a:xfrm>
          <a:prstGeom prst="roundRect">
            <a:avLst>
              <a:gd name="adj" fmla="val 18182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1097280" y="4114800"/>
            <a:ext cx="9875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DISCUSSION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1078992" y="4334256"/>
            <a:ext cx="5120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ARR Forecast Update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78992" y="4590288"/>
            <a:ext cx="576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full-year ARR forecast from $96.1M to $97.5M reflecting YTD trajectory. Expansion ARR outperformance (+4 of 5 months) supports upward revision. Lock before Q3 board package.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95160" y="4142232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CFO / CRO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995160" y="4370832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Due: Jul 15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974336"/>
            <a:ext cx="9144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365760" y="4992624"/>
            <a:ext cx="7315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SMPL · Board Operating Review · Q2 2026 · CONFIDENTIAL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8229600" y="4992624"/>
            <a:ext cx="7315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11/11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14656</TotalTime>
  <Words>2783</Words>
  <Application>Microsoft Office PowerPoint</Application>
  <PresentationFormat>On-screen Show (16:9)</PresentationFormat>
  <Paragraphs>656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Board Operating Review — May 2026</dc:title>
  <dc:subject>PptxGenJS Presentation</dc:subject>
  <dc:creator>PptxGenJS</dc:creator>
  <cp:lastModifiedBy>Matt Justice</cp:lastModifiedBy>
  <cp:revision>21</cp:revision>
  <dcterms:created xsi:type="dcterms:W3CDTF">2026-05-22T02:38:15Z</dcterms:created>
  <dcterms:modified xsi:type="dcterms:W3CDTF">2026-06-08T19:43:29Z</dcterms:modified>
</cp:coreProperties>
</file>