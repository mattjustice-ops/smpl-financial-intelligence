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4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New ARR (Act)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1.31</c:v>
                </c:pt>
                <c:pt idx="1">
                  <c:v>1.5049999999999999</c:v>
                </c:pt>
                <c:pt idx="2">
                  <c:v>1.69</c:v>
                </c:pt>
                <c:pt idx="3">
                  <c:v>1.88</c:v>
                </c:pt>
                <c:pt idx="4">
                  <c:v>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BE-406A-82F3-CB6EE7358C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New ARR (Bud)</c:v>
                </c:pt>
              </c:strCache>
            </c:strRef>
          </c:tx>
          <c:spPr>
            <a:solidFill>
              <a:srgbClr val="D1D5DB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1.226</c:v>
                </c:pt>
                <c:pt idx="1">
                  <c:v>1.4119999999999999</c:v>
                </c:pt>
                <c:pt idx="2">
                  <c:v>1.589</c:v>
                </c:pt>
                <c:pt idx="3">
                  <c:v>1.77</c:v>
                </c:pt>
                <c:pt idx="4">
                  <c:v>1.9410000000000001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BE-406A-82F3-CB6EE7358C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D1FAE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5.07</c:v>
                </c:pt>
                <c:pt idx="1">
                  <c:v>5.17</c:v>
                </c:pt>
                <c:pt idx="2">
                  <c:v>5.27</c:v>
                </c:pt>
                <c:pt idx="3">
                  <c:v>5.39</c:v>
                </c:pt>
                <c:pt idx="4">
                  <c:v>5.53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03-4631-97BF-5B0E2CD27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Actual</c:v>
                </c:pt>
              </c:strCache>
            </c:strRef>
          </c:tx>
          <c:spPr>
            <a:ln w="31750" cap="flat">
              <a:solidFill>
                <a:srgbClr val="1A2E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1A2E4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6.59</c:v>
                </c:pt>
                <c:pt idx="1">
                  <c:v>6.71</c:v>
                </c:pt>
                <c:pt idx="2">
                  <c:v>6.85</c:v>
                </c:pt>
                <c:pt idx="3">
                  <c:v>7.01</c:v>
                </c:pt>
                <c:pt idx="4">
                  <c:v>7.18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03-4631-97BF-5B0E2CD279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Revenue Budget</c:v>
                </c:pt>
              </c:strCache>
            </c:strRef>
          </c:tx>
          <c:spPr>
            <a:ln w="31750" cap="flat">
              <a:solidFill>
                <a:srgbClr val="9CA3A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2E44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6.58</c:v>
                </c:pt>
                <c:pt idx="1">
                  <c:v>6.71</c:v>
                </c:pt>
                <c:pt idx="2">
                  <c:v>6.85</c:v>
                </c:pt>
                <c:pt idx="3">
                  <c:v>7</c:v>
                </c:pt>
                <c:pt idx="4">
                  <c:v>7.17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03-4631-97BF-5B0E2CD27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Ending Cash (Actual)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48.71</c:v>
                </c:pt>
                <c:pt idx="1">
                  <c:v>51.01</c:v>
                </c:pt>
                <c:pt idx="2">
                  <c:v>58.09</c:v>
                </c:pt>
                <c:pt idx="3">
                  <c:v>62.57</c:v>
                </c:pt>
                <c:pt idx="4">
                  <c:v>66.040000000000006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FB-44E7-BDA1-6CD196295B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Ending Cash (Budget)</c:v>
                </c:pt>
              </c:strCache>
            </c:strRef>
          </c:tx>
          <c:spPr>
            <a:ln w="31750" cap="flat">
              <a:solidFill>
                <a:srgbClr val="9CA3A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12.75</c:v>
                </c:pt>
                <c:pt idx="1">
                  <c:v>14.95</c:v>
                </c:pt>
                <c:pt idx="2">
                  <c:v>21.92</c:v>
                </c:pt>
                <c:pt idx="3">
                  <c:v>26.27</c:v>
                </c:pt>
                <c:pt idx="4">
                  <c:v>29.6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FB-44E7-BDA1-6CD196295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0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580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152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724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296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868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716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8288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860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004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6576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148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292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864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9436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008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8580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3152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724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2296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68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44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3716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8288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2860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7432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2004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6576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1148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5720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0292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4864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9436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4008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8580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3152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7724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2296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6868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572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9144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3716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8288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2860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7432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2004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6576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1148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5720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0292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4864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9436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64008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8580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3152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7724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2296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6868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572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144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3716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8288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2860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7432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2004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6576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1148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5720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0292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4864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9436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4008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8580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73152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77724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82296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86868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572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9144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3716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8288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22860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7432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2004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6576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1148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45720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0292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4864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9436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64008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8580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3152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7724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82296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6868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572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9144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3716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18288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22860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27432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32004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36576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1148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5720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0292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4864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9436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4008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8580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73152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7724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82296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86868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572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9144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3716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18288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2860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7432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2004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36576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1148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5720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0292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864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9436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4008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8580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3152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77724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82296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6868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4572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9144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13716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18288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22860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7432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2004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36576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41148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5720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0292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4864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436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64008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8580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3152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7724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82296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86868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4572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9144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13716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18288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22860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27432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32004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36576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41148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5720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50292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4864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59436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4008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8580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73152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77724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82296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86868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4572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9144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13716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18288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22860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27432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32004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36576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41148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45720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50292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54864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59436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64008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68580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3152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7724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82296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86868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1097280" y="914400"/>
            <a:ext cx="6949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Text 241"/>
          <p:cNvSpPr/>
          <p:nvPr/>
        </p:nvSpPr>
        <p:spPr>
          <a:xfrm>
            <a:off x="1371600" y="111556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OPERATING REVIEW</a:t>
            </a:r>
            <a:endParaRPr lang="en-US" sz="1050" dirty="0"/>
          </a:p>
        </p:txBody>
      </p:sp>
      <p:sp>
        <p:nvSpPr>
          <p:cNvPr id="244" name="Text 242"/>
          <p:cNvSpPr/>
          <p:nvPr/>
        </p:nvSpPr>
        <p:spPr>
          <a:xfrm>
            <a:off x="1371600" y="141732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Financial Results</a:t>
            </a:r>
            <a:endParaRPr lang="en-US" sz="4000" dirty="0"/>
          </a:p>
        </p:txBody>
      </p:sp>
      <p:sp>
        <p:nvSpPr>
          <p:cNvPr id="245" name="Shape 243"/>
          <p:cNvSpPr/>
          <p:nvPr/>
        </p:nvSpPr>
        <p:spPr>
          <a:xfrm>
            <a:off x="1371599" y="2212848"/>
            <a:ext cx="588512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Text 244"/>
          <p:cNvSpPr/>
          <p:nvPr/>
        </p:nvSpPr>
        <p:spPr>
          <a:xfrm>
            <a:off x="1362456" y="363272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 Package</a:t>
            </a:r>
            <a:endParaRPr lang="en-US" sz="1300" dirty="0"/>
          </a:p>
        </p:txBody>
      </p:sp>
      <p:sp>
        <p:nvSpPr>
          <p:cNvPr id="247" name="Text 245"/>
          <p:cNvSpPr/>
          <p:nvPr/>
        </p:nvSpPr>
        <p:spPr>
          <a:xfrm>
            <a:off x="1362456" y="3907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May 2026 Actuals  ·  Full-Year 2026 Forecast  ·  Budget Comparison</a:t>
            </a:r>
            <a:endParaRPr lang="en-US" sz="950" dirty="0"/>
          </a:p>
        </p:txBody>
      </p:sp>
      <p:sp>
        <p:nvSpPr>
          <p:cNvPr id="263" name="Text 261"/>
          <p:cNvSpPr/>
          <p:nvPr/>
        </p:nvSpPr>
        <p:spPr>
          <a:xfrm>
            <a:off x="365760" y="4882896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 ·  CONFIDENTIAL — NOT FOR DISTRIBUTION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| SMPL Consolidated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Jan–May 2026 Actuals vs Budget · Full-Year 2026 Forecast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60704"/>
            <a:ext cx="164592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9728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11680" y="1060704"/>
            <a:ext cx="82296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48256" y="10972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Period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34640" y="1060704"/>
            <a:ext cx="82296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71216" y="10972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0" y="1060704"/>
            <a:ext cx="64008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94176" y="109728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Var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297680" y="1060704"/>
            <a:ext cx="82296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34256" y="10972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Period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1060704"/>
            <a:ext cx="64008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57216" y="109728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Var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1307592"/>
            <a:ext cx="164592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1344168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(MRR)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0" y="1307592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48256" y="13441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$7.18M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34640" y="1307592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71216" y="13441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$7.17M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0" y="1307592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94176" y="134416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297680" y="1307592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34256" y="13441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$7.01M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20640" y="1307592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57216" y="134416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1636776"/>
            <a:ext cx="1645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" y="1673352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11680" y="1636776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48256" y="167335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$6.85M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34640" y="1636776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871216" y="167335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$6.83M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0" y="1636776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94176" y="167335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97680" y="1636776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34256" y="167335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$6.69M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20640" y="1636776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57216" y="167335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1965960"/>
            <a:ext cx="164592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02336" y="2002536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11680" y="1965960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048256" y="20025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834640" y="1965960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871216" y="20025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0" y="1965960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94176" y="200253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297680" y="1965960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334256" y="20025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120640" y="1965960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57216" y="200253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" y="2295144"/>
            <a:ext cx="1645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02336" y="233172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EBITDA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11680" y="229514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048256" y="233172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-$0.22M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834640" y="229514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871216" y="233172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-$0.22M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657600" y="2295144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94176" y="233172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297680" y="229514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334256" y="233172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-$0.21M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120640" y="2295144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157216" y="233172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-4.8%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2624328"/>
            <a:ext cx="164592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02336" y="2660904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(Ending)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011680" y="2624328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048256" y="26609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$83.45M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834640" y="2624328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871216" y="26609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$83.33M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657600" y="2624328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94176" y="2660904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297680" y="2624328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334256" y="26609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$81.39M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120640" y="2624328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157216" y="2660904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+2.5%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65760" y="2953512"/>
            <a:ext cx="1645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02336" y="2990088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011680" y="2953512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048256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$2.06M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834640" y="2953512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871216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$1.94M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657600" y="2953512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694176" y="299008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+6.2%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297680" y="2953512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334256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$1.88M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120640" y="2953512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157216" y="299008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+9.6%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65760" y="3282696"/>
            <a:ext cx="164592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02336" y="3319272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(EOP)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011680" y="3282696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048256" y="331927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$66.04M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834640" y="3282696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871216" y="331927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$29.60M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657600" y="3282696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694176" y="33192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+123%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297680" y="3282696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334256" y="331927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$62.57M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120640" y="3282696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5157216" y="33192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+5.5%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365760" y="3611880"/>
            <a:ext cx="1645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402336" y="3648456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(Trailing)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011680" y="3611880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2048256" y="364845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100.2%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834640" y="3611880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871216" y="364845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657600" y="3611880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694176" y="364845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+20bps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297680" y="3611880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4334256" y="364845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100.1%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5120640" y="3611880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5157216" y="364845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+10bps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5830506" y="1067923"/>
            <a:ext cx="3031958" cy="278170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5804515" y="11247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5844944" y="1389888"/>
            <a:ext cx="3017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5792004" y="1463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+0.1% vs budget every month — subscription growth tracking ahead of plan through Q2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5792004" y="18470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$83.45M exceeds $83.33M budget; net new ARR improved 57% Jan→May ($1.31M to $2.06M)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5784785" y="222427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at $66.0M exceeds $29.6M budget by $37.4M — Q1 annual billing collection timing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787191" y="26243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improving to 100.2% — enterprise expansion offsetting SMB churn pressure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5782379" y="29992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on budget; S&amp;M Paid channel reallocation decision pending to unlock leverage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May 2026 · CONFIDENTIAL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841248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2/11</a:t>
            </a:r>
            <a:endParaRPr lang="en-US" sz="700" dirty="0"/>
          </a:p>
        </p:txBody>
      </p:sp>
      <p:sp>
        <p:nvSpPr>
          <p:cNvPr id="131" name="Shape 246">
            <a:extLst>
              <a:ext uri="{FF2B5EF4-FFF2-40B4-BE49-F238E27FC236}">
                <a16:creationId xmlns:a16="http://schemas.microsoft.com/office/drawing/2014/main" id="{47C7DE93-C789-6BEF-7062-C8F95341834B}"/>
              </a:ext>
            </a:extLst>
          </p:cNvPr>
          <p:cNvSpPr/>
          <p:nvPr/>
        </p:nvSpPr>
        <p:spPr>
          <a:xfrm>
            <a:off x="365760" y="4036863"/>
            <a:ext cx="12618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247">
            <a:extLst>
              <a:ext uri="{FF2B5EF4-FFF2-40B4-BE49-F238E27FC236}">
                <a16:creationId xmlns:a16="http://schemas.microsoft.com/office/drawing/2014/main" id="{B1FFA3B0-1B7C-C367-6D06-CC7B3730B8DB}"/>
              </a:ext>
            </a:extLst>
          </p:cNvPr>
          <p:cNvSpPr/>
          <p:nvPr/>
        </p:nvSpPr>
        <p:spPr>
          <a:xfrm>
            <a:off x="438912" y="4091727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00" dirty="0"/>
          </a:p>
        </p:txBody>
      </p:sp>
      <p:sp>
        <p:nvSpPr>
          <p:cNvPr id="133" name="Text 248">
            <a:extLst>
              <a:ext uri="{FF2B5EF4-FFF2-40B4-BE49-F238E27FC236}">
                <a16:creationId xmlns:a16="http://schemas.microsoft.com/office/drawing/2014/main" id="{6C57A21E-0CBD-F0BD-563A-BC47E7E31FE3}"/>
              </a:ext>
            </a:extLst>
          </p:cNvPr>
          <p:cNvSpPr/>
          <p:nvPr/>
        </p:nvSpPr>
        <p:spPr>
          <a:xfrm>
            <a:off x="438912" y="4274607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$83.5M</a:t>
            </a:r>
            <a:endParaRPr lang="en-US" sz="1500" dirty="0"/>
          </a:p>
        </p:txBody>
      </p:sp>
      <p:sp>
        <p:nvSpPr>
          <p:cNvPr id="134" name="Shape 249">
            <a:extLst>
              <a:ext uri="{FF2B5EF4-FFF2-40B4-BE49-F238E27FC236}">
                <a16:creationId xmlns:a16="http://schemas.microsoft.com/office/drawing/2014/main" id="{1203CB01-3BF9-3D2A-A054-016A6F735E07}"/>
              </a:ext>
            </a:extLst>
          </p:cNvPr>
          <p:cNvSpPr/>
          <p:nvPr/>
        </p:nvSpPr>
        <p:spPr>
          <a:xfrm>
            <a:off x="2203068" y="4038139"/>
            <a:ext cx="12618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250">
            <a:extLst>
              <a:ext uri="{FF2B5EF4-FFF2-40B4-BE49-F238E27FC236}">
                <a16:creationId xmlns:a16="http://schemas.microsoft.com/office/drawing/2014/main" id="{3F79233D-7809-A260-CC66-8A66C018E553}"/>
              </a:ext>
            </a:extLst>
          </p:cNvPr>
          <p:cNvSpPr/>
          <p:nvPr/>
        </p:nvSpPr>
        <p:spPr>
          <a:xfrm>
            <a:off x="2276220" y="4093003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36" name="Text 251">
            <a:extLst>
              <a:ext uri="{FF2B5EF4-FFF2-40B4-BE49-F238E27FC236}">
                <a16:creationId xmlns:a16="http://schemas.microsoft.com/office/drawing/2014/main" id="{6A571A62-1F63-0770-44DC-74F3C4ECF047}"/>
              </a:ext>
            </a:extLst>
          </p:cNvPr>
          <p:cNvSpPr/>
          <p:nvPr/>
        </p:nvSpPr>
        <p:spPr>
          <a:xfrm>
            <a:off x="2276220" y="4275883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$7.18M/mo</a:t>
            </a:r>
            <a:endParaRPr lang="en-US" sz="1500" dirty="0"/>
          </a:p>
        </p:txBody>
      </p:sp>
      <p:sp>
        <p:nvSpPr>
          <p:cNvPr id="137" name="Shape 252">
            <a:extLst>
              <a:ext uri="{FF2B5EF4-FFF2-40B4-BE49-F238E27FC236}">
                <a16:creationId xmlns:a16="http://schemas.microsoft.com/office/drawing/2014/main" id="{4084B9BB-91B1-A761-019C-C58A4C08A1AE}"/>
              </a:ext>
            </a:extLst>
          </p:cNvPr>
          <p:cNvSpPr/>
          <p:nvPr/>
        </p:nvSpPr>
        <p:spPr>
          <a:xfrm>
            <a:off x="4005073" y="4023466"/>
            <a:ext cx="12618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253">
            <a:extLst>
              <a:ext uri="{FF2B5EF4-FFF2-40B4-BE49-F238E27FC236}">
                <a16:creationId xmlns:a16="http://schemas.microsoft.com/office/drawing/2014/main" id="{95800E19-E3EA-0A36-0482-7AA8907DB36E}"/>
              </a:ext>
            </a:extLst>
          </p:cNvPr>
          <p:cNvSpPr/>
          <p:nvPr/>
        </p:nvSpPr>
        <p:spPr>
          <a:xfrm>
            <a:off x="4078225" y="407833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800" dirty="0"/>
          </a:p>
        </p:txBody>
      </p:sp>
      <p:sp>
        <p:nvSpPr>
          <p:cNvPr id="139" name="Text 254">
            <a:extLst>
              <a:ext uri="{FF2B5EF4-FFF2-40B4-BE49-F238E27FC236}">
                <a16:creationId xmlns:a16="http://schemas.microsoft.com/office/drawing/2014/main" id="{0F57CB75-7429-6FD6-3716-7F887B860004}"/>
              </a:ext>
            </a:extLst>
          </p:cNvPr>
          <p:cNvSpPr/>
          <p:nvPr/>
        </p:nvSpPr>
        <p:spPr>
          <a:xfrm>
            <a:off x="4078225" y="426121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$66.0M</a:t>
            </a:r>
            <a:endParaRPr lang="en-US" sz="1500" dirty="0"/>
          </a:p>
        </p:txBody>
      </p:sp>
      <p:sp>
        <p:nvSpPr>
          <p:cNvPr id="140" name="Shape 255">
            <a:extLst>
              <a:ext uri="{FF2B5EF4-FFF2-40B4-BE49-F238E27FC236}">
                <a16:creationId xmlns:a16="http://schemas.microsoft.com/office/drawing/2014/main" id="{CD7A1F90-A695-26EF-5C61-C8099FA1E841}"/>
              </a:ext>
            </a:extLst>
          </p:cNvPr>
          <p:cNvSpPr/>
          <p:nvPr/>
        </p:nvSpPr>
        <p:spPr>
          <a:xfrm>
            <a:off x="5815147" y="4023466"/>
            <a:ext cx="12618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256">
            <a:extLst>
              <a:ext uri="{FF2B5EF4-FFF2-40B4-BE49-F238E27FC236}">
                <a16:creationId xmlns:a16="http://schemas.microsoft.com/office/drawing/2014/main" id="{9E8A4507-845B-CE42-FA66-9760D7ED4547}"/>
              </a:ext>
            </a:extLst>
          </p:cNvPr>
          <p:cNvSpPr/>
          <p:nvPr/>
        </p:nvSpPr>
        <p:spPr>
          <a:xfrm>
            <a:off x="5888299" y="407833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800" dirty="0"/>
          </a:p>
        </p:txBody>
      </p:sp>
      <p:sp>
        <p:nvSpPr>
          <p:cNvPr id="142" name="Text 257">
            <a:extLst>
              <a:ext uri="{FF2B5EF4-FFF2-40B4-BE49-F238E27FC236}">
                <a16:creationId xmlns:a16="http://schemas.microsoft.com/office/drawing/2014/main" id="{B272CB81-B13C-8859-C69D-570541E75ED8}"/>
              </a:ext>
            </a:extLst>
          </p:cNvPr>
          <p:cNvSpPr/>
          <p:nvPr/>
        </p:nvSpPr>
        <p:spPr>
          <a:xfrm>
            <a:off x="5888299" y="426121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100.2%</a:t>
            </a:r>
            <a:endParaRPr lang="en-US" sz="1500" dirty="0"/>
          </a:p>
        </p:txBody>
      </p:sp>
      <p:sp>
        <p:nvSpPr>
          <p:cNvPr id="143" name="Shape 258">
            <a:extLst>
              <a:ext uri="{FF2B5EF4-FFF2-40B4-BE49-F238E27FC236}">
                <a16:creationId xmlns:a16="http://schemas.microsoft.com/office/drawing/2014/main" id="{EB80DFE7-C6DF-A2CD-1161-CAF1BE8DD670}"/>
              </a:ext>
            </a:extLst>
          </p:cNvPr>
          <p:cNvSpPr/>
          <p:nvPr/>
        </p:nvSpPr>
        <p:spPr>
          <a:xfrm>
            <a:off x="7600592" y="4023466"/>
            <a:ext cx="12618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259">
            <a:extLst>
              <a:ext uri="{FF2B5EF4-FFF2-40B4-BE49-F238E27FC236}">
                <a16:creationId xmlns:a16="http://schemas.microsoft.com/office/drawing/2014/main" id="{3342D31D-10DC-4190-1E92-2144849D15D4}"/>
              </a:ext>
            </a:extLst>
          </p:cNvPr>
          <p:cNvSpPr/>
          <p:nvPr/>
        </p:nvSpPr>
        <p:spPr>
          <a:xfrm>
            <a:off x="7673744" y="407833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Fcst</a:t>
            </a:r>
            <a:endParaRPr lang="en-US" sz="800" dirty="0"/>
          </a:p>
        </p:txBody>
      </p:sp>
      <p:sp>
        <p:nvSpPr>
          <p:cNvPr id="145" name="Text 260">
            <a:extLst>
              <a:ext uri="{FF2B5EF4-FFF2-40B4-BE49-F238E27FC236}">
                <a16:creationId xmlns:a16="http://schemas.microsoft.com/office/drawing/2014/main" id="{A9AAB581-D214-6A7B-A7E8-63055E425B3B}"/>
              </a:ext>
            </a:extLst>
          </p:cNvPr>
          <p:cNvSpPr/>
          <p:nvPr/>
        </p:nvSpPr>
        <p:spPr>
          <a:xfrm>
            <a:off x="7673744" y="426121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$97.5M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Waterfall — Full-Year 2026 Forecast vs Budget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 monthly trend · Full-year bridge · Actual vs Budget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Forecast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$97.5M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+$1.4M vs budget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 (May)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$2.06M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+$0.12M vs plan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FY Fcst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+$0.33M vs budget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4944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FY Fcst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04088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-$7.0M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+$0.21M vs budget</a:t>
            </a:r>
            <a:endParaRPr lang="en-US" sz="7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65760" y="1938528"/>
          <a:ext cx="53035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5850716" y="1847088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ARR BRIDGE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852160" y="2019372"/>
            <a:ext cx="109728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888736" y="2055948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949440" y="2019372"/>
            <a:ext cx="65836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986016" y="205594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607808" y="2019372"/>
            <a:ext cx="65836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644384" y="205594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8266176" y="2019372"/>
            <a:ext cx="65836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302752" y="205594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852160" y="2266260"/>
            <a:ext cx="1097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888736" y="2302836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949440" y="2266260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986016" y="230283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$75.0M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607808" y="2266260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644384" y="230283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$75.0M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8264249" y="2266742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302752" y="230283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852160" y="2513148"/>
            <a:ext cx="1097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888736" y="2549724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Business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949440" y="2513148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986016" y="254972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$19.8M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607808" y="2513148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644384" y="254972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$19.0M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8266176" y="2513148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302752" y="254972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+$0.8M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852160" y="2760036"/>
            <a:ext cx="1097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888736" y="2796612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Expansion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949440" y="2760036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986016" y="279661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$10.9M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607808" y="2760036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7644384" y="279661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$10.5M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8266176" y="2760036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8302752" y="279661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+$0.3M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852160" y="3006924"/>
            <a:ext cx="1097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888736" y="304350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Reactivation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6949440" y="3006924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6986016" y="304350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7607808" y="3006924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7644384" y="304350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8266176" y="3006924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8302752" y="304350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852160" y="3253812"/>
            <a:ext cx="1097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5888736" y="3290388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Contraction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6949440" y="3253812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6986016" y="329038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-$3.9M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7607808" y="3253812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7644384" y="329038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-$4.0M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8266176" y="3253812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8302752" y="329038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+$0.1M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5852160" y="3500700"/>
            <a:ext cx="1097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5888736" y="3537276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Churn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6949440" y="350070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6986016" y="353727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-$7.0M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607808" y="350070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7644384" y="353727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-$7.2M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8266176" y="350070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8302752" y="353727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+$0.2M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5852160" y="3747588"/>
            <a:ext cx="1097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5888736" y="3784164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6949440" y="3747588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6986016" y="378416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$97.5M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7607808" y="3747588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7644384" y="378416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$96.1M</a:t>
            </a:r>
            <a:endParaRPr lang="en-US" sz="800" dirty="0"/>
          </a:p>
        </p:txBody>
      </p:sp>
      <p:sp>
        <p:nvSpPr>
          <p:cNvPr id="90" name="Shape 87"/>
          <p:cNvSpPr/>
          <p:nvPr/>
        </p:nvSpPr>
        <p:spPr>
          <a:xfrm>
            <a:off x="8266176" y="3747588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8"/>
          <p:cNvSpPr/>
          <p:nvPr/>
        </p:nvSpPr>
        <p:spPr>
          <a:xfrm>
            <a:off x="8302752" y="378416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+$1.4M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5852160" y="3994476"/>
            <a:ext cx="3063240" cy="9692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0"/>
          <p:cNvSpPr/>
          <p:nvPr/>
        </p:nvSpPr>
        <p:spPr>
          <a:xfrm>
            <a:off x="5989320" y="4085916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5989320" y="4323660"/>
            <a:ext cx="2788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2"/>
          <p:cNvSpPr/>
          <p:nvPr/>
        </p:nvSpPr>
        <p:spPr>
          <a:xfrm>
            <a:off x="5987876" y="4303439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forecast $97.5M beats $96.1M budget by $1.4M driven by New Business and Expansion outperformance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5987876" y="462686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 +57% Jan→May; H2 supported by CS expansion and enterprise pipeline visibility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May 2026 · CONFIDENTIAL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8417293" y="4994533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Gross Margin &amp; EBITDA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Jan–May 2026 Actuals vs Budget · Monthly trend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(May)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$7.18M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+$0.01M vs bud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$34.3M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+$0.3M vs bud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4944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(May)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04088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-$0.22M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+$0.01M vs bud</a:t>
            </a:r>
            <a:endParaRPr lang="en-US" sz="7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65760" y="1938528"/>
          <a:ext cx="5669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365760" y="4225972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VARIANCE — MAY 2026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57200" y="4425696"/>
            <a:ext cx="137160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93776" y="4462272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1828800" y="4425696"/>
            <a:ext cx="80467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865376" y="44622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633472" y="4425696"/>
            <a:ext cx="80467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2670048" y="44622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438144" y="4425696"/>
            <a:ext cx="80467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474720" y="44622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$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242816" y="4425696"/>
            <a:ext cx="80467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279392" y="44622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%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457200" y="4663440"/>
            <a:ext cx="13716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93776" y="4700016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1828800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865376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$7.18M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2633472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670048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$7.17M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438144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474720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+$0.01M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242816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279392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57200" y="4663440"/>
            <a:ext cx="13716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93776" y="4700016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828800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865376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$5.53M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2633472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2670048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$5.52M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3438144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3474720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+$0.01M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242816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4279392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+0.2%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457200" y="4663440"/>
            <a:ext cx="13716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493776" y="4700016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1828800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1865376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2633472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2670048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3438144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3474720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4242816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4279392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457200" y="4663440"/>
            <a:ext cx="13716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493776" y="4700016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1828800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1865376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$3.73M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2633472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2670048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$3.73M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3438144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3474720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4242816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4279392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457200" y="4663440"/>
            <a:ext cx="13716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493776" y="4700016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1828800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1865376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-$0.22M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2633472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2670048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-$0.22M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3438144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3474720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+$0.01M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4242816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4279392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457200" y="4626864"/>
            <a:ext cx="137160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1828800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2633472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3438144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4242816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457200" y="4626864"/>
            <a:ext cx="13716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1"/>
          <p:cNvSpPr/>
          <p:nvPr/>
        </p:nvSpPr>
        <p:spPr>
          <a:xfrm>
            <a:off x="1828800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2"/>
          <p:cNvSpPr/>
          <p:nvPr/>
        </p:nvSpPr>
        <p:spPr>
          <a:xfrm>
            <a:off x="2633472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3438144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4242816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5"/>
          <p:cNvSpPr/>
          <p:nvPr/>
        </p:nvSpPr>
        <p:spPr>
          <a:xfrm>
            <a:off x="457200" y="4626864"/>
            <a:ext cx="137160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6"/>
          <p:cNvSpPr/>
          <p:nvPr/>
        </p:nvSpPr>
        <p:spPr>
          <a:xfrm>
            <a:off x="1828800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2633472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8"/>
          <p:cNvSpPr/>
          <p:nvPr/>
        </p:nvSpPr>
        <p:spPr>
          <a:xfrm>
            <a:off x="3438144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9"/>
          <p:cNvSpPr/>
          <p:nvPr/>
        </p:nvSpPr>
        <p:spPr>
          <a:xfrm>
            <a:off x="4242816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0"/>
          <p:cNvSpPr/>
          <p:nvPr/>
        </p:nvSpPr>
        <p:spPr>
          <a:xfrm>
            <a:off x="457200" y="4626864"/>
            <a:ext cx="13716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1"/>
          <p:cNvSpPr/>
          <p:nvPr/>
        </p:nvSpPr>
        <p:spPr>
          <a:xfrm>
            <a:off x="1828800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2"/>
          <p:cNvSpPr/>
          <p:nvPr/>
        </p:nvSpPr>
        <p:spPr>
          <a:xfrm>
            <a:off x="2633472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3438144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4242816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5"/>
          <p:cNvSpPr/>
          <p:nvPr/>
        </p:nvSpPr>
        <p:spPr>
          <a:xfrm>
            <a:off x="6217920" y="1938528"/>
            <a:ext cx="2697480" cy="2999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6"/>
          <p:cNvSpPr/>
          <p:nvPr/>
        </p:nvSpPr>
        <p:spPr>
          <a:xfrm>
            <a:off x="6355080" y="202996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6355080" y="2267712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8"/>
          <p:cNvSpPr/>
          <p:nvPr/>
        </p:nvSpPr>
        <p:spPr>
          <a:xfrm>
            <a:off x="6355080" y="23408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outperformed budget all 5 periods — subscription growth from ARR momentum with COGS discipline</a:t>
            </a:r>
            <a:endParaRPr lang="en-US" sz="900" dirty="0"/>
          </a:p>
        </p:txBody>
      </p:sp>
      <p:sp>
        <p:nvSpPr>
          <p:cNvPr id="112" name="Text 109"/>
          <p:cNvSpPr/>
          <p:nvPr/>
        </p:nvSpPr>
        <p:spPr>
          <a:xfrm>
            <a:off x="6359893" y="27725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locked at 77.0% across all months — COGS scaling proportionally with subscription growth</a:t>
            </a:r>
            <a:endParaRPr lang="en-US" sz="900" dirty="0"/>
          </a:p>
        </p:txBody>
      </p:sp>
      <p:sp>
        <p:nvSpPr>
          <p:cNvPr id="113" name="Text 110"/>
          <p:cNvSpPr/>
          <p:nvPr/>
        </p:nvSpPr>
        <p:spPr>
          <a:xfrm>
            <a:off x="6355080" y="3214837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improved $0.01M vs budget despite S&amp;M overrun — revenue absorbing GTM inefficiency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6355080" y="36804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 51.9% of revenue — marginally better in % terms but Paid channel ROI remains structurally weak</a:t>
            </a:r>
            <a:endParaRPr lang="en-US" sz="900" dirty="0"/>
          </a:p>
        </p:txBody>
      </p:sp>
      <p:sp>
        <p:nvSpPr>
          <p:cNvPr id="115" name="Text 112"/>
          <p:cNvSpPr/>
          <p:nvPr/>
        </p:nvSpPr>
        <p:spPr>
          <a:xfrm>
            <a:off x="6359893" y="41148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 materializing: Revenue +9% YoY vs headcount +4.4% — margin improvement path visible</a:t>
            </a:r>
            <a:endParaRPr lang="en-US" sz="900" dirty="0"/>
          </a:p>
        </p:txBody>
      </p:sp>
      <p:sp>
        <p:nvSpPr>
          <p:cNvPr id="116" name="Shape 113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4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May 2026 · CONFIDENTIAL</a:t>
            </a:r>
            <a:endParaRPr lang="en-US" sz="700" dirty="0"/>
          </a:p>
        </p:txBody>
      </p:sp>
      <p:sp>
        <p:nvSpPr>
          <p:cNvPr id="118" name="Text 115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Forecast — Monthly Bridge &amp; Liquidity Trend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Jan–May 2026 · Actual vs Budget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(May)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+$37.4M vs budget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Collections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$52.0M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timing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vs Floor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$56.0M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$10.0M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4944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04088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&gt;24 months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Well-capitalized</a:t>
            </a:r>
            <a:endParaRPr lang="en-US" sz="7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65760" y="1938528"/>
          <a:ext cx="3840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4343400" y="193852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CASH BRIDGE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343400" y="2139696"/>
            <a:ext cx="26517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343400" y="2139696"/>
            <a:ext cx="36576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425696" y="21671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Cash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0" y="21671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+$62.6M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343400" y="2386584"/>
            <a:ext cx="2651760" cy="2286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343400" y="2386584"/>
            <a:ext cx="36576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425696" y="24140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Collections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029200" y="241401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+$9.7M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343400" y="2633472"/>
            <a:ext cx="2651760" cy="228600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343400" y="2633472"/>
            <a:ext cx="36576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425696" y="266090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Payroll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0" y="26609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-$3.6M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343400" y="2880360"/>
            <a:ext cx="2651760" cy="228600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343400" y="2880360"/>
            <a:ext cx="36576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425696" y="29077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Vendor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029200" y="29077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-$1.4M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343400" y="3127248"/>
            <a:ext cx="2651760" cy="228600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343400" y="3127248"/>
            <a:ext cx="36576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425696" y="31546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Commissions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029200" y="31546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-$0.3M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343400" y="3374136"/>
            <a:ext cx="2651760" cy="228600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4343400" y="3374136"/>
            <a:ext cx="36576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425696" y="34015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CapEx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5029200" y="340156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-$0.2M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343400" y="3621024"/>
            <a:ext cx="26517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4343400" y="3621024"/>
            <a:ext cx="36576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4425696" y="364845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Cash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5029200" y="36484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+$66.0M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132320" y="1938528"/>
            <a:ext cx="19202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7269480" y="202996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7269480" y="2234985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7269480" y="23485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$66.0M cash beats $29.6M budget — Q1 annual enterprise renewals ($13.6M in March)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7269480" y="27951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financing required across all 5 months; self-sustaining above $10M floor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7269480" y="3227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collections to moderate to $6–8M/month as annual billing spike unwinds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7269480" y="3648215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expansion to mid-market adds est. $5–8M to YE cash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May 2026 · CONFIDENTIAL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· Investing · Financing — YTD Jan–May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 Indirect Method · Actual vs Budget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60704"/>
            <a:ext cx="192024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97280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0" y="1060704"/>
            <a:ext cx="100584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22576" y="1097280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Actual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91840" y="1060704"/>
            <a:ext cx="100584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28416" y="1097280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Budget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297680" y="1060704"/>
            <a:ext cx="100584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34256" y="1097280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$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03520" y="1060704"/>
            <a:ext cx="91440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40096" y="1097280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1307592"/>
            <a:ext cx="19202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13350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ACTIVITIES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0" y="13075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22576" y="1335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91840" y="13075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28416" y="1335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97680" y="13075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34256" y="1335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03520" y="1307592"/>
            <a:ext cx="91440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40096" y="13350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1536192"/>
            <a:ext cx="1920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2336" y="15636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/ (Loss)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0" y="15361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22576" y="1563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($1.04M)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91840" y="15361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28416" y="1563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($1.04M)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97680" y="15361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34256" y="1563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03520" y="1536192"/>
            <a:ext cx="9144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40096" y="15636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1764792"/>
            <a:ext cx="1920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17922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Depreciation &amp; Amort.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0" y="17647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22576" y="1792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$0.86M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91840" y="17647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28416" y="1792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$0.84M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97680" y="17647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34256" y="1792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+$0.02M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03520" y="1764792"/>
            <a:ext cx="9144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40096" y="17922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1993392"/>
            <a:ext cx="1920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02336" y="20208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Collections (Billings)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0" y="19933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22576" y="2020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$52.0M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91840" y="19933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328416" y="2020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$51.7M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297680" y="19933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334256" y="2020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03520" y="1993392"/>
            <a:ext cx="9144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340096" y="20208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" y="2221992"/>
            <a:ext cx="1920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02336" y="22494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Deferred Revenue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286000" y="2221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322576" y="224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91840" y="2221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328416" y="224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297680" y="2221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334256" y="224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+$0.6M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303520" y="2221992"/>
            <a:ext cx="9144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340096" y="22494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2450592"/>
            <a:ext cx="1920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02336" y="24780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AR / Working Capital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286000" y="24505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322576" y="2478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($1.2M)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91840" y="24505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328416" y="2478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($0.9M)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297680" y="24505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334256" y="2478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($0.3M)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03520" y="2450592"/>
            <a:ext cx="9144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340096" y="24780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-33%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5760" y="2679192"/>
            <a:ext cx="1920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02336" y="27066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Paid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286000" y="26791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322576" y="2706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($1.45M)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91840" y="26791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328416" y="2706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($1.50M)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297680" y="26791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334256" y="2706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+$0.05M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303520" y="2679192"/>
            <a:ext cx="9144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340096" y="27066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65760" y="2907792"/>
            <a:ext cx="19202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02336" y="29352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Operations (CFO)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286000" y="2907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2322576" y="2935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$30.6M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291840" y="2907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328416" y="2935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$8.2M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297680" y="2907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334256" y="2935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+$22.4M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303520" y="2907792"/>
            <a:ext cx="91440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5340096" y="29352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+273%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65760" y="3136392"/>
            <a:ext cx="19202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02336" y="31638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ACTIVITIES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2286000" y="31363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2322576" y="3163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291840" y="31363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3328416" y="3163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297680" y="31363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4334256" y="3163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303520" y="3136392"/>
            <a:ext cx="91440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5340096" y="31638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365760" y="3364992"/>
            <a:ext cx="1920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02336" y="33924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Expenditures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2286000" y="33649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2322576" y="3392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($0.90M)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291840" y="33649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3328416" y="3392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($0.90M)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4297680" y="33649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4334256" y="3392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5303520" y="3364992"/>
            <a:ext cx="9144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5340096" y="33924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365760" y="3593592"/>
            <a:ext cx="19202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402336" y="36210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Investing (CFI)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286000" y="3593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2322576" y="3621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($0.90M)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3291840" y="3593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3328416" y="3621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($0.90M)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297680" y="3593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334256" y="3621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303520" y="3593592"/>
            <a:ext cx="91440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5340096" y="36210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365760" y="3822192"/>
            <a:ext cx="19202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402336" y="38496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ACTIVITIES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2286000" y="38221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2322576" y="3849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3291840" y="38221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3328416" y="3849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4297680" y="38221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4334256" y="3849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5303520" y="3822192"/>
            <a:ext cx="91440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5340096" y="38496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365760" y="4050792"/>
            <a:ext cx="19202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402336" y="40782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CFF (Financing)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2286000" y="4050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2322576" y="4078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3291840" y="4050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3328416" y="4078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4297680" y="4050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4334256" y="4078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5303520" y="4050792"/>
            <a:ext cx="91440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5340096" y="40782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365760" y="4279392"/>
            <a:ext cx="19202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402336" y="43068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CHANGE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2286000" y="42793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2322576" y="4306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$29.7M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3291840" y="42793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3328416" y="4306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$7.3M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4297680" y="42793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4334256" y="4306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+$22.4M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5303520" y="4279392"/>
            <a:ext cx="91440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5340096" y="43068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+307%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365760" y="4507992"/>
            <a:ext cx="1920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402336" y="45354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Cash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2286000" y="4507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2322576" y="4535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$46.10M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3291840" y="4507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3328416" y="4535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$10.25M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4297680" y="4507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4334256" y="4535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5303520" y="4507992"/>
            <a:ext cx="9144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5340096" y="45354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365760" y="4736592"/>
            <a:ext cx="19202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402336" y="47640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Balance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2286000" y="4736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2322576" y="4764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$66.04M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3291840" y="4736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3328416" y="4764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$28.64M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4297680" y="4736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4334256" y="4764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+$37.4M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5303520" y="4736592"/>
            <a:ext cx="91440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5340096" y="47640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+131%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6492240" y="1060704"/>
            <a:ext cx="2468880" cy="38953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6629400" y="115214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6629400" y="1389888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662940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 $30.6M dramatically exceeds $8.2M budget — annual billing collections in Q1 generated the surplus</a:t>
            </a:r>
            <a:endParaRPr lang="en-US" sz="900" dirty="0"/>
          </a:p>
        </p:txBody>
      </p:sp>
      <p:sp>
        <p:nvSpPr>
          <p:cNvPr id="180" name="Text 178"/>
          <p:cNvSpPr/>
          <p:nvPr/>
        </p:nvSpPr>
        <p:spPr>
          <a:xfrm>
            <a:off x="6629400" y="1901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revenue build +$0.6M vs plan confirms contracted backlog ahead of GAAP recognition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6629400" y="2331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financing across all 5 months — business is fully self-funding above $10M cash floor</a:t>
            </a:r>
            <a:endParaRPr lang="en-US" sz="900" dirty="0"/>
          </a:p>
        </p:txBody>
      </p:sp>
      <p:sp>
        <p:nvSpPr>
          <p:cNvPr id="182" name="Text 180"/>
          <p:cNvSpPr/>
          <p:nvPr/>
        </p:nvSpPr>
        <p:spPr>
          <a:xfrm>
            <a:off x="6629400" y="2799989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watchpoint: CFO will moderate materially as Q1 annual billing collections do not repeat (Jun–Aug: $6–8M/mo)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May 2026 · CONFIDENTIAL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Channel Efficiency — YTD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595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Budget · Sorted by Pipeline per $1 Spend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65408"/>
            <a:ext cx="2103120" cy="7411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65408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38560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MQLs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21229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20,527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541480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 vs budget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965408"/>
            <a:ext cx="2103120" cy="7502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965408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038560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21229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$22.5M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1541480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+$0.9M vs budget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965408"/>
            <a:ext cx="2103120" cy="7502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965408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038560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21229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0" y="1541480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+$0.5M over budget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49440" y="965408"/>
            <a:ext cx="2103120" cy="7502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965408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038560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 Rate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040880" y="121229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65.7%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1541480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59.1%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97180" y="1711126"/>
            <a:ext cx="8549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— YTD JAN–MAY 2026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" y="1899055"/>
            <a:ext cx="123444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0624" y="1935631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618488" y="1899055"/>
            <a:ext cx="62179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55064" y="1935631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Spend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40280" y="1899055"/>
            <a:ext cx="56692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76856" y="1935631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Spend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807208" y="1899055"/>
            <a:ext cx="68580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843784" y="1935631"/>
            <a:ext cx="612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Var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93008" y="1899055"/>
            <a:ext cx="56692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29584" y="1935631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MQLs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059936" y="1899055"/>
            <a:ext cx="65836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96512" y="1935631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Pipe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18304" y="1899055"/>
            <a:ext cx="71323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1935631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Var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31536" y="1899055"/>
            <a:ext cx="59436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68112" y="1935631"/>
            <a:ext cx="521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Eff. (x)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025896" y="1899055"/>
            <a:ext cx="56692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62472" y="1935631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Win%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592824" y="1899055"/>
            <a:ext cx="144475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29400" y="1935631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84048" y="2145943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2164231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Cust. Success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618488" y="2145943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645920" y="2164231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240280" y="214594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267712" y="216423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807208" y="2145943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834640" y="2164231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+$0.00M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493008" y="214594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520440" y="216423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059936" y="2145943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087368" y="2164231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$2.53M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18304" y="2145943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45736" y="2164231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+$2.53M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431536" y="2145943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458968" y="2164231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364.1x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025896" y="214594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053328" y="216423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592824" y="2145943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620256" y="2164231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cost, 60.7% WR — formalize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84048" y="2401975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1480" y="2420263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618488" y="2401975"/>
            <a:ext cx="621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645920" y="2420263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$0.02M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240280" y="2401975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267712" y="242026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$0.88M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807208" y="2401975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834640" y="2420263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-$0.86M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493008" y="2401975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520440" y="242026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059936" y="2401975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087368" y="2420263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$2.50M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718304" y="2401975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745736" y="2420263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+$0.25M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431536" y="2401975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458968" y="2420263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141.0x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025896" y="2401975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053328" y="242026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592824" y="2401975"/>
            <a:ext cx="1444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620256" y="2420263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 WR at $0.02M — highest WR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384048" y="2658007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11480" y="2676295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1618488" y="2658007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645920" y="2676295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$0.04M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2240280" y="2658007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267712" y="267629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$0.60M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807208" y="2658007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834640" y="2676295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-$0.56M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493008" y="2658007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520440" y="267629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927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059936" y="2658007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087368" y="2676295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$2.76M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718304" y="2658007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745736" y="2676295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+$0.36M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431536" y="2658007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458968" y="2676295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70.3x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025896" y="2658007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053328" y="267629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6592824" y="2658007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620256" y="2676295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70.3x eff, 52.9% WR — high-intent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384048" y="2914039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411480" y="2932327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1618488" y="2914039"/>
            <a:ext cx="621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645920" y="2932327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$0.11M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240280" y="2914039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2267712" y="293232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$0.71M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2807208" y="2914039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2834640" y="2932327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-$0.60M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3493008" y="2914039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3520440" y="293232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2,143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4059936" y="2914039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4087368" y="2932327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$1.91M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4718304" y="2914039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4745736" y="2932327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-$0.57M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5431536" y="2914039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5458968" y="2932327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16.8x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6025896" y="2914039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6053328" y="293232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6592824" y="2914039"/>
            <a:ext cx="1444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6620256" y="2932327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16.8x — strong demand signal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384048" y="3170071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411480" y="3188359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618488" y="3170071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1645920" y="3188359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$0.51M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240280" y="3170071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2267712" y="318835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$0.74M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2807208" y="3170071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2834640" y="3188359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-$0.23M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3493008" y="3170071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3520440" y="318835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933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4059936" y="3170071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4087368" y="3188359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$2.92M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4718304" y="3170071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4745736" y="3188359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+$0.74M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431536" y="3170071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5458968" y="3188359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5.8x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6025896" y="3170071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053328" y="318835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59.1%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6592824" y="3170071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6620256" y="3188359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5.8x eff, 59.1% WR — underinvested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384048" y="3426103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411480" y="3444391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1618488" y="3426103"/>
            <a:ext cx="621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1645920" y="3444391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$0.42M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2240280" y="3426103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2267712" y="344439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$0.79M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2807208" y="3426103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2834640" y="3444391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-$0.37M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3493008" y="3426103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3520440" y="344439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2,129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4059936" y="3426103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4087368" y="3444391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$1.77M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4718304" y="3426103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4745736" y="3444391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-$0.31M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5431536" y="3426103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5458968" y="3444391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6025896" y="3426103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6053328" y="344439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6592824" y="3426103"/>
            <a:ext cx="1444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6620256" y="3444391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 eff — WR improvement needed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384048" y="3682135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411480" y="3700423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1618488" y="3682135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1645920" y="3700423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$0.47M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2240280" y="3682135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2267712" y="370042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$0.59M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2807208" y="3682135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/>
          <p:nvPr/>
        </p:nvSpPr>
        <p:spPr>
          <a:xfrm>
            <a:off x="2834640" y="3700423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-$0.12M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3493008" y="3682135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3520440" y="370042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2,092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4059936" y="3682135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/>
          <p:nvPr/>
        </p:nvSpPr>
        <p:spPr>
          <a:xfrm>
            <a:off x="4087368" y="3700423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$1.32M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4718304" y="3682135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178"/>
          <p:cNvSpPr/>
          <p:nvPr/>
        </p:nvSpPr>
        <p:spPr>
          <a:xfrm>
            <a:off x="4745736" y="3700423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-$0.70M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5431536" y="3682135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/>
          <p:nvPr/>
        </p:nvSpPr>
        <p:spPr>
          <a:xfrm>
            <a:off x="5458968" y="3700423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6025896" y="3682135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6053328" y="370042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6592824" y="3682135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184"/>
          <p:cNvSpPr/>
          <p:nvPr/>
        </p:nvSpPr>
        <p:spPr>
          <a:xfrm>
            <a:off x="6620256" y="3700423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 eff — mid-tier performance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384048" y="3938167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/>
          <p:nvPr/>
        </p:nvSpPr>
        <p:spPr>
          <a:xfrm>
            <a:off x="411480" y="3956455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1618488" y="3938167"/>
            <a:ext cx="621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188"/>
          <p:cNvSpPr/>
          <p:nvPr/>
        </p:nvSpPr>
        <p:spPr>
          <a:xfrm>
            <a:off x="1645920" y="3956455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$1.70M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2240280" y="3938167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 190"/>
          <p:cNvSpPr/>
          <p:nvPr/>
        </p:nvSpPr>
        <p:spPr>
          <a:xfrm>
            <a:off x="2267712" y="395645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$0.80M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2807208" y="3938167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192"/>
          <p:cNvSpPr/>
          <p:nvPr/>
        </p:nvSpPr>
        <p:spPr>
          <a:xfrm>
            <a:off x="2834640" y="3956455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+$0.90M</a:t>
            </a:r>
            <a:endParaRPr lang="en-US" sz="750" dirty="0"/>
          </a:p>
        </p:txBody>
      </p:sp>
      <p:sp>
        <p:nvSpPr>
          <p:cNvPr id="195" name="Shape 193"/>
          <p:cNvSpPr/>
          <p:nvPr/>
        </p:nvSpPr>
        <p:spPr>
          <a:xfrm>
            <a:off x="3493008" y="3938167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/>
          <p:nvPr/>
        </p:nvSpPr>
        <p:spPr>
          <a:xfrm>
            <a:off x="3520440" y="395645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4,608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4059936" y="3938167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 196"/>
          <p:cNvSpPr/>
          <p:nvPr/>
        </p:nvSpPr>
        <p:spPr>
          <a:xfrm>
            <a:off x="4087368" y="3956455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$2.22M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4718304" y="3938167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Text 198"/>
          <p:cNvSpPr/>
          <p:nvPr/>
        </p:nvSpPr>
        <p:spPr>
          <a:xfrm>
            <a:off x="4745736" y="3956455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-$0.47M</a:t>
            </a:r>
            <a:endParaRPr lang="en-US" sz="750" dirty="0"/>
          </a:p>
        </p:txBody>
      </p:sp>
      <p:sp>
        <p:nvSpPr>
          <p:cNvPr id="201" name="Shape 199"/>
          <p:cNvSpPr/>
          <p:nvPr/>
        </p:nvSpPr>
        <p:spPr>
          <a:xfrm>
            <a:off x="5431536" y="3938167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200"/>
          <p:cNvSpPr/>
          <p:nvPr/>
        </p:nvSpPr>
        <p:spPr>
          <a:xfrm>
            <a:off x="5458968" y="3956455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>
            <a:off x="6025896" y="3938167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202"/>
          <p:cNvSpPr/>
          <p:nvPr/>
        </p:nvSpPr>
        <p:spPr>
          <a:xfrm>
            <a:off x="6053328" y="395645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750" dirty="0"/>
          </a:p>
        </p:txBody>
      </p:sp>
      <p:sp>
        <p:nvSpPr>
          <p:cNvPr id="205" name="Shape 203"/>
          <p:cNvSpPr/>
          <p:nvPr/>
        </p:nvSpPr>
        <p:spPr>
          <a:xfrm>
            <a:off x="6592824" y="3938167"/>
            <a:ext cx="1444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204"/>
          <p:cNvSpPr/>
          <p:nvPr/>
        </p:nvSpPr>
        <p:spPr>
          <a:xfrm>
            <a:off x="6620256" y="3956455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1.3x, 5.8% WR — reallocate to Partner</a:t>
            </a:r>
            <a:endParaRPr lang="en-US" sz="650" dirty="0"/>
          </a:p>
        </p:txBody>
      </p:sp>
      <p:sp>
        <p:nvSpPr>
          <p:cNvPr id="207" name="Shape 205"/>
          <p:cNvSpPr/>
          <p:nvPr/>
        </p:nvSpPr>
        <p:spPr>
          <a:xfrm>
            <a:off x="384048" y="4194199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206"/>
          <p:cNvSpPr/>
          <p:nvPr/>
        </p:nvSpPr>
        <p:spPr>
          <a:xfrm>
            <a:off x="411480" y="4212487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1618488" y="4194199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08"/>
          <p:cNvSpPr/>
          <p:nvPr/>
        </p:nvSpPr>
        <p:spPr>
          <a:xfrm>
            <a:off x="1645920" y="4212487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$2.14M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2240280" y="4194199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210"/>
          <p:cNvSpPr/>
          <p:nvPr/>
        </p:nvSpPr>
        <p:spPr>
          <a:xfrm>
            <a:off x="2267712" y="421248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$0.98M</a:t>
            </a:r>
            <a:endParaRPr lang="en-US" sz="750" dirty="0"/>
          </a:p>
        </p:txBody>
      </p:sp>
      <p:sp>
        <p:nvSpPr>
          <p:cNvPr id="213" name="Shape 211"/>
          <p:cNvSpPr/>
          <p:nvPr/>
        </p:nvSpPr>
        <p:spPr>
          <a:xfrm>
            <a:off x="2807208" y="4194199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 212"/>
          <p:cNvSpPr/>
          <p:nvPr/>
        </p:nvSpPr>
        <p:spPr>
          <a:xfrm>
            <a:off x="2834640" y="4212487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+$1.16M</a:t>
            </a:r>
            <a:endParaRPr lang="en-US" sz="750" dirty="0"/>
          </a:p>
        </p:txBody>
      </p:sp>
      <p:sp>
        <p:nvSpPr>
          <p:cNvPr id="215" name="Shape 213"/>
          <p:cNvSpPr/>
          <p:nvPr/>
        </p:nvSpPr>
        <p:spPr>
          <a:xfrm>
            <a:off x="3493008" y="4194199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214"/>
          <p:cNvSpPr/>
          <p:nvPr/>
        </p:nvSpPr>
        <p:spPr>
          <a:xfrm>
            <a:off x="3520440" y="421248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3,206</a:t>
            </a:r>
            <a:endParaRPr lang="en-US" sz="750" dirty="0"/>
          </a:p>
        </p:txBody>
      </p:sp>
      <p:sp>
        <p:nvSpPr>
          <p:cNvPr id="217" name="Shape 215"/>
          <p:cNvSpPr/>
          <p:nvPr/>
        </p:nvSpPr>
        <p:spPr>
          <a:xfrm>
            <a:off x="4059936" y="4194199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216"/>
          <p:cNvSpPr/>
          <p:nvPr/>
        </p:nvSpPr>
        <p:spPr>
          <a:xfrm>
            <a:off x="4087368" y="4212487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$2.59M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>
            <a:off x="4718304" y="4194199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218"/>
          <p:cNvSpPr/>
          <p:nvPr/>
        </p:nvSpPr>
        <p:spPr>
          <a:xfrm>
            <a:off x="4745736" y="4212487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-$0.01M</a:t>
            </a:r>
            <a:endParaRPr lang="en-US" sz="750" dirty="0"/>
          </a:p>
        </p:txBody>
      </p:sp>
      <p:sp>
        <p:nvSpPr>
          <p:cNvPr id="221" name="Shape 219"/>
          <p:cNvSpPr/>
          <p:nvPr/>
        </p:nvSpPr>
        <p:spPr>
          <a:xfrm>
            <a:off x="5431536" y="4194199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220"/>
          <p:cNvSpPr/>
          <p:nvPr/>
        </p:nvSpPr>
        <p:spPr>
          <a:xfrm>
            <a:off x="5458968" y="4212487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6025896" y="4194199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222"/>
          <p:cNvSpPr/>
          <p:nvPr/>
        </p:nvSpPr>
        <p:spPr>
          <a:xfrm>
            <a:off x="6053328" y="421248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6592824" y="4194199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224"/>
          <p:cNvSpPr/>
          <p:nvPr/>
        </p:nvSpPr>
        <p:spPr>
          <a:xfrm>
            <a:off x="6620256" y="4212487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1.2x, 5.2% WR — $2.14M overspend</a:t>
            </a:r>
            <a:endParaRPr lang="en-US" sz="650" dirty="0"/>
          </a:p>
        </p:txBody>
      </p:sp>
      <p:sp>
        <p:nvSpPr>
          <p:cNvPr id="227" name="Shape 225"/>
          <p:cNvSpPr/>
          <p:nvPr/>
        </p:nvSpPr>
        <p:spPr>
          <a:xfrm>
            <a:off x="384048" y="4450231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226"/>
          <p:cNvSpPr/>
          <p:nvPr/>
        </p:nvSpPr>
        <p:spPr>
          <a:xfrm>
            <a:off x="411480" y="4468519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Synd.</a:t>
            </a:r>
            <a:endParaRPr lang="en-US" sz="750" dirty="0"/>
          </a:p>
        </p:txBody>
      </p:sp>
      <p:sp>
        <p:nvSpPr>
          <p:cNvPr id="229" name="Shape 227"/>
          <p:cNvSpPr/>
          <p:nvPr/>
        </p:nvSpPr>
        <p:spPr>
          <a:xfrm>
            <a:off x="1618488" y="4450231"/>
            <a:ext cx="621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 228"/>
          <p:cNvSpPr/>
          <p:nvPr/>
        </p:nvSpPr>
        <p:spPr>
          <a:xfrm>
            <a:off x="1645920" y="4468519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$1.11M</a:t>
            </a:r>
            <a:endParaRPr lang="en-US" sz="750" dirty="0"/>
          </a:p>
        </p:txBody>
      </p:sp>
      <p:sp>
        <p:nvSpPr>
          <p:cNvPr id="231" name="Shape 229"/>
          <p:cNvSpPr/>
          <p:nvPr/>
        </p:nvSpPr>
        <p:spPr>
          <a:xfrm>
            <a:off x="2240280" y="4450231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 230"/>
          <p:cNvSpPr/>
          <p:nvPr/>
        </p:nvSpPr>
        <p:spPr>
          <a:xfrm>
            <a:off x="2267712" y="446851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$0.48M</a:t>
            </a:r>
            <a:endParaRPr lang="en-US" sz="750" dirty="0"/>
          </a:p>
        </p:txBody>
      </p:sp>
      <p:sp>
        <p:nvSpPr>
          <p:cNvPr id="233" name="Shape 231"/>
          <p:cNvSpPr/>
          <p:nvPr/>
        </p:nvSpPr>
        <p:spPr>
          <a:xfrm>
            <a:off x="2807208" y="4450231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Text 232"/>
          <p:cNvSpPr/>
          <p:nvPr/>
        </p:nvSpPr>
        <p:spPr>
          <a:xfrm>
            <a:off x="2834640" y="4468519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+$0.63M</a:t>
            </a:r>
            <a:endParaRPr lang="en-US" sz="750" dirty="0"/>
          </a:p>
        </p:txBody>
      </p:sp>
      <p:sp>
        <p:nvSpPr>
          <p:cNvPr id="235" name="Shape 233"/>
          <p:cNvSpPr/>
          <p:nvPr/>
        </p:nvSpPr>
        <p:spPr>
          <a:xfrm>
            <a:off x="3493008" y="4450231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 234"/>
          <p:cNvSpPr/>
          <p:nvPr/>
        </p:nvSpPr>
        <p:spPr>
          <a:xfrm>
            <a:off x="3520440" y="446851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2,994</a:t>
            </a:r>
            <a:endParaRPr lang="en-US" sz="750" dirty="0"/>
          </a:p>
        </p:txBody>
      </p:sp>
      <p:sp>
        <p:nvSpPr>
          <p:cNvPr id="237" name="Shape 235"/>
          <p:cNvSpPr/>
          <p:nvPr/>
        </p:nvSpPr>
        <p:spPr>
          <a:xfrm>
            <a:off x="4059936" y="4450231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Text 236"/>
          <p:cNvSpPr/>
          <p:nvPr/>
        </p:nvSpPr>
        <p:spPr>
          <a:xfrm>
            <a:off x="4087368" y="4468519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$1.12M</a:t>
            </a:r>
            <a:endParaRPr lang="en-US" sz="750" dirty="0"/>
          </a:p>
        </p:txBody>
      </p:sp>
      <p:sp>
        <p:nvSpPr>
          <p:cNvPr id="239" name="Shape 237"/>
          <p:cNvSpPr/>
          <p:nvPr/>
        </p:nvSpPr>
        <p:spPr>
          <a:xfrm>
            <a:off x="4718304" y="4450231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Text 238"/>
          <p:cNvSpPr/>
          <p:nvPr/>
        </p:nvSpPr>
        <p:spPr>
          <a:xfrm>
            <a:off x="4745736" y="4468519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+$0.08M</a:t>
            </a:r>
            <a:endParaRPr lang="en-US" sz="750" dirty="0"/>
          </a:p>
        </p:txBody>
      </p:sp>
      <p:sp>
        <p:nvSpPr>
          <p:cNvPr id="241" name="Shape 239"/>
          <p:cNvSpPr/>
          <p:nvPr/>
        </p:nvSpPr>
        <p:spPr>
          <a:xfrm>
            <a:off x="5431536" y="4450231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Text 240"/>
          <p:cNvSpPr/>
          <p:nvPr/>
        </p:nvSpPr>
        <p:spPr>
          <a:xfrm>
            <a:off x="5458968" y="4468519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750" dirty="0"/>
          </a:p>
        </p:txBody>
      </p:sp>
      <p:sp>
        <p:nvSpPr>
          <p:cNvPr id="243" name="Shape 241"/>
          <p:cNvSpPr/>
          <p:nvPr/>
        </p:nvSpPr>
        <p:spPr>
          <a:xfrm>
            <a:off x="6025896" y="4450231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Text 242"/>
          <p:cNvSpPr/>
          <p:nvPr/>
        </p:nvSpPr>
        <p:spPr>
          <a:xfrm>
            <a:off x="6053328" y="446851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750" dirty="0"/>
          </a:p>
        </p:txBody>
      </p:sp>
      <p:sp>
        <p:nvSpPr>
          <p:cNvPr id="245" name="Shape 243"/>
          <p:cNvSpPr/>
          <p:nvPr/>
        </p:nvSpPr>
        <p:spPr>
          <a:xfrm>
            <a:off x="6592824" y="4450231"/>
            <a:ext cx="1444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Text 244"/>
          <p:cNvSpPr/>
          <p:nvPr/>
        </p:nvSpPr>
        <p:spPr>
          <a:xfrm>
            <a:off x="6620256" y="4468519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 — reallocate budget</a:t>
            </a:r>
            <a:endParaRPr lang="en-US" sz="650" dirty="0"/>
          </a:p>
        </p:txBody>
      </p:sp>
      <p:sp>
        <p:nvSpPr>
          <p:cNvPr id="247" name="Shape 245"/>
          <p:cNvSpPr/>
          <p:nvPr/>
        </p:nvSpPr>
        <p:spPr>
          <a:xfrm>
            <a:off x="384048" y="4706263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Text 246"/>
          <p:cNvSpPr/>
          <p:nvPr/>
        </p:nvSpPr>
        <p:spPr>
          <a:xfrm>
            <a:off x="411480" y="4724551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Event</a:t>
            </a:r>
            <a:endParaRPr lang="en-US" sz="750" dirty="0"/>
          </a:p>
        </p:txBody>
      </p:sp>
      <p:sp>
        <p:nvSpPr>
          <p:cNvPr id="249" name="Shape 247"/>
          <p:cNvSpPr/>
          <p:nvPr/>
        </p:nvSpPr>
        <p:spPr>
          <a:xfrm>
            <a:off x="1618488" y="4706263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Text 248"/>
          <p:cNvSpPr/>
          <p:nvPr/>
        </p:nvSpPr>
        <p:spPr>
          <a:xfrm>
            <a:off x="1645920" y="4724551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$1.03M</a:t>
            </a:r>
            <a:endParaRPr lang="en-US" sz="750" dirty="0"/>
          </a:p>
        </p:txBody>
      </p:sp>
      <p:sp>
        <p:nvSpPr>
          <p:cNvPr id="251" name="Shape 249"/>
          <p:cNvSpPr/>
          <p:nvPr/>
        </p:nvSpPr>
        <p:spPr>
          <a:xfrm>
            <a:off x="2240280" y="470626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Text 250"/>
          <p:cNvSpPr/>
          <p:nvPr/>
        </p:nvSpPr>
        <p:spPr>
          <a:xfrm>
            <a:off x="2267712" y="472455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$0.71M</a:t>
            </a:r>
            <a:endParaRPr lang="en-US" sz="750" dirty="0"/>
          </a:p>
        </p:txBody>
      </p:sp>
      <p:sp>
        <p:nvSpPr>
          <p:cNvPr id="253" name="Shape 251"/>
          <p:cNvSpPr/>
          <p:nvPr/>
        </p:nvSpPr>
        <p:spPr>
          <a:xfrm>
            <a:off x="2807208" y="4706263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Text 252"/>
          <p:cNvSpPr/>
          <p:nvPr/>
        </p:nvSpPr>
        <p:spPr>
          <a:xfrm>
            <a:off x="2834640" y="4724551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+$0.32M</a:t>
            </a:r>
            <a:endParaRPr lang="en-US" sz="750" dirty="0"/>
          </a:p>
        </p:txBody>
      </p:sp>
      <p:sp>
        <p:nvSpPr>
          <p:cNvPr id="255" name="Shape 253"/>
          <p:cNvSpPr/>
          <p:nvPr/>
        </p:nvSpPr>
        <p:spPr>
          <a:xfrm>
            <a:off x="3493008" y="470626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Text 254"/>
          <p:cNvSpPr/>
          <p:nvPr/>
        </p:nvSpPr>
        <p:spPr>
          <a:xfrm>
            <a:off x="3520440" y="472455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775</a:t>
            </a:r>
            <a:endParaRPr lang="en-US" sz="750" dirty="0"/>
          </a:p>
        </p:txBody>
      </p:sp>
      <p:sp>
        <p:nvSpPr>
          <p:cNvPr id="257" name="Shape 255"/>
          <p:cNvSpPr/>
          <p:nvPr/>
        </p:nvSpPr>
        <p:spPr>
          <a:xfrm>
            <a:off x="4059936" y="4706263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Text 256"/>
          <p:cNvSpPr/>
          <p:nvPr/>
        </p:nvSpPr>
        <p:spPr>
          <a:xfrm>
            <a:off x="4087368" y="4724551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$0.86M</a:t>
            </a:r>
            <a:endParaRPr lang="en-US" sz="750" dirty="0"/>
          </a:p>
        </p:txBody>
      </p:sp>
      <p:sp>
        <p:nvSpPr>
          <p:cNvPr id="259" name="Shape 257"/>
          <p:cNvSpPr/>
          <p:nvPr/>
        </p:nvSpPr>
        <p:spPr>
          <a:xfrm>
            <a:off x="4718304" y="4706263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Text 258"/>
          <p:cNvSpPr/>
          <p:nvPr/>
        </p:nvSpPr>
        <p:spPr>
          <a:xfrm>
            <a:off x="4745736" y="4724551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-$1.01M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5431536" y="4706263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Text 260"/>
          <p:cNvSpPr/>
          <p:nvPr/>
        </p:nvSpPr>
        <p:spPr>
          <a:xfrm>
            <a:off x="5458968" y="4724551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</a:t>
            </a:r>
            <a:endParaRPr lang="en-US" sz="750" dirty="0"/>
          </a:p>
        </p:txBody>
      </p:sp>
      <p:sp>
        <p:nvSpPr>
          <p:cNvPr id="263" name="Shape 261"/>
          <p:cNvSpPr/>
          <p:nvPr/>
        </p:nvSpPr>
        <p:spPr>
          <a:xfrm>
            <a:off x="6025896" y="470626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Text 262"/>
          <p:cNvSpPr/>
          <p:nvPr/>
        </p:nvSpPr>
        <p:spPr>
          <a:xfrm>
            <a:off x="6053328" y="472455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750" dirty="0"/>
          </a:p>
        </p:txBody>
      </p:sp>
      <p:sp>
        <p:nvSpPr>
          <p:cNvPr id="265" name="Shape 263"/>
          <p:cNvSpPr/>
          <p:nvPr/>
        </p:nvSpPr>
        <p:spPr>
          <a:xfrm>
            <a:off x="6592824" y="4706263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Text 264"/>
          <p:cNvSpPr/>
          <p:nvPr/>
        </p:nvSpPr>
        <p:spPr>
          <a:xfrm>
            <a:off x="6620256" y="4724551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 — ROI review needed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Text 266"/>
          <p:cNvSpPr/>
          <p:nvPr/>
        </p:nvSpPr>
        <p:spPr>
          <a:xfrm>
            <a:off x="297180" y="5011389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May 2026 · CONFIDENTIAL</a:t>
            </a:r>
            <a:endParaRPr lang="en-US" sz="700" dirty="0"/>
          </a:p>
        </p:txBody>
      </p:sp>
      <p:sp>
        <p:nvSpPr>
          <p:cNvPr id="269" name="Text 267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— FUNNEL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to Bookings Conversion — New Logo &amp; Expansion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2026 · Q1 Actual · Q2 Partial (Apr–May) · vs Budget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1234440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78992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FUNNEL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600200" y="1042416"/>
            <a:ext cx="749808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36776" y="107899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Actual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50008" y="1042416"/>
            <a:ext cx="822960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86584" y="107899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Partial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172968" y="1042416"/>
            <a:ext cx="658368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9544" y="107899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31336" y="1042416"/>
            <a:ext cx="804672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67912" y="10789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1280160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1316736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00200" y="1280160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36776" y="131673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350008" y="1280160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86584" y="13167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72968" y="1280160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9544" y="131673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5,513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31336" y="128016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67912" y="13167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(293)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1517904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2336" y="155448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00200" y="1517904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36776" y="155448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50008" y="151790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86584" y="15544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172968" y="1517904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9544" y="155448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1,927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31336" y="1517904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67912" y="1554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(84)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1755648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1792224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00200" y="1755648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636776" y="179222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50008" y="1755648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86584" y="17922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172968" y="1755648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09544" y="179222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831336" y="1755648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67912" y="179222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1993392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02336" y="2029968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SAL/Opp CVR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600200" y="1993392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636776" y="2029968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350008" y="1993392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386584" y="20299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172968" y="1993392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09544" y="202996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31336" y="1993392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867912" y="20299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+8bps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" y="2231136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02336" y="2267712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#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600200" y="2231136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636776" y="226771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350008" y="2231136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386584" y="226771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172968" y="2231136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09544" y="226771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831336" y="2231136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867912" y="22677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2468880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02336" y="2505456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($k)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00200" y="2468880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636776" y="250545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$256k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350008" y="2468880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386584" y="250545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172968" y="246888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209544" y="250545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$436k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831336" y="246888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867912" y="250545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($325k)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5760" y="2706624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02336" y="274320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Rate %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600200" y="2706624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636776" y="274320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350008" y="2706624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386584" y="274320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172968" y="2706624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209544" y="274320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831336" y="2706624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867912" y="27432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+5bps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65760" y="2944368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02336" y="2980944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($k)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00200" y="2944368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636776" y="298094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$9k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350008" y="2944368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386584" y="298094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$12k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172968" y="2944368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209544" y="298094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831336" y="2944368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867912" y="29809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($14k)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663440" y="1042416"/>
            <a:ext cx="1234440" cy="22860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700016" y="1078992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FUNNEL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897880" y="1042416"/>
            <a:ext cx="749808" cy="22860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934456" y="107899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Actual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647688" y="1042416"/>
            <a:ext cx="822960" cy="22860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684264" y="107899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Partial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7470648" y="1042416"/>
            <a:ext cx="658368" cy="22860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507224" y="107899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8129016" y="1042416"/>
            <a:ext cx="804672" cy="22860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8165592" y="10789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663440" y="1280160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700016" y="1316736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897880" y="1280160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5934456" y="131673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6647688" y="1280160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6684264" y="13167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7470648" y="1280160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507224" y="131673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8129016" y="128016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8165592" y="13167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4663440" y="1517904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4700016" y="155448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5897880" y="1517904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5934456" y="155448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647688" y="151790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6684264" y="15544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7470648" y="1517904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7507224" y="155448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8129016" y="1517904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8165592" y="1554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4663440" y="1755648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4700016" y="1792224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SAL/Opp CVR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5897880" y="1755648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5934456" y="179222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647688" y="1755648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6684264" y="17922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7470648" y="1755648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7507224" y="179222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8129016" y="1755648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8165592" y="179222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(11bps)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4663440" y="1993392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4700016" y="2029968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 $k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5897880" y="1993392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5934456" y="2029968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$1,692k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647688" y="1993392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6684264" y="20299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$1,240k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7470648" y="1993392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7507224" y="202996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$2,932k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8129016" y="1993392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8165592" y="20299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+$524k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4663440" y="2231136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4700016" y="2267712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#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5897880" y="2231136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5934456" y="226771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6647688" y="2231136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6684264" y="226771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7470648" y="2231136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7507224" y="226771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8129016" y="2231136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8165592" y="22677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4663440" y="2468880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4700016" y="2505456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($k)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5897880" y="2468880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5934456" y="250545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$606k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6647688" y="2468880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6684264" y="250545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7470648" y="246888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7507224" y="250545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$1,056k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8129016" y="246888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8165592" y="250545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+$2.8M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4663440" y="2706624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4700016" y="274320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Rate %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5897880" y="2706624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5934456" y="274320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6647688" y="2706624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6684264" y="274320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7470648" y="2706624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7507224" y="274320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8129016" y="2706624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8165592" y="27432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(68bps)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4663440" y="2944368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4700016" y="2980944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($k)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5897880" y="2944368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5934456" y="298094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$11k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6647688" y="2944368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179"/>
          <p:cNvSpPr/>
          <p:nvPr/>
        </p:nvSpPr>
        <p:spPr>
          <a:xfrm>
            <a:off x="6684264" y="298094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$12k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7470648" y="2944368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 181"/>
          <p:cNvSpPr/>
          <p:nvPr/>
        </p:nvSpPr>
        <p:spPr>
          <a:xfrm>
            <a:off x="7507224" y="298094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$11k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8129016" y="2944368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ext 183"/>
          <p:cNvSpPr/>
          <p:nvPr/>
        </p:nvSpPr>
        <p:spPr>
          <a:xfrm>
            <a:off x="8165592" y="29809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365760" y="3291840"/>
            <a:ext cx="28346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365760" y="3291840"/>
            <a:ext cx="28346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/>
          <p:nvPr/>
        </p:nvSpPr>
        <p:spPr>
          <a:xfrm>
            <a:off x="475488" y="338328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$325k Behind Plan</a:t>
            </a:r>
            <a:endParaRPr lang="en-US" sz="900" dirty="0"/>
          </a:p>
        </p:txBody>
      </p:sp>
      <p:sp>
        <p:nvSpPr>
          <p:cNvPr id="189" name="Text 187"/>
          <p:cNvSpPr/>
          <p:nvPr/>
        </p:nvSpPr>
        <p:spPr>
          <a:xfrm>
            <a:off x="475488" y="3639312"/>
            <a:ext cx="2615184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bookings trailing in 20+ seat segments — deal timing slipping to Q3. Q2 close rate improving to 13% (up from 16% Q1) suggesting quality-over-volume focus is working.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291840" y="3291840"/>
            <a:ext cx="28346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3291840" y="3291840"/>
            <a:ext cx="2834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 190"/>
          <p:cNvSpPr/>
          <p:nvPr/>
        </p:nvSpPr>
        <p:spPr>
          <a:xfrm>
            <a:off x="3401568" y="338328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Outperforming</a:t>
            </a:r>
            <a:endParaRPr lang="en-US" sz="900" dirty="0"/>
          </a:p>
        </p:txBody>
      </p:sp>
      <p:sp>
        <p:nvSpPr>
          <p:cNvPr id="193" name="Text 191"/>
          <p:cNvSpPr/>
          <p:nvPr/>
        </p:nvSpPr>
        <p:spPr>
          <a:xfrm>
            <a:off x="3401568" y="3639312"/>
            <a:ext cx="2615184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$1.056M YTD vs budget. CS-led expansion in enterprise driving 70% of bookings. Migration and seat expansion are the primary vectors. Expect continued outperformance in H2.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17920" y="3291840"/>
            <a:ext cx="28346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6217920" y="3291840"/>
            <a:ext cx="2834640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/>
          <p:nvPr/>
        </p:nvSpPr>
        <p:spPr>
          <a:xfrm>
            <a:off x="6327648" y="338328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Reallocation Priority: Partner + Referral</a:t>
            </a:r>
            <a:endParaRPr lang="en-US" sz="900" dirty="0"/>
          </a:p>
        </p:txBody>
      </p:sp>
      <p:sp>
        <p:nvSpPr>
          <p:cNvPr id="197" name="Text 195"/>
          <p:cNvSpPr/>
          <p:nvPr/>
        </p:nvSpPr>
        <p:spPr>
          <a:xfrm>
            <a:off x="6327648" y="3639312"/>
            <a:ext cx="2615184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under-invested $0.23M vs budget with 59% WR. Referral at 65.7% WR at near-zero cost. Both warrant immediate budget increase from Paid channel reallocation.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197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May 2026 · CONFIDENTIAL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Decision Matrix · May 2026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4206240" cy="923544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54864" cy="9235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10642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HIGH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127101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channel overspend at sub-2x ROI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" y="149961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+ Social: $3.84M spend (52% of budget) at 1.2–1.3x efficiency, 5–6% win rates. Annual waste est. $2–3M. Immediate reallocation decision needed.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00600" y="1042416"/>
            <a:ext cx="4206240" cy="923544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042416"/>
            <a:ext cx="54864" cy="9235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28616" y="110642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HIGH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28616" y="127101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churn concentration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28616" y="149961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gross churn is SMB. GRR deterioration of 30–50bps in H2 impacts ARR by ~$0.8M and risks NRR below 100%. Intervention before Q3 renewal cycle required.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039112"/>
            <a:ext cx="4206240" cy="923544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039112"/>
            <a:ext cx="54864" cy="9235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21031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MED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93776" y="22677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bookings $325k behind plan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" y="24963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slippage in 20+ seat segments into Q3. Close rates improving (13% Q2) but volume trailing. H2 revenue at risk if pipeline does not convert.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00600" y="2039112"/>
            <a:ext cx="4206240" cy="923544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039112"/>
            <a:ext cx="54864" cy="9235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28616" y="21031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MED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928616" y="22677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collections moderation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28616" y="24963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Q1 $13.6M March spike will not repeat. H2 monthly expected at $6–8M — 40% reduction from Q1 average. Cash model needs H2 update for board visibility.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035808"/>
            <a:ext cx="4206240" cy="92354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035808"/>
            <a:ext cx="54864" cy="9235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" y="309981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· HIGH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3776" y="32644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+ CS: &gt;60% WR at near-zero cost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" y="34930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(65.7% WR, $0.02M) and CS (60.7% WR, $0.01M) are highest win-rate channels. Formalizing both could add $2–4M pipeline with minimal investment.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00600" y="3035808"/>
            <a:ext cx="4206240" cy="92354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3035808"/>
            <a:ext cx="54864" cy="9235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28616" y="309981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· HIGH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928616" y="32644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channel reallocation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28616" y="34930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Partner: 5.8x efficiency, 59.1% WR, only $0.51M vs $0.74M budget. Reallocating 25% of Paid (+$0.96M) to Partner could generate $5.6M incremental pipeline.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4032504"/>
            <a:ext cx="4206240" cy="923544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4032504"/>
            <a:ext cx="54864" cy="9235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" y="409651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· MED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93776" y="42611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ARR momentum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3776" y="4489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months beat expansion budget. CS-led bookings $1.056M YTD vs plan. Structured enterprise expansion plays could add $0.5–1.0M ARR per quarter.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00600" y="4032504"/>
            <a:ext cx="4206240" cy="923544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00600" y="4032504"/>
            <a:ext cx="54864" cy="9235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28616" y="409651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· MED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928616" y="42611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billing expansion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28616" y="4489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in mid-market adds $5–8M to YE 2026 cash. Include annual terms in all mid-market renewals and new business starting Q3. Revenue recognition neutral.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May 2026 · CONFIDENTIAL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 Strategy &amp; Full-Year Forecast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May 2026 · Board discussion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5179119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1152144"/>
            <a:ext cx="36576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1887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ARR Forecast Update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14264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full-year ARR forecast from $96.1M to $97.5M (+$1.4M). Net new ARR improved 57% Jan→May with enterprise expansion momentum and improving new logo velocity. We expect net new ARR of $1.9–2.1M/month in H2 based on current pipeline coverage.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12064" y="2057400"/>
            <a:ext cx="36576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" y="209397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GTM Reallocation Decision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" y="2331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and Paid Social absorb 52% of budget at 1.2–1.3x efficiency with sub-6% win rates. Proposing reallocation of 25% of Paid budget (+$0.96M) to Partner and Referral — budget-neutral decision with estimated +$5M pipeline impact. Requires board approval.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2064" y="2962656"/>
            <a:ext cx="36576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299923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Retention Initiative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" y="323697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represents 78% of gross churn at $7.0M annual forecast. Targeted CSM intervention program with defined at-risk triggers will be activated in Q3. Target: protect GRR above 99.0% through year-end. Protects NRR trajectory and ~$0.8M of at-risk ARR.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" y="3867912"/>
            <a:ext cx="36576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" y="390448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Annual Contract Strategy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" y="41422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at $66.0M with &gt;24 months runway. Expanding annual billing terms to mid-market renewals in H2 with projected impact of $5–8M incremental cash by year-end. Revenue recognition neutral.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98036" y="1042416"/>
            <a:ext cx="129844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34612" y="1078992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96484" y="1042416"/>
            <a:ext cx="74980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33060" y="107899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646292" y="1042416"/>
            <a:ext cx="74980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2868" y="107899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396100" y="1042416"/>
            <a:ext cx="70408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32676" y="1078992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598036" y="1289304"/>
            <a:ext cx="129844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34612" y="1325880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(Year-End)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96484" y="1289304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33060" y="132588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$97.5M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46292" y="1289304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82868" y="132588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$96.1M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396100" y="1289304"/>
            <a:ext cx="70408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32676" y="1325880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+$1.4M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98036" y="1581912"/>
            <a:ext cx="129844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34612" y="1618488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(FY)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96484" y="1581912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33060" y="1618488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$89.3M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646292" y="1581912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82868" y="1618488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$88.9M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396100" y="1581912"/>
            <a:ext cx="70408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432676" y="1618488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+$0.4M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598036" y="1874520"/>
            <a:ext cx="129844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34612" y="1911096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96484" y="1874520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33060" y="191109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46292" y="1874520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682868" y="191109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396100" y="1874520"/>
            <a:ext cx="70408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432676" y="1911096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598036" y="2167128"/>
            <a:ext cx="129844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634612" y="2203704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EBITDA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96484" y="2167128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33060" y="220370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-$2.6M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646292" y="2167128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682868" y="220370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-$2.7M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396100" y="2167128"/>
            <a:ext cx="70408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432676" y="2203704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598036" y="2459736"/>
            <a:ext cx="129844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34612" y="2496312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(Year-End)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896484" y="2459736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933060" y="249631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$65.3M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46292" y="2459736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682868" y="249631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$23.9M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396100" y="2459736"/>
            <a:ext cx="70408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432676" y="2496312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+$41.4M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598036" y="2752344"/>
            <a:ext cx="129844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634612" y="2788920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896484" y="2752344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933060" y="278892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646292" y="2752344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682868" y="278892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396100" y="2752344"/>
            <a:ext cx="70408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432676" y="2788920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May 2026 · CONFIDENTIAL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· Decisions Required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1133856"/>
            <a:ext cx="438912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18872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1133856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1152144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78992" y="137160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Channel Reallocation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162763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reallocation of 25% of Paid Search/Social spend ($0.96M) to Partner and Referral. Budget-neutral. Est. impact: +$5M pipeline at 5x+ efficiency. Implement in June planning cycle.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95160" y="117957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Marketing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95160" y="140817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Jun 30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029968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029968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2064" y="2121408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" y="217627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8992" y="2121408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2139696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078992" y="23591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Retention Initiative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261518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CSM-led SMB churn intervention. Define at-risk triggers and playbook. Target GRR &gt;99.0% through Q3 renewal cycle. No incremental headcount — reallocation of CS capacity.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95160" y="216712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Cust. Success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95160" y="239572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Jul 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73152" cy="9144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12064" y="3108960"/>
            <a:ext cx="438912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" y="316382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78992" y="3108960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97280" y="3127248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078992" y="334670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Billing Expansion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78992" y="360273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annual billing terms in all mid-market renewals and new business starting Q3. Projected YE 2026 cash improvement $5–8M. Revenue recognition neutral.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95160" y="31546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Sales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95160" y="3383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Jul 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005072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4005072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12064" y="4096512"/>
            <a:ext cx="43891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2064" y="4151376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78992" y="4096512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97280" y="411480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078992" y="433425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ARR Forecast Update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78992" y="459028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full-year ARR forecast from $96.1M to $97.5M reflecting YTD trajectory. Expansion ARR outperformance (+4 of 5 months) supports upward revision. Lock before June board package.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95160" y="414223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/ CRO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95160" y="437083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Jun 15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Prepared by Finance · May 2026 · For Board Use Only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May 2026 · CONFIDENTIAL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14540</TotalTime>
  <Words>2670</Words>
  <Application>Microsoft Office PowerPoint</Application>
  <PresentationFormat>On-screen Show (16:9)</PresentationFormat>
  <Paragraphs>657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Operating Review — May 2026</dc:title>
  <dc:subject>PptxGenJS Presentation</dc:subject>
  <dc:creator>PptxGenJS</dc:creator>
  <cp:lastModifiedBy>Matt Justice</cp:lastModifiedBy>
  <cp:revision>15</cp:revision>
  <dcterms:created xsi:type="dcterms:W3CDTF">2026-05-22T02:38:15Z</dcterms:created>
  <dcterms:modified xsi:type="dcterms:W3CDTF">2026-06-02T20:15:55Z</dcterms:modified>
</cp:coreProperties>
</file>